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 xmlns:ns0="http://schemas.openxmlformats.org/officeDocument/2006/relationships" id="301" ns0:id="rId54"/>
    <p:sldId xmlns:ns0="http://schemas.openxmlformats.org/officeDocument/2006/relationships" id="302" ns0:id="rId55"/>
    <p:sldId xmlns:ns0="http://schemas.openxmlformats.org/officeDocument/2006/relationships" id="303" ns0:id="rId56"/>
    <p:sldId xmlns:ns0="http://schemas.openxmlformats.org/officeDocument/2006/relationships" id="304" ns0:id="rId57"/>
    <p:sldId xmlns:ns0="http://schemas.openxmlformats.org/officeDocument/2006/relationships" id="305" ns0:id="rId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offering answers three questions every CIO now asks: what agents do we have, are they actually used, and can we stop one that misbehaves. Microsoft now sells Agent 365 as the control plane, so we configure that first and build only what it does not cover.</a:t>
            </a:r>
          </a:p>
          <a:p/>
          <a:p>
            <a:r>
              <a:t>Likely question: Did Agent 365 make this offering redundant?</a:t>
            </a:r>
          </a:p>
          <a:p>
            <a:r>
              <a:t>Answer: No. It gives the registry and policy layer. Customers still need it configured, joined to runtime evidence, operated, and backed by a tested containment path across several layers.</a:t>
            </a:r>
          </a:p>
          <a:p/>
          <a:p>
            <a:r>
              <a:t>DETAIL AND CAVEATS</a:t>
            </a:r>
          </a:p>
          <a:p>
            <a:r>
              <a:t>Opening slide. Version 3.0 rebuilds this offering on a configure-before-build principle after Microsoft Agent 365 became generally available on 1 May 2026.</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Version 2 proposed building our own agent registry. Microsoft has since shipped Agent 365, so the honest position is: configure Microsoft's control plane first, then add what it lacks, mainly usage evidence and a cross-layer stop path that we prove before we sell it.</a:t>
            </a:r>
          </a:p>
          <a:p/>
          <a:p>
            <a:r>
              <a:t>Likely question: What do customers need to buy from Microsoft?</a:t>
            </a:r>
          </a:p>
          <a:p>
            <a:r>
              <a:t>Answer: Agent 365 at 15 dollars per user per month, or Microsoft 365 E7 which includes it. Basic inventory is included with any Microsoft cloud subscription. We check this in the assessment.</a:t>
            </a:r>
          </a:p>
          <a:p/>
          <a:p>
            <a:r>
              <a:t>DETAIL AND CAVEATS</a:t>
            </a:r>
          </a:p>
          <a:p>
            <a:r>
              <a:t>Answers demand, outcome and decision questions. Agent 365 facts: Microsoft Security blog, 1 May 2026.</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Two things changed this year. Microsoft shipped a real agent control plane, and its own documentation confirms stopping an agent does not end work already running. That combination creates demand for configuration plus a tested stop path.</a:t>
            </a:r>
          </a:p>
          <a:p/>
          <a:p>
            <a:r>
              <a:t>Likely question: Is there market evidence?</a:t>
            </a:r>
          </a:p>
          <a:p>
            <a:r>
              <a:t>Answer: These are sourced product and regulatory facts, not demand statistics. The validation asks account teams for three qualified candidates.</a:t>
            </a:r>
          </a:p>
          <a:p/>
          <a:p>
            <a:r>
              <a:t>DETAIL AND CAVEATS</a:t>
            </a:r>
          </a:p>
          <a:p>
            <a:r>
              <a:t>Drivers are sourced facts. No customer or pipeline is claimed.</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EU AI Act Update: Digital Omnibus finalises compliance changes (Orrick, 29 Jul 2026): https://www.orrick.com/en/Insights/2026/07/EU-AI-Act-Update-Digital-Omnibus-Finalizes-8-Compliance-Changes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governance sits between the gateway and managed operations. Copilot Studio agents are now in scope as a covered runtime, governed through Agent 365; Microsoft 365 Copilot itself stays with our M365 and D365 teams.</a:t>
            </a:r>
          </a:p>
          <a:p/>
          <a:p>
            <a:r>
              <a:t>Likely question: Who administers Copilot Studio?</a:t>
            </a:r>
          </a:p>
          <a:p>
            <a:r>
              <a:t>Answer: The Power Platform team keeps environment administration. We bring its agents into the catalogue, containment and cost views.</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configure and integrate; we do not own agent behaviour or security operations. Note the Power Platform team keeps Copilot Studio administration.</a:t>
            </a:r>
          </a:p>
          <a:p/>
          <a:p>
            <a:r>
              <a:t>Likely question: What if the customer has no Agent 365 licence?</a:t>
            </a:r>
          </a:p>
          <a:p>
            <a:r>
              <a:t>Answer: Then the custom gap layer carries more of the catalogue, and the assessment shows the cost trade-off of licensing versus building.</a:t>
            </a:r>
          </a:p>
          <a:p/>
          <a:p>
            <a:r>
              <a:t>DETAIL AND CAVEATS</a:t>
            </a:r>
          </a:p>
          <a:p>
            <a:r>
              <a:t>Coverage depends on Agent 365 licensing, supported runtimes and telemetry.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it bottom-up. The runtimes are where agents live, including Copilot Studio. Layer one is Microsoft's control plane: Agent 365, the Foundry Control Plane, Entra agent identities, Defender and Purview. Layer two is the runtime evidence. Only layer three, in purple, is what we build: reconciliation, the usage catalogue and the containment orchestrator.</a:t>
            </a:r>
          </a:p>
          <a:p/>
          <a:p>
            <a:r>
              <a:t>Likely question: Why still build layer three?</a:t>
            </a:r>
          </a:p>
          <a:p>
            <a:r>
              <a:t>Answer: Because the native tools do not join deployment records to usage evidence across all runtimes, and none claims a cross-layer stop with verification. We prove that in the proof of concept.</a:t>
            </a:r>
          </a:p>
          <a:p/>
          <a:p>
            <a:r>
              <a:t>DETAIL AND CAVEATS</a:t>
            </a:r>
          </a:p>
          <a:p>
            <a:r>
              <a:t>Layered architecture. Runtimes: Copilot Studio agents, Foundry agents, customer-hosted agents (Container Apps or AKS), Logic Apps agent loops, and AWS Bedrock or Google agents through Agent 365 registry sync (preview). Layer 1, native Microsoft control plane: Agent 365 (registry, policies; lifecycle actions announced), Foundry Control Plane (supported agents, runs, errors, tokens), Entra Agent ID and Conditional Access for agents, Defender and Purview. Layer 2, evidence: Application Insights, Log Analytics, Resource Graph and deployment pipelines. Layer 3, CIS Infra custom gap layer: reconciliation job, registry, catalogue workbook and the containment orchestrator. Agent 365 and Entra Agent ID licensing per Microsoft and third-party sources; verify per customer.</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Entra Agent ID change tracker (third party, entradiff.merill.net): https://entradiff.merill.net/products/agent-id/</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Left is what Microsoft provides once licensed and configured. Right is what we still add. The rule for every customer: if a native feature covers it, we configure it; we only build the right-hand column.</a:t>
            </a:r>
          </a:p>
          <a:p/>
          <a:p>
            <a:r>
              <a:t>Likely question: Will the right-hand column shrink over time?</a:t>
            </a:r>
          </a:p>
          <a:p>
            <a:r>
              <a:t>Answer: Yes, as Microsoft adds lifecycle actions. That is why we keep the custom layer thin and replaceable.</a:t>
            </a:r>
          </a:p>
          <a:p/>
          <a:p>
            <a:r>
              <a:t>DETAIL AND CAVEATS</a:t>
            </a:r>
          </a:p>
          <a:p>
            <a:r>
              <a:t>Build-versus-buy summary. Agent 365: GA 1 May 2026; registry covers Microsoft, Copilot Studio, Foundry and partner agents; AWS and Google registry sync preview; lifecycle start, stop and delete announced as coming. Foundry Control Plane: inventory of supported agents with last-month runs, errors and tokens; Stop does not terminate existing runs. Entra Conditional Access for agents: licensing tied to Agent 365 (third-party tracker; verify). Custom gap layer exists only where these do not reach.</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Entra Agent ID change tracker (third party, entradiff.merill.net): https://entradiff.merill.net/products/agent-id/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Five packages, sold in sequence. Most customers start with the assessment and the configuration package. The proof of concept is a gate: we do not sell the containment build until it passes.</a:t>
            </a:r>
          </a:p>
          <a:p/>
          <a:p>
            <a:r>
              <a:t>Likely question: Why so wide?</a:t>
            </a:r>
          </a:p>
          <a:p>
            <a:r>
              <a:t>Answer: Number of runtimes and clouds, licence position and telemetry quality drive the range.</a:t>
            </a:r>
          </a:p>
          <a:p/>
          <a:p>
            <a:r>
              <a:t>DETAIL AND CAVEATS</a:t>
            </a:r>
          </a:p>
          <a:p>
            <a:r>
              <a:t>Ranges across CIS Infra, AI, Security and DevOps. Assumptions in appendix E1.</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biggest risk is promising a stop we have not tested, which is why the proof of concept is a gate.</a:t>
            </a:r>
          </a:p>
          <a:p/>
          <a:p>
            <a:r>
              <a:t>DETAIL AND CAVEATS</a:t>
            </a:r>
          </a:p>
          <a:p>
            <a:r>
              <a:t>Top risks. Measured stop time, not assumed stop time, sets any target.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Success is measurable and witnessable. Today we need the design rule, funding for the proof of concept, and clarity on who may stop an agent.</a:t>
            </a:r>
          </a:p>
          <a:p/>
          <a:p>
            <a:r>
              <a:t>DETAIL AND CAVEATS</a:t>
            </a:r>
          </a:p>
          <a:p>
            <a:r>
              <a:t>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DETAIL AND CAVEATS</a:t>
            </a:r>
          </a:p>
          <a:p>
            <a:r>
              <a:t>Appendix divider. Use the index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catalogue sorts every agent into one of six states. The key rule: missing telemetry is its own state and never counts as dormant, so we never delete a live agent by mistake.</a:t>
            </a:r>
          </a:p>
          <a:p/>
          <a:p>
            <a:r>
              <a:t>Likely question: Who decides to retire an agent?</a:t>
            </a:r>
          </a:p>
          <a:p>
            <a:r>
              <a:t>Answer: The business owner, after review. Never automatic.</a:t>
            </a:r>
          </a:p>
          <a:p/>
          <a:p>
            <a:r>
              <a:t>DETAIL AND CAVEATS</a:t>
            </a:r>
          </a:p>
          <a:p>
            <a:r>
              <a:t>Classification separates deployment inventory from runtime evidence. The 30-day threshold is a suggested policy, not a Microsoft default; seasonal and standby agents need exceptions. Health probes are excluded from business usage. Never auto-delete on zero sampled telemetry. Orphaned means the record has no valid owner or the hosting resource no longer maps to a record.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"Custom gap layer: detailed reference architecture". Steps: (1) deployment pipelines write agent ID, version, environment, owner and endpoint into the registry at release; (2) a scheduled Function App queries Foundry Control Plane for supported agents and Resource Graph for hosting resources and tags; (3) it queries Application Insights and Log Analytics for last run, run count, errors and tokens per agent ID; (4) it reconciles and writes status to Cosmos DB, flagging unmatched resources as orphaned and records without telemetry as telemetry unknown; (5) Workbooks presents the catalogue and review queues; (6) Azure Monitor alerts route telemetry-health and dormancy reviews to owners. Identity: the reconciliation job uses a managed identity with Reader on in-scope subscriptions and read access to the workspaces; it has no write access to agent runtimes.</a:t>
            </a:r>
          </a:p>
          <a:p/>
          <a:p>
            <a:r>
              <a:t>DETAIL AND CAVEATS</a:t>
            </a:r>
          </a:p>
          <a:p>
            <a:r>
              <a:t>Steps: (1) deployment pipelines write agent ID, version, environment, owner and endpoint into the registry at release; (2) a scheduled Function App queries Foundry Control Plane for supported agents and Resource Graph for hosting resources and tags; (3) it queries Application Insights and Log Analytics for last run, run count, errors and tokens per agent ID; (4) it reconciles and writes status to Cosmos DB, flagging unmatched resources as orphaned and records without telemetry as telemetry unknown; (5) Workbooks presents the catalogue and review queues; (6) Azure Monitor alerts route telemetry-health and dormancy reviews to owners. Identity: the reconciliation job uses a managed identity with Reader on in-scope subscriptions and read access to the workspaces; it has no write access to agent runtimes.</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Microsoft Agent 365 now generally available (Microsoft Security blog, 1 May 2026): https://www.microsoft.com/en-us/security/blog/2026/05/01/microsoft-agent-365-now-generally-available-expands-capabilities-and-integrations/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"How each source contributes, and where it stops". Native behaviour verified against Microsoft Learn (Foundry Control Plane manage agents, updated 2026-07-15). Inventory columns cover the last month. Metrics and traces are collected only after observability is configured, with up to 15 minutes propagation.</a:t>
            </a:r>
          </a:p>
          <a:p/>
          <a:p>
            <a:r>
              <a:t>DETAIL AND CAVEATS</a:t>
            </a:r>
          </a:p>
          <a:p>
            <a:r>
              <a:t>Native behaviour verified against Microsoft Learn (Foundry Control Plane manage agents, updated 2026-07-15). Inventory columns cover the last month. Metrics and traces are collected only after observability is configured, with up to 15 minutes propagation.</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"Minimum catalogue record for each agent". Maintain this record at deployment. Extend native inventory with a controlled register only where fields or coverage are missing. An API or tool catalogue (for example Azure API Center) and the operational agent catalogue serve different purposes.</a:t>
            </a:r>
          </a:p>
          <a:p/>
          <a:p>
            <a:r>
              <a:t>DETAIL AND CAVEATS</a:t>
            </a:r>
          </a:p>
          <a:p>
            <a:r>
              <a:t>Maintain this record at deployment. Extend native inventory with a controlled register only where fields or coverage are missing. An API or tool catalogue (for example Azure API Center) and the operational agent catalogue serve different purposes.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"Inventory and runtime evidence answer different things". Do not equate no telemetry with unused. Inventory says what exists and who owns it. Runtime evidence says what ran, when and at what cost.</a:t>
            </a:r>
          </a:p>
          <a:p/>
          <a:p>
            <a:r>
              <a:t>DETAIL AND CAVEATS</a:t>
            </a:r>
          </a:p>
          <a:p>
            <a:r>
              <a:t>Do not equate no telemetry with unused. Inventory says what exists and who owns it. Runtime evidence says what ran, when and at what cost. Both are needed to classify.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"Usage classification rules". Thresholds are suggestions for customer policy, not Microsoft defaults. Exclude health probes and synthetic monitoring from business usage. Seasonal, standby and break-glass agents carry an exception with a review date.</a:t>
            </a:r>
          </a:p>
          <a:p/>
          <a:p>
            <a:r>
              <a:t>DETAIL AND CAVEATS</a:t>
            </a:r>
          </a:p>
          <a:p>
            <a:r>
              <a:t>Thresholds are suggestions for customer policy, not Microsoft defaults. Exclude health probes and synthetic monitoring from business usage. Seasonal, standby and break-glass agents carry an exception with a review date.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"Inventory coverage by agent type". Version 3.0: Copilot Studio agents are now covered through Agent 365 (GA 1 May 2026) and Purview DSPM; AWS and Google via registry sync (preview). Native coverage verified on Microsoft Learn and the Microsoft Security blog. Custom integration means the agent can be brought in through registration and instrumentation built in this offering.</a:t>
            </a:r>
          </a:p>
          <a:p/>
          <a:p>
            <a:r>
              <a:t>DETAIL AND CAVEATS</a:t>
            </a:r>
          </a:p>
          <a:p>
            <a:r>
              <a:t>Version 3.0: Copilot Studio agents are now covered through Agent 365 (GA 1 May 2026) and Purview DSPM; AWS and Google via registry sync (preview). Native coverage verified on Microsoft Learn and the Microsoft Security blog. Custom integration means the agent can be brought in through registration and instrumentation built in this offering. Outside coverage means the offering cannot see the agent until it is onboarded; the catalogue reports it as a known gap only if someone declares it.</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"Agent estate view: what the workbook shows". ILLUSTRATIVE MOCK-UP with invented sample agents and counts. Not customer evidence. Deployed and observed counts are shown separately.</a:t>
            </a:r>
          </a:p>
          <a:p/>
          <a:p>
            <a:r>
              <a:t>DETAIL AND CAVEATS</a:t>
            </a:r>
          </a:p>
          <a:p>
            <a:r>
              <a:t>ILLUSTRATIVE MOCK-UP with invented sample agents and counts. Not customer evidence. Deployed and observed counts are shown separately. Each row links to traces, owner, tools, access and containment record in the real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this left to right. Requests pass through four enforcement points: block new requests at the gateway, stop running work in the runtime, deny model and tool calls on the way out, and block the agent identity. The purple box underneath is a separate, locked-down control plane that an authorised person or an alert can trigger.</a:t>
            </a:r>
          </a:p>
          <a:p/>
          <a:p>
            <a:r>
              <a:t>Likely question: Is this a Microsoft product?</a:t>
            </a:r>
          </a:p>
          <a:p>
            <a:r>
              <a:t>Answer: No. It is our proposed design built from Azure services. Microsoft provides pieces such as Foundry Stop and Agent 365, but no single universal stop button.</a:t>
            </a:r>
          </a:p>
          <a:p/>
          <a:p>
            <a:r>
              <a:t>DETAIL AND CAVEATS</a:t>
            </a:r>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Version 3.0 additions: enforcement point 4 is the identity layer. Entra Conditional Access for agents can block agent sign-ins; it requires Agent 365 licensing (per third-party tracker of Microsoft docs, verify) and token revocation can lag,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AI gateway capabilities in API Management: https://learn.microsoft.com/en-us/azure/api-management/genai-gateway-capabilities</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Stopping an agent is three different jobs: stop new work, stop work in progress, and stop it from doing anything else. Each uses a different mechanism and each has a gap the others cover.</a:t>
            </a:r>
          </a:p>
          <a:p/>
          <a:p>
            <a:r>
              <a:t>Likely question: Why not just revoke its credentials?</a:t>
            </a:r>
          </a:p>
          <a:p>
            <a:r>
              <a:t>Answer: Revocation can take time to propagate and does not end work already running, so it is one layer, not the answer.</a:t>
            </a:r>
          </a:p>
          <a:p/>
          <a:p>
            <a:r>
              <a:t>DETAIL AND CAVEATS</a:t>
            </a:r>
          </a:p>
          <a:p>
            <a:r>
              <a:t>Blocking new requests, stopping work already running and preventing further actions are different controls with different Azure mechanisms and different limits. A runbook must exercise all three.</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Be candid about these limits; it builds trust with security buyers. The first row is verified Microsoft behaviour: stopping a Foundry agent does not end runs already in progress.</a:t>
            </a:r>
          </a:p>
          <a:p/>
          <a:p>
            <a:r>
              <a:t>Likely question: So can we guarantee a stop within a time?</a:t>
            </a:r>
          </a:p>
          <a:p>
            <a:r>
              <a:t>Answer: Only after the proof of concept measures it, and only for the runtimes tested.</a:t>
            </a:r>
          </a:p>
          <a:p/>
          <a:p>
            <a:r>
              <a:t>DETAIL AND CAVEATS</a:t>
            </a:r>
          </a:p>
          <a:p>
            <a:r>
              <a:t>Platform behaviour verified against Microsoft Learn on 11 Oct 2026. Design limits are engineering constraints that apply to any custom implementation.</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the tests that must pass before anyone calls this production ready, starting with the bypass test.</a:t>
            </a:r>
          </a:p>
          <a:p/>
          <a:p>
            <a:r>
              <a:t>Likely question: Who signs these off?</a:t>
            </a:r>
          </a:p>
          <a:p>
            <a:r>
              <a:t>Answer: The customer security owner, with evidence from CIS Infra, AI and Security.</a:t>
            </a:r>
          </a:p>
          <a:p/>
          <a:p>
            <a:r>
              <a:t>DETAIL AND CAVEATS</a:t>
            </a:r>
          </a:p>
          <a:p>
            <a:r>
              <a:t>Run with synthetic agents in a non-production environment first, then as a scheduled production drill with business approval. Record timestamps at each step to measure actual stop time; set any target only after measurement.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do not sell a kill switch on paper. A four to six week proof of concept with synthetic agents measures how fast each layer actually stops work, and that number becomes the target.</a:t>
            </a:r>
          </a:p>
          <a:p/>
          <a:p>
            <a:r>
              <a:t>Likely question: What if the stop time is slow?</a:t>
            </a:r>
          </a:p>
          <a:p>
            <a:r>
              <a:t>Answer: Then we tighten checkpoints, shorten cache times or narrow the fail-closed scope, and we tell the customer the real number.</a:t>
            </a:r>
          </a:p>
          <a:p/>
          <a:p>
            <a:r>
              <a:t>DETAIL AND CAVEATS</a:t>
            </a:r>
          </a:p>
          <a:p>
            <a:r>
              <a:t>The containment design is unproven until this proof of concept runs. Scope: two runtimes (Foundry Agent Service and one customer-hosted runtime on Container Apps), synthetic agents with a tool that writes to a test system, API Management ingress and outbound policies, the orchestrator and registry, Entra Conditional Access for agents where licensed. Effort estimate 25 to 45 role days across CIS Infra, AI and Security; elapsed 4 to 6 weeks. Evidence pack: timestamps per step, measured worst-case stop time per runtime, bypass test results, failure-mode results, restart approval record.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"Foundry lifecycle actions differ by agent type". Native behaviour as documented on Microsoft Learn, Foundry Control Plane manage agents (updated 2026-07-15). Custom agents do not gain infrastructure stop controls by registering. Prevent proxy bypass through network and identity design.</a:t>
            </a:r>
          </a:p>
          <a:p/>
          <a:p>
            <a:r>
              <a:t>DETAIL AND CAVEATS</a:t>
            </a:r>
          </a:p>
          <a:p>
            <a:r>
              <a:t>Native behaviour as documented on Microsoft Learn, Foundry Control Plane manage agents (updated 2026-07-15). Custom agents do not gain infrastructure stop controls by registering. Prevent proxy bypass through network and identity design. Deletion is not a routine emergency strategy.</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"Bound the work before a runaway needs detecting". The AI team implements runtime loop budgets and tool validation. Security defines risk classes and permissions. CIS Infra provides isolation and monitoring.</a:t>
            </a:r>
          </a:p>
          <a:p/>
          <a:p>
            <a:r>
              <a:t>DETAIL AND CAVEATS</a:t>
            </a:r>
          </a:p>
          <a:p>
            <a:r>
              <a:t>The AI team implements runtime loop budgets and tool validation. Security defines risk classes and permissions. CIS Infra provides isolation and monitoring. Validate cancellation semantics, retries, queue visibility and safe compensation for completed side effects.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"Where an agentic loop amplifies calls". Simplified editable adaptation of 14_agentic-rag.png (Microsoft agentic RAG guide). The source shows a reasoning loop with repeated tool calls and evaluation before a final model call. Control points added (proposed): iteration limit, elapsed-time limit, tool allow-list and checkpoint deny-state check.</a:t>
            </a:r>
          </a:p>
          <a:p/>
          <a:p>
            <a:r>
              <a:t>DETAIL AND CAVEATS</a:t>
            </a:r>
          </a:p>
          <a:p>
            <a:r>
              <a:t>Simplified editable adaptation of 14_agentic-rag.png (Microsoft agentic RAG guide). The source shows a reasoning loop with repeated tool calls and evaluation before a final model call. Control points added (proposed): iteration limit, elapsed-time limit, tool allow-list and checkpoint deny-state check. This image does not show an implemented kill switch.</a:t>
            </a:r>
          </a:p>
          <a:p/>
          <a:p>
            <a:r>
              <a:t>Sources (checked 11 Oct 2026):</a:t>
            </a:r>
          </a:p>
          <a:p>
            <a:r>
              <a:t>https://github.com/upendra25312/AI-Foundry-GTM-offering-/blob/main/architectures/14_agentic-rag.png</a:t>
            </a:r>
          </a:p>
          <a:p>
            <a:r>
              <a:t>https://github.com/upendra25312/AI-Foundry-GTM-offering-/blob/main/architectures/07_agentic-rag.vsdx</a:t>
            </a:r>
          </a:p>
          <a:p>
            <a:r>
              <a:t>https://learn.microsoft.com/en-us/azure/architecture/ai-ml/guide/rag/rag-agentic</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"Multi-agent workload: owners and stop points". Simplified editable adaptation of 15_multiple-agent-workflow-automation.png (Microsoft multiple-agent workflow automation idea). The source labels the model "GPT-4.1"; shown here as a Foundry model deployment because model choice is per engagement and gpt-4.1 retires 2027-04-14. Each component gets an owner and a containment action (proposed).</a:t>
            </a:r>
          </a:p>
          <a:p/>
          <a:p>
            <a:r>
              <a:t>DETAIL AND CAVEATS</a:t>
            </a:r>
          </a:p>
          <a:p>
            <a:r>
              <a:t>Simplified editable adaptation of 15_multiple-agent-workflow-automation.png (Microsoft multiple-agent workflow automation idea). The source labels the model "GPT-4.1"; shown here as a Foundry model deployment because model choice is per engagement and gpt-4.1 retires 2027-04-14. Each component gets an owner and a containment action (proposed). GitHub and Docker in the source are non-Azure tools and are shown as conceptual boxes without Azure icons.</a:t>
            </a:r>
          </a:p>
          <a:p/>
          <a:p>
            <a:r>
              <a:t>Sources (checked 11 Oct 2026):</a:t>
            </a:r>
          </a:p>
          <a:p>
            <a:r>
              <a:t>https://github.com/upendra25312/AI-Foundry-GTM-offering-/blob/main/architectures/15_multiple-agent-workflow-automation.png</a:t>
            </a:r>
          </a:p>
          <a:p>
            <a:r>
              <a:t>https://github.com/upendra25312/AI-Foundry-GTM-offering-/blob/main/architectures/08_multiple-agent-workflow-automation.vsdx</a:t>
            </a:r>
          </a:p>
          <a:p>
            <a:r>
              <a:t>https://learn.microsoft.com/en-us/azure/architecture/ai-ml/idea/multiple-agent-workflow-automation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"Monitor behaviour as well as technical success". Configure Application Insights per project and instrument custom code with OpenTelemetry conventions. Preview monitoring and evaluation features need explicit acceptance. Define business success separately from HTTP success.</a:t>
            </a:r>
          </a:p>
          <a:p/>
          <a:p>
            <a:r>
              <a:t>DETAIL AND CAVEATS</a:t>
            </a:r>
          </a:p>
          <a:p>
            <a:r>
              <a:t>Configure Application Insights per project and instrument custom code with OpenTelemetry conventions. Preview monitoring and evaluation features need explicit acceptance. Define business success separately from HTTP success. Redact sensitive payloads and control trace retention.</a:t>
            </a:r>
          </a:p>
          <a:p/>
          <a:p>
            <a:r>
              <a:t>Sources (checked 11 Oct 2026):</a:t>
            </a:r>
          </a:p>
          <a:p>
            <a:r>
              <a:t>https://learn.microsoft.com/en-us/azure/foundry/observability/how-to/how-to-monitor-agents-dashboard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"Containment runbook sequence". Runbook outline. Preserve audit evidence and isolate the affected agent before broader service impact. Never undo containment automatically when an alert clears.</a:t>
            </a:r>
          </a:p>
          <a:p/>
          <a:p>
            <a:r>
              <a:t>DETAIL AND CAVEATS</a:t>
            </a:r>
          </a:p>
          <a:p>
            <a:r>
              <a:t>Runbook outline. Preserve audit evidence and isolate the affected agent before broader service impact. Never undo containment automatically when an alert clears. Set detection and containment targets only after measuring propagation and runtime behaviour.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"Delivery gates and acceptance evidence". Proposed acceptance criteria. Agree test cases, thresholds and exception authority in the SOW.</a:t>
            </a:r>
          </a:p>
          <a:p/>
          <a:p>
            <a:r>
              <a:t>DETAIL AND CAVEATS</a:t>
            </a:r>
          </a:p>
          <a:p>
            <a:r>
              <a:t>Proposed acceptance criteria. Agree test cases, thresholds and exception authority in the SOW.</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"Dormant-agent review and retirement". Monthly review cadence (proposed). Retirement removes identities, secrets, endpoints, schedules and hosting resources, then confirms through Resource Graph that nothing remains. Owner approval is required; orphaned agents go to the service owner.</a:t>
            </a:r>
          </a:p>
          <a:p/>
          <a:p>
            <a:r>
              <a:t>DETAIL AND CAVEATS</a:t>
            </a:r>
          </a:p>
          <a:p>
            <a:r>
              <a:t>Monthly review cadence (proposed). Retirement removes identities, secrets, endpoints, schedules and hosting resources, then confirms through Resource Graph that nothing remains. Owner approval is required; orphaned agents go to the service owner.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Walk the customer through each capability and tick configure or build. The aim is the thinnest possible custom layer.</a:t>
            </a:r>
          </a:p>
          <a:p/>
          <a:p>
            <a:r>
              <a:t>DETAIL AND CAVEATS</a:t>
            </a:r>
          </a:p>
          <a:p>
            <a:r>
              <a:t>Capability-by-capability decision. Re-check at each engagement because Microsoft is adding Agent 365 lifecycle actions.</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AI threat protection in Microsoft Defender for Cloud: https://learn.microsoft.com/en-us/azure/defender-for-cloud/ai-threat-protection</a:t>
            </a:r>
          </a:p>
          <a:p>
            <a:r>
              <a:t>Microsoft Purview data security and compliance for AI: https://learn.microsoft.com/en-us/purview/ai-microsoft-purview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Before we design anything, we check what the customer already licenses. Agent 365 is per user, not per agent, and it also unlocks Entra controls for agents.</a:t>
            </a:r>
          </a:p>
          <a:p/>
          <a:p>
            <a:r>
              <a:t>Likely question: Who gives licensing advice?</a:t>
            </a:r>
          </a:p>
          <a:p>
            <a:r>
              <a:t>Answer: We flag prerequisites; licensing decisions go through the customer's Microsoft licensing partner and offering 04 for the cost view.</a:t>
            </a:r>
          </a:p>
          <a:p/>
          <a:p>
            <a:r>
              <a:t>DETAIL AND CAVEATS</a:t>
            </a:r>
          </a:p>
          <a:p>
            <a:r>
              <a:t>Licensing facts: Agent 365 $15 per user per month standalone or included in Microsoft 365 E7 (Microsoft Security blog). E7 at $99 per user per month and the qualifying base-licence rule come from SAMexpert (third party, Jun 2026). Entra Conditional Access and ID Protection for agents tied to Agent 365 from Jul to Aug 2026 per a third-party tracker of Microsoft docs. Basic inventory included with Microsoft Cloud subscriptions per SAMexpert. Verify with Microsoft licensing before advice; Cognizant does not resell licences under this offering.</a:t>
            </a:r>
          </a:p>
          <a:p/>
          <a:p>
            <a:r>
              <a:t>Sources (checked 11 Oct 2026):</a:t>
            </a:r>
          </a:p>
          <a:p>
            <a:r>
              <a:t>Microsoft Agent 365 now generally available (Microsoft Security blog, 1 May 2026): https://www.microsoft.com/en-us/security/blog/2026/05/01/microsoft-agent-365-now-generally-available-expands-capabilities-and-integrations/</a:t>
            </a:r>
          </a:p>
          <a:p>
            <a:r>
              <a:t>Agent 365 licensing analysis (SAMexpert, third party, updated 12 Jun 2026): https://samexpert.com/agent-365/</a:t>
            </a:r>
          </a:p>
          <a:p>
            <a:r>
              <a:t>Entra Agent ID change tracker (third party, entradiff.merill.net): https://entradiff.merill.net/products/agent-id/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Copilot Studio is where business users build most agents, so leaving it out would leave most of the estate ungoverned. The Power Platform team still owns its environments; we add catalogue, gateway routing, telemetry and containment.</a:t>
            </a:r>
          </a:p>
          <a:p/>
          <a:p>
            <a:r>
              <a:t>DETAIL AND CAVEATS</a:t>
            </a:r>
          </a:p>
          <a:p>
            <a:r>
              <a:t>Copilot Studio is a covered runtime. Environment administration and data loss prevention policies stay with the Power Platform team. CIS Infra brings agents into the catalogue, routes custom connectors to Azure APIs through API Management, wires telemetry and executes containment on Azure-side components. Entra network controls now extend to Copilot Studio agents (Microsoft Security blog).</a:t>
            </a:r>
          </a:p>
          <a:p/>
          <a:p>
            <a:r>
              <a:t>Sources (checked 11 Oct 2026):</a:t>
            </a:r>
          </a:p>
          <a:p>
            <a:r>
              <a:t>Microsoft Agent 365 now generally available (Microsoft Security blog, 1 May 2026): https://www.microsoft.com/en-us/security/blog/2026/05/01/microsoft-agent-365-now-generally-available-expands-capabilities-and-integrations/</a:t>
            </a:r>
          </a:p>
          <a:p>
            <a:r>
              <a:t>Microsoft Purview data security and compliance for AI: https://learn.microsoft.com/en-us/purview/ai-microsoft-purview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12 or more with no zero on funding, authority or sponsor;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(2025 edition; confirm the current version before customer use). CIS Infra implements platform controls; Security owns threat modelling, policy and security operations.</a:t>
            </a:r>
          </a:p>
          <a:p/>
          <a:p>
            <a:r>
              <a:t>Sources (checked 11 Oct 2026):</a:t>
            </a:r>
          </a:p>
          <a:p>
            <a:r>
              <a:t>OWASP Top 10 for LLM Applications: https://genai.owasp.org/llm-top-10/</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tools are owned by the Security tower; we wire in their telemetry. On regulation, the EU AI Act high-risk deadlines moved to December 2027 and August 2028, which gives customers time but not an excuse.</a:t>
            </a:r>
          </a:p>
          <a:p/>
          <a:p>
            <a:r>
              <a:t>Likely question: Does the EU AI Act apply to our customers?</a:t>
            </a:r>
          </a:p>
          <a:p>
            <a:r>
              <a:t>Answer: It depends on the use case and role. We flag the checkpoint; the customer takes legal advice and decides.</a:t>
            </a:r>
          </a:p>
          <a:p/>
          <a:p>
            <a:r>
              <a:t>DETAIL AND CAVEATS</a:t>
            </a:r>
          </a:p>
          <a:p>
            <a:r>
              <a:t>Microsoft security services positioned with owners, plus regulatory checkpoints for EU, UK and Middle East pursuits. EU AI Act dates come from a law-firm summary of the Digital Omnibus amendments, Regulation (EU) 2026/1744; Annex III high-risk obligations now apply from 2 Dec 2027 and Annex I from 2 Aug 2028. UK: no single AI statute; principles-based regulator guidance (verify current position). UAE Federal Decree-Law 45 of 2021 and Saudi PDPL govern personal data (verify current executive regulations). ISO/IEC 42001 is an optional AI management system standard. Cognizant does not give legal advice; customers take legal advice.</a:t>
            </a:r>
          </a:p>
          <a:p/>
          <a:p>
            <a:r>
              <a:t>Sources (checked 11 Oct 2026):</a:t>
            </a:r>
          </a:p>
          <a:p>
            <a:r>
              <a:t>AI threat protection in Microsoft Defender for Cloud: https://learn.microsoft.com/en-us/azure/defender-for-cloud/ai-threat-protection</a:t>
            </a:r>
          </a:p>
          <a:p>
            <a:r>
              <a:t>Microsoft Purview data security and compliance for AI: https://learn.microsoft.com/en-us/purview/ai-microsoft-purview</a:t>
            </a:r>
          </a:p>
          <a:p>
            <a:r>
              <a:t>Entra Agent ID change tracker (third party, entradiff.merill.net): https://entradiff.merill.net/products/agent-id/</a:t>
            </a:r>
          </a:p>
          <a:p>
            <a:r>
              <a:t>EU AI Act Update: Digital Omnibus finalises compliance changes (Orrick, 29 Jul 2026): https://www.orrick.com/en/Insights/2026/07/EU-AI-Act-Update-Digital-Omnibus-Finalizes-8-Compliance-Changes</a:t>
            </a:r>
          </a:p>
          <a:p>
            <a:r>
              <a:t>ISO/IEC 42001 AI management systems: https://www.iso.org/standard/81230.html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30-day exercise.</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Containment authority and restart approval are customer decisions; Cognizant roles execute and evidence them. If a contracted security service exists, live containment authority may move to that service.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Revenue follows priced work packages and the tower that delivers them. We keep sales credit, booked revenue, delivery cost and margin as four separate views so nothing is double counted.</a:t>
            </a:r>
          </a:p>
          <a:p/>
          <a:p>
            <a:r>
              <a:t>Likely question: Why no fixed percentage split?</a:t>
            </a:r>
          </a:p>
          <a:p>
            <a:r>
              <a:t>Answer: Fixed splits drift from reality as scope changes. Work-package attribution stays tied to who actually delivers, and Finance approves the rules.</a:t>
            </a:r>
          </a:p>
          <a:p/>
          <a:p>
            <a:r>
              <a:t>DETAIL AND CAVEATS</a:t>
            </a:r>
          </a:p>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https://github.com/upendra25312/AI-Foundry-GTM-offering-/blob/main/architectures/15_multiple-agent-workflow-automation.png</a:t>
            </a:r>
          </a:p>
          <a:p>
            <a:r>
              <a:t>Editable Visio: https://github.com/upendra25312/AI-Foundry-GTM-offering-/blob/main/architectures/08_multiple-agent-workflow-automation.vsdx</a:t>
            </a:r>
          </a:p>
          <a:p>
            <a:r>
              <a:t>Microsoft source: https://learn.microsoft.com/en-us/azure/architecture/ai-ml/idea/multiple-agent-workflow-automation</a:t>
            </a:r>
          </a:p>
          <a:p/>
          <a:p>
            <a:r>
              <a:t>Source labels the model GPT-4.1, which retires 2027-04-14; adapted view (A11) uses a generic model deployment.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https://github.com/upendra25312/AI-Foundry-GTM-offering-/blob/main/architectures/14_agentic-rag.png</a:t>
            </a:r>
          </a:p>
          <a:p>
            <a:r>
              <a:t>Editable Visio: https://github.com/upendra25312/AI-Foundry-GTM-offering-/blob/main/architectures/07_agentic-rag.vsdx</a:t>
            </a:r>
          </a:p>
          <a:p>
            <a:r>
              <a:t>Microsoft source: https://learn.microsoft.com/en-us/azure/architecture/ai-ml/guide/rag/rag-agentic</a:t>
            </a:r>
          </a:p>
          <a:p/>
          <a:p>
            <a:r>
              <a:t>Reasoning loop only; it does not show an implemented kill switch.</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https://github.com/upendra25312/AI-Foundry-GTM-offering-/blob/main/architectures/07_baseline-microsoft-foundry.png</a:t>
            </a:r>
          </a:p>
          <a:p>
            <a:r>
              <a:t>Editable Visio: https://github.com/upendra25312/AI-Foundry-GTM-offering-/blob/main/architectures/03_baseline-microsoft-foundry.vsdx</a:t>
            </a:r>
          </a:p>
          <a:p>
            <a:r>
              <a:t>Microsoft source: https://learn.microsoft.com/en-us/azure/architecture/ai-ml/architecture/baseline-microsoft-foundry-chat</a:t>
            </a:r>
          </a:p>
          <a:p/>
          <a:p>
            <a:r>
              <a:t>Use to map agent registrations, runtime, search, storage and network to monitored assets.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Recheck prices and regions before any customer quote.</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 Id="rId18" Type="http://schemas.openxmlformats.org/officeDocument/2006/relationships/image" Target="../media/image25.png"/><Relationship Id="rId19" Type="http://schemas.openxmlformats.org/officeDocument/2006/relationships/image" Target="../media/image28.svg"/><Relationship Id="rId20" Type="http://schemas.openxmlformats.org/officeDocument/2006/relationships/image" Target="../media/image27.png"/><Relationship Id="rId21" Type="http://schemas.openxmlformats.org/officeDocument/2006/relationships/image" Target="../media/image30.svg"/><Relationship Id="rId22" Type="http://schemas.openxmlformats.org/officeDocument/2006/relationships/image" Target="../media/image29.png"/><Relationship Id="rId23" Type="http://schemas.openxmlformats.org/officeDocument/2006/relationships/image" Target="../media/image32.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 Id="rId37" Type="http://schemas.openxmlformats.org/officeDocument/2006/relationships/slide" Target="slide46.xml"/><Relationship Id="rId38" Type="http://schemas.openxmlformats.org/officeDocument/2006/relationships/slide" Target="slide47.xml"/><Relationship Id="rId39" Type="http://schemas.openxmlformats.org/officeDocument/2006/relationships/slide" Target="slide48.xml"/><Relationship Id="rId40" Type="http://schemas.openxmlformats.org/officeDocument/2006/relationships/slide" Target="slide49.xml"/><Relationship Id="rId41" Type="http://schemas.openxmlformats.org/officeDocument/2006/relationships/slide" Target="slide5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23.png"/><Relationship Id="rId5" Type="http://schemas.openxmlformats.org/officeDocument/2006/relationships/image" Target="../media/image26.svg"/><Relationship Id="rId6" Type="http://schemas.openxmlformats.org/officeDocument/2006/relationships/image" Target="../media/image25.png"/><Relationship Id="rId7" Type="http://schemas.openxmlformats.org/officeDocument/2006/relationships/image" Target="../media/image28.svg"/><Relationship Id="rId8" Type="http://schemas.openxmlformats.org/officeDocument/2006/relationships/image" Target="../media/image21.png"/><Relationship Id="rId9" Type="http://schemas.openxmlformats.org/officeDocument/2006/relationships/image" Target="../media/image24.svg"/><Relationship Id="rId10" Type="http://schemas.openxmlformats.org/officeDocument/2006/relationships/image" Target="../media/image11.png"/><Relationship Id="rId11" Type="http://schemas.openxmlformats.org/officeDocument/2006/relationships/image" Target="../media/image14.svg"/><Relationship Id="rId12" Type="http://schemas.openxmlformats.org/officeDocument/2006/relationships/image" Target="../media/image13.png"/><Relationship Id="rId13" Type="http://schemas.openxmlformats.org/officeDocument/2006/relationships/image" Target="../media/image16.svg"/><Relationship Id="rId14" Type="http://schemas.openxmlformats.org/officeDocument/2006/relationships/image" Target="../media/image17.png"/><Relationship Id="rId15" Type="http://schemas.openxmlformats.org/officeDocument/2006/relationships/image" Target="../media/image20.svg"/><Relationship Id="rId16" Type="http://schemas.openxmlformats.org/officeDocument/2006/relationships/image" Target="../media/image19.png"/><Relationship Id="rId17" Type="http://schemas.openxmlformats.org/officeDocument/2006/relationships/image" Target="../media/image22.svg"/><Relationship Id="rId18" Type="http://schemas.openxmlformats.org/officeDocument/2006/relationships/image" Target="../media/image15.png"/><Relationship Id="rId19" Type="http://schemas.openxmlformats.org/officeDocument/2006/relationships/image" Target="../media/image18.svg"/><Relationship Id="rId20" Type="http://schemas.openxmlformats.org/officeDocument/2006/relationships/image" Target="../media/image31.png"/><Relationship Id="rId21" Type="http://schemas.openxmlformats.org/officeDocument/2006/relationships/image" Target="../media/image34.svg"/><Relationship Id="rId22"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image" Target="../media/image33.png"/><Relationship Id="rId5" Type="http://schemas.openxmlformats.org/officeDocument/2006/relationships/image" Target="../media/image36.svg"/><Relationship Id="rId6" Type="http://schemas.openxmlformats.org/officeDocument/2006/relationships/image" Target="../media/image35.png"/><Relationship Id="rId7" Type="http://schemas.openxmlformats.org/officeDocument/2006/relationships/image" Target="../media/image38.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image" Target="../media/image39.png"/><Relationship Id="rId11" Type="http://schemas.openxmlformats.org/officeDocument/2006/relationships/image" Target="../media/image42.svg"/><Relationship Id="rId12" Type="http://schemas.openxmlformats.org/officeDocument/2006/relationships/image" Target="../media/image41.png"/><Relationship Id="rId13" Type="http://schemas.openxmlformats.org/officeDocument/2006/relationships/image" Target="../media/image44.svg"/><Relationship Id="rId14" Type="http://schemas.openxmlformats.org/officeDocument/2006/relationships/image" Target="../media/image11.png"/><Relationship Id="rId15" Type="http://schemas.openxmlformats.org/officeDocument/2006/relationships/image" Target="../media/image14.svg"/><Relationship Id="rId16" Type="http://schemas.openxmlformats.org/officeDocument/2006/relationships/image" Target="../media/image43.png"/><Relationship Id="rId17" Type="http://schemas.openxmlformats.org/officeDocument/2006/relationships/image" Target="../media/image46.svg"/><Relationship Id="rId18" Type="http://schemas.openxmlformats.org/officeDocument/2006/relationships/image" Target="../media/image27.png"/><Relationship Id="rId19" Type="http://schemas.openxmlformats.org/officeDocument/2006/relationships/image" Target="../media/image30.svg"/><Relationship Id="rId20" Type="http://schemas.openxmlformats.org/officeDocument/2006/relationships/image" Target="../media/image45.png"/><Relationship Id="rId21" Type="http://schemas.openxmlformats.org/officeDocument/2006/relationships/image" Target="../media/image48.svg"/><Relationship Id="rId22" Type="http://schemas.openxmlformats.org/officeDocument/2006/relationships/image" Target="../media/image47.png"/><Relationship Id="rId23" Type="http://schemas.openxmlformats.org/officeDocument/2006/relationships/image" Target="../media/image50.svg"/><Relationship Id="rId24" Type="http://schemas.openxmlformats.org/officeDocument/2006/relationships/image" Target="../media/image13.png"/><Relationship Id="rId25" Type="http://schemas.openxmlformats.org/officeDocument/2006/relationships/image" Target="../media/image16.svg"/><Relationship Id="rId26" Type="http://schemas.openxmlformats.org/officeDocument/2006/relationships/image" Target="../media/image49.png"/><Relationship Id="rId27" Type="http://schemas.openxmlformats.org/officeDocument/2006/relationships/image" Target="../media/image52.svg"/><Relationship Id="rId28" Type="http://schemas.openxmlformats.org/officeDocument/2006/relationships/image" Target="../media/image17.png"/><Relationship Id="rId29" Type="http://schemas.openxmlformats.org/officeDocument/2006/relationships/image" Target="../media/image20.svg"/><Relationship Id="rId30"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35.png"/><Relationship Id="rId7" Type="http://schemas.openxmlformats.org/officeDocument/2006/relationships/image" Target="../media/image38.svg"/><Relationship Id="rId8" Type="http://schemas.openxmlformats.org/officeDocument/2006/relationships/image" Target="../media/image45.png"/><Relationship Id="rId9" Type="http://schemas.openxmlformats.org/officeDocument/2006/relationships/image" Target="../media/image48.svg"/><Relationship Id="rId10"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image" Target="../media/image37.png"/><Relationship Id="rId5" Type="http://schemas.openxmlformats.org/officeDocument/2006/relationships/image" Target="../media/image40.svg"/><Relationship Id="rId6" Type="http://schemas.openxmlformats.org/officeDocument/2006/relationships/image" Target="../media/image43.png"/><Relationship Id="rId7" Type="http://schemas.openxmlformats.org/officeDocument/2006/relationships/image" Target="../media/image46.svg"/><Relationship Id="rId8" Type="http://schemas.openxmlformats.org/officeDocument/2006/relationships/image" Target="../media/image41.png"/><Relationship Id="rId9" Type="http://schemas.openxmlformats.org/officeDocument/2006/relationships/image" Target="../media/image44.svg"/><Relationship Id="rId10"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image" Target="../media/image51.png"/><Relationship Id="rId5" Type="http://schemas.openxmlformats.org/officeDocument/2006/relationships/image" Target="../media/image54.svg"/><Relationship Id="rId6" Type="http://schemas.openxmlformats.org/officeDocument/2006/relationships/image" Target="../media/image39.png"/><Relationship Id="rId7" Type="http://schemas.openxmlformats.org/officeDocument/2006/relationships/image" Target="../media/image42.svg"/><Relationship Id="rId8" Type="http://schemas.openxmlformats.org/officeDocument/2006/relationships/image" Target="../media/image41.png"/><Relationship Id="rId9" Type="http://schemas.openxmlformats.org/officeDocument/2006/relationships/image" Target="../media/image44.svg"/><Relationship Id="rId10" Type="http://schemas.openxmlformats.org/officeDocument/2006/relationships/image" Target="../media/image13.png"/><Relationship Id="rId11" Type="http://schemas.openxmlformats.org/officeDocument/2006/relationships/image" Target="../media/image16.svg"/><Relationship Id="rId12" Type="http://schemas.openxmlformats.org/officeDocument/2006/relationships/image" Target="../media/image53.png"/><Relationship Id="rId13" Type="http://schemas.openxmlformats.org/officeDocument/2006/relationships/image" Target="../media/image56.svg"/><Relationship Id="rId1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image" Target="../media/image17.png"/><Relationship Id="rId5" Type="http://schemas.openxmlformats.org/officeDocument/2006/relationships/image" Target="../media/image20.svg"/><Relationship Id="rId6" Type="http://schemas.openxmlformats.org/officeDocument/2006/relationships/image" Target="../media/image25.png"/><Relationship Id="rId7" Type="http://schemas.openxmlformats.org/officeDocument/2006/relationships/image" Target="../media/image28.svg"/><Relationship Id="rId8" Type="http://schemas.openxmlformats.org/officeDocument/2006/relationships/image" Target="../media/image55.png"/><Relationship Id="rId9" Type="http://schemas.openxmlformats.org/officeDocument/2006/relationships/image" Target="../media/image58.svg"/><Relationship Id="rId10"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slide" Target="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6.xml"/><Relationship Id="rId4" Type="http://schemas.openxmlformats.org/officeDocument/2006/relationships/slide" Target="slide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7.xml"/><Relationship Id="rId4" Type="http://schemas.openxmlformats.org/officeDocument/2006/relationships/image" Target="../media/image57.png"/><Relationship Id="rId5" Type="http://schemas.openxmlformats.org/officeDocument/2006/relationships/hyperlink" Target="https://github.com/upendra25312/AI-Foundry-GTM-offering-/blob/main/architectures/15_multiple-agent-workflow-automation.png" TargetMode="External"/><Relationship Id="rId6" Type="http://schemas.openxmlformats.org/officeDocument/2006/relationships/hyperlink" Target="https://learn.microsoft.com/en-us/azure/architecture/ai-ml/idea/multiple-agent-workflow-automation" TargetMode="External"/><Relationship Id="rId7" Type="http://schemas.openxmlformats.org/officeDocument/2006/relationships/slide" Target="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8.xml"/><Relationship Id="rId4" Type="http://schemas.openxmlformats.org/officeDocument/2006/relationships/image" Target="../media/image59.png"/><Relationship Id="rId5" Type="http://schemas.openxmlformats.org/officeDocument/2006/relationships/hyperlink" Target="https://github.com/upendra25312/AI-Foundry-GTM-offering-/blob/main/architectures/14_agentic-rag.png" TargetMode="External"/><Relationship Id="rId6" Type="http://schemas.openxmlformats.org/officeDocument/2006/relationships/hyperlink" Target="https://learn.microsoft.com/en-us/azure/architecture/ai-ml/guide/rag/rag-agentic" TargetMode="External"/><Relationship Id="rId7" Type="http://schemas.openxmlformats.org/officeDocument/2006/relationships/slide" Target="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9.xml"/><Relationship Id="rId4" Type="http://schemas.openxmlformats.org/officeDocument/2006/relationships/image" Target="../media/image60.png"/><Relationship Id="rId5" Type="http://schemas.openxmlformats.org/officeDocument/2006/relationships/hyperlink" Target="https://github.com/upendra25312/AI-Foundry-GTM-offering-/blob/main/architectures/07_baseline-microsoft-foundry.png" TargetMode="External"/><Relationship Id="rId6" Type="http://schemas.openxmlformats.org/officeDocument/2006/relationships/hyperlink" Target="https://learn.microsoft.com/en-us/azure/architecture/ai-ml/architecture/baseline-microsoft-foundry-chat" TargetMode="External"/><Relationship Id="rId7" Type="http://schemas.openxmlformats.org/officeDocument/2006/relationships/slide" Target="slide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0.xml"/><Relationship Id="rId4" Type="http://schemas.openxmlformats.org/officeDocument/2006/relationships/hyperlink" Target="https://www.microsoft.com/en-us/security/blog/2026/05/01/microsoft-agent-365-now-generally-available-expands-capabilities-and-integrations/" TargetMode="External"/><Relationship Id="rId5" Type="http://schemas.openxmlformats.org/officeDocument/2006/relationships/hyperlink" Target="https://samexpert.com/agent-365/" TargetMode="External"/><Relationship Id="rId6" Type="http://schemas.openxmlformats.org/officeDocument/2006/relationships/hyperlink" Target="https://entradiff.merill.net/products/agent-id/" TargetMode="External"/><Relationship Id="rId7" Type="http://schemas.openxmlformats.org/officeDocument/2006/relationships/hyperlink" Target="https://learn.microsoft.com/en-us/azure/foundry/control-plane/how-to-manage-agents" TargetMode="External"/><Relationship Id="rId8" Type="http://schemas.openxmlformats.org/officeDocument/2006/relationships/hyperlink" Target="https://learn.microsoft.com/en-us/azure/foundry/control-plane/register-custom-agent" TargetMode="External"/><Relationship Id="rId9" Type="http://schemas.openxmlformats.org/officeDocument/2006/relationships/hyperlink" Target="https://learn.microsoft.com/en-us/azure/defender-for-cloud/ai-threat-protection" TargetMode="External"/><Relationship Id="rId10" Type="http://schemas.openxmlformats.org/officeDocument/2006/relationships/hyperlink" Target="https://learn.microsoft.com/en-us/purview/ai-microsoft-purview" TargetMode="External"/><Relationship Id="rId11" Type="http://schemas.openxmlformats.org/officeDocument/2006/relationships/hyperlink" Target="https://www.orrick.com/en/Insights/2026/07/EU-AI-Act-Update-Digital-Omnibus-Finalizes-8-Compliance-Changes" TargetMode="External"/><Relationship Id="rId12" Type="http://schemas.openxmlformats.org/officeDocument/2006/relationships/hyperlink" Target="https://learn.microsoft.com/en-us/azure/architecture/icons/" TargetMode="External"/><Relationship Id="rId13" Type="http://schemas.openxmlformats.org/officeDocument/2006/relationships/hyperlink" Target="https://az-icons.com/" TargetMode="External"/><Relationship Id="rId14" Type="http://schemas.openxmlformats.org/officeDocument/2006/relationships/hyperlink" Target="https://learn.microsoft.com/en-us/azure/foundry/observability/how-to/how-to-monitor-agents-dashboard" TargetMode="External"/><Relationship Id="rId15" Type="http://schemas.openxmlformats.org/officeDocument/2006/relationships/hyperlink" Target="https://learn.microsoft.com/en-us/azure/api-management/send-request-policy" TargetMode="External"/><Relationship Id="rId16" Type="http://schemas.openxmlformats.org/officeDocument/2006/relationships/hyperlink" Target="https://learn.microsoft.com/en-us/azure/api-management/authentication-managed-identity-policy" TargetMode="External"/><Relationship Id="rId17" Type="http://schemas.openxmlformats.org/officeDocument/2006/relationships/hyperlink" Target="https://learn.microsoft.com/en-us/azure/architecture/ai-ml/guide/rag/rag-agentic" TargetMode="External"/><Relationship Id="rId18" Type="http://schemas.openxmlformats.org/officeDocument/2006/relationships/hyperlink" Target="https://learn.microsoft.com/en-us/azure/architecture/ai-ml/idea/multiple-agent-workflow-automation" TargetMode="External"/><Relationship Id="rId19" Type="http://schemas.openxmlformats.org/officeDocument/2006/relationships/hyperlink" Target="https://github.com/upendra25312/AI-Foundry-GTM-offering-/blob/main/CIS_Infra_Azure_AI_Platform_GTM_Proposal_V3.docx" TargetMode="External"/><Relationship Id="rId20"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Agent Governance and Operations</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Know every agent, prove how it is used, and stop it safely when needed</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Configure Agent 365 and the Foundry Control Plane first, then build only the gaps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3.0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2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PROPOSED OFFERING</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02</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An audit-ready agent estate on native Azure controls</a:t>
            </a:r>
          </a:p>
        </p:txBody>
      </p:sp>
      <p:sp>
        <p:nvSpPr>
          <p:cNvPr id="6" name="Rounded Rectangle 5"/>
          <p:cNvSpPr/>
          <p:nvPr/>
        </p:nvSpPr>
        <p:spPr>
          <a:xfrm>
            <a:off x="731520" y="1280160"/>
            <a:ext cx="10698480" cy="411480"/>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NATIVE MICROSOFT CONTROLS FIRST · TESTED 4-LAYER CONTAINMENT · ZERO ROGUE RUNTIMES</a:t>
            </a:r>
          </a:p>
        </p:txBody>
      </p:sp>
      <p:sp>
        <p:nvSpPr>
          <p:cNvPr id="7" name="Rounded Rectangle 6"/>
          <p:cNvSpPr/>
          <p:nvPr/>
        </p:nvSpPr>
        <p:spPr>
          <a:xfrm>
            <a:off x="7315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3832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57400"/>
            <a:ext cx="502920" cy="502920"/>
          </a:xfrm>
          <a:prstGeom prst="ellipse">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0" name="TextBox 9"/>
          <p:cNvSpPr txBox="1"/>
          <p:nvPr/>
        </p:nvSpPr>
        <p:spPr>
          <a:xfrm>
            <a:off x="1645920" y="2057400"/>
            <a:ext cx="2194560" cy="228600"/>
          </a:xfrm>
          <a:prstGeom prst="rect">
            <a:avLst/>
          </a:prstGeom>
          <a:noFill/>
        </p:spPr>
        <p:txBody>
          <a:bodyPr wrap="none">
            <a:spAutoFit/>
          </a:bodyPr>
          <a:lstStyle/>
          <a:p>
            <a:pPr>
              <a:defRPr sz="900" b="1">
                <a:solidFill>
                  <a:srgbClr val="D83B01"/>
                </a:solidFill>
              </a:defRPr>
            </a:pPr>
            <a:r>
              <a:t>ENTERPRISE BLOCKER</a:t>
            </a:r>
          </a:p>
        </p:txBody>
      </p:sp>
      <p:sp>
        <p:nvSpPr>
          <p:cNvPr id="11" name="TextBox 10"/>
          <p:cNvSpPr txBox="1"/>
          <p:nvPr/>
        </p:nvSpPr>
        <p:spPr>
          <a:xfrm>
            <a:off x="1005840" y="2651760"/>
            <a:ext cx="2834640" cy="365760"/>
          </a:xfrm>
          <a:prstGeom prst="rect">
            <a:avLst/>
          </a:prstGeom>
          <a:noFill/>
        </p:spPr>
        <p:txBody>
          <a:bodyPr wrap="none">
            <a:spAutoFit/>
          </a:bodyPr>
          <a:lstStyle/>
          <a:p>
            <a:pPr>
              <a:defRPr sz="1800" b="1">
                <a:solidFill>
                  <a:srgbClr val="0A192F"/>
                </a:solidFill>
              </a:defRPr>
            </a:pPr>
            <a:r>
              <a:t>Uncatalogued Sprawl</a:t>
            </a:r>
          </a:p>
        </p:txBody>
      </p:sp>
      <p:sp>
        <p:nvSpPr>
          <p:cNvPr id="12" name="TextBox 11"/>
          <p:cNvSpPr txBox="1"/>
          <p:nvPr/>
        </p:nvSpPr>
        <p:spPr>
          <a:xfrm>
            <a:off x="1005840" y="3017520"/>
            <a:ext cx="2834640" cy="411480"/>
          </a:xfrm>
          <a:prstGeom prst="rect">
            <a:avLst/>
          </a:prstGeom>
          <a:noFill/>
        </p:spPr>
        <p:txBody>
          <a:bodyPr wrap="none">
            <a:spAutoFit/>
          </a:bodyPr>
          <a:lstStyle/>
          <a:p>
            <a:pPr>
              <a:defRPr sz="2000" b="1">
                <a:solidFill>
                  <a:srgbClr val="D83B01"/>
                </a:solidFill>
              </a:defRPr>
            </a:pPr>
            <a:r>
              <a:t>70%+ Untracked</a:t>
            </a:r>
          </a:p>
        </p:txBody>
      </p:sp>
      <p:sp>
        <p:nvSpPr>
          <p:cNvPr id="13" name="TextBox 12"/>
          <p:cNvSpPr txBox="1"/>
          <p:nvPr/>
        </p:nvSpPr>
        <p:spPr>
          <a:xfrm>
            <a:off x="1005840" y="3520440"/>
            <a:ext cx="2834640" cy="1645920"/>
          </a:xfrm>
          <a:prstGeom prst="rect">
            <a:avLst/>
          </a:prstGeom>
          <a:noFill/>
        </p:spPr>
        <p:txBody>
          <a:bodyPr wrap="square">
            <a:spAutoFit/>
          </a:bodyPr>
          <a:lstStyle/>
          <a:p>
            <a:pPr>
              <a:spcAft>
                <a:spcPts val="800"/>
              </a:spcAft>
              <a:defRPr sz="1200">
                <a:solidFill>
                  <a:srgbClr val="0F172A"/>
                </a:solidFill>
              </a:defRPr>
            </a:pPr>
            <a:r>
              <a:t>• Agents proliferated across Copilot Studio, Foundry, and custom hosts.</a:t>
            </a:r>
          </a:p>
          <a:p>
            <a:pPr>
              <a:spcAft>
                <a:spcPts val="800"/>
              </a:spcAft>
              <a:defRPr sz="1200">
                <a:solidFill>
                  <a:srgbClr val="0F172A"/>
                </a:solidFill>
              </a:defRPr>
            </a:pPr>
            <a:r>
              <a:t>• No central inventory, unclear business ownership, and zero emergency stop path.</a:t>
            </a:r>
          </a:p>
        </p:txBody>
      </p:sp>
      <p:sp>
        <p:nvSpPr>
          <p:cNvPr id="14" name="Rounded Rectangle 13"/>
          <p:cNvSpPr/>
          <p:nvPr/>
        </p:nvSpPr>
        <p:spPr>
          <a:xfrm>
            <a:off x="43891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8288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63440" y="2057400"/>
            <a:ext cx="502920" cy="50292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7" name="TextBox 16"/>
          <p:cNvSpPr txBox="1"/>
          <p:nvPr/>
        </p:nvSpPr>
        <p:spPr>
          <a:xfrm>
            <a:off x="5303520" y="2057400"/>
            <a:ext cx="2194560" cy="228600"/>
          </a:xfrm>
          <a:prstGeom prst="rect">
            <a:avLst/>
          </a:prstGeom>
          <a:noFill/>
        </p:spPr>
        <p:txBody>
          <a:bodyPr wrap="none">
            <a:spAutoFit/>
          </a:bodyPr>
          <a:lstStyle/>
          <a:p>
            <a:pPr>
              <a:defRPr sz="900" b="1">
                <a:solidFill>
                  <a:srgbClr val="0078D4"/>
                </a:solidFill>
              </a:defRPr>
            </a:pPr>
            <a:r>
              <a:t>WHAT CIS INFRA DELIVERS</a:t>
            </a:r>
          </a:p>
        </p:txBody>
      </p:sp>
      <p:sp>
        <p:nvSpPr>
          <p:cNvPr id="18" name="TextBox 17"/>
          <p:cNvSpPr txBox="1"/>
          <p:nvPr/>
        </p:nvSpPr>
        <p:spPr>
          <a:xfrm>
            <a:off x="4663440" y="2651760"/>
            <a:ext cx="2834640" cy="365760"/>
          </a:xfrm>
          <a:prstGeom prst="rect">
            <a:avLst/>
          </a:prstGeom>
          <a:noFill/>
        </p:spPr>
        <p:txBody>
          <a:bodyPr wrap="none">
            <a:spAutoFit/>
          </a:bodyPr>
          <a:lstStyle/>
          <a:p>
            <a:pPr>
              <a:defRPr sz="1800" b="1">
                <a:solidFill>
                  <a:srgbClr val="0A192F"/>
                </a:solidFill>
              </a:defRPr>
            </a:pPr>
            <a:r>
              <a:t>Governed Control</a:t>
            </a:r>
          </a:p>
        </p:txBody>
      </p:sp>
      <p:sp>
        <p:nvSpPr>
          <p:cNvPr id="19" name="TextBox 18"/>
          <p:cNvSpPr txBox="1"/>
          <p:nvPr/>
        </p:nvSpPr>
        <p:spPr>
          <a:xfrm>
            <a:off x="4663440" y="3017520"/>
            <a:ext cx="2834640" cy="411480"/>
          </a:xfrm>
          <a:prstGeom prst="rect">
            <a:avLst/>
          </a:prstGeom>
          <a:noFill/>
        </p:spPr>
        <p:txBody>
          <a:bodyPr wrap="none">
            <a:spAutoFit/>
          </a:bodyPr>
          <a:lstStyle/>
          <a:p>
            <a:pPr>
              <a:defRPr sz="2000" b="1">
                <a:solidFill>
                  <a:srgbClr val="0078D4"/>
                </a:solidFill>
              </a:defRPr>
            </a:pPr>
            <a:r>
              <a:t>Configure-First</a:t>
            </a:r>
          </a:p>
        </p:txBody>
      </p:sp>
      <p:sp>
        <p:nvSpPr>
          <p:cNvPr id="20" name="TextBox 19"/>
          <p:cNvSpPr txBox="1"/>
          <p:nvPr/>
        </p:nvSpPr>
        <p:spPr>
          <a:xfrm>
            <a:off x="4663440" y="3520440"/>
            <a:ext cx="2834640" cy="1645920"/>
          </a:xfrm>
          <a:prstGeom prst="rect">
            <a:avLst/>
          </a:prstGeom>
          <a:noFill/>
        </p:spPr>
        <p:txBody>
          <a:bodyPr wrap="square">
            <a:spAutoFit/>
          </a:bodyPr>
          <a:lstStyle/>
          <a:p>
            <a:pPr>
              <a:spcAft>
                <a:spcPts val="800"/>
              </a:spcAft>
              <a:defRPr sz="1200">
                <a:solidFill>
                  <a:srgbClr val="0F172A"/>
                </a:solidFill>
              </a:defRPr>
            </a:pPr>
            <a:r>
              <a:t>• Configure Agent 365, Foundry Control Plane, and Entra Agent ID native layers.</a:t>
            </a:r>
          </a:p>
          <a:p>
            <a:pPr>
              <a:spcAft>
                <a:spcPts val="800"/>
              </a:spcAft>
              <a:defRPr sz="1200">
                <a:solidFill>
                  <a:srgbClr val="0F172A"/>
                </a:solidFill>
              </a:defRPr>
            </a:pPr>
            <a:r>
              <a:t>• Automated telemetry reconciliation and verified 4-layer containment orchestrator.</a:t>
            </a:r>
          </a:p>
        </p:txBody>
      </p:sp>
      <p:sp>
        <p:nvSpPr>
          <p:cNvPr id="21" name="Rounded Rectangle 20"/>
          <p:cNvSpPr/>
          <p:nvPr/>
        </p:nvSpPr>
        <p:spPr>
          <a:xfrm>
            <a:off x="80467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1828800"/>
            <a:ext cx="33832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21040" y="2057400"/>
            <a:ext cx="502920" cy="502920"/>
          </a:xfrm>
          <a:prstGeom prst="ellipse">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4" name="TextBox 23"/>
          <p:cNvSpPr txBox="1"/>
          <p:nvPr/>
        </p:nvSpPr>
        <p:spPr>
          <a:xfrm>
            <a:off x="8961120" y="2057400"/>
            <a:ext cx="2194560" cy="228600"/>
          </a:xfrm>
          <a:prstGeom prst="rect">
            <a:avLst/>
          </a:prstGeom>
          <a:noFill/>
        </p:spPr>
        <p:txBody>
          <a:bodyPr wrap="none">
            <a:spAutoFit/>
          </a:bodyPr>
          <a:lstStyle/>
          <a:p>
            <a:pPr>
              <a:defRPr sz="900" b="1">
                <a:solidFill>
                  <a:srgbClr val="00A389"/>
                </a:solidFill>
              </a:defRPr>
            </a:pPr>
            <a:r>
              <a:t>MEASURABLE OUTCOME</a:t>
            </a:r>
          </a:p>
        </p:txBody>
      </p:sp>
      <p:sp>
        <p:nvSpPr>
          <p:cNvPr id="25" name="TextBox 24"/>
          <p:cNvSpPr txBox="1"/>
          <p:nvPr/>
        </p:nvSpPr>
        <p:spPr>
          <a:xfrm>
            <a:off x="8321040" y="2651760"/>
            <a:ext cx="2834640" cy="365760"/>
          </a:xfrm>
          <a:prstGeom prst="rect">
            <a:avLst/>
          </a:prstGeom>
          <a:noFill/>
        </p:spPr>
        <p:txBody>
          <a:bodyPr wrap="none">
            <a:spAutoFit/>
          </a:bodyPr>
          <a:lstStyle/>
          <a:p>
            <a:pPr>
              <a:defRPr sz="1800" b="1">
                <a:solidFill>
                  <a:srgbClr val="0A192F"/>
                </a:solidFill>
              </a:defRPr>
            </a:pPr>
            <a:r>
              <a:t>Estate Compliance</a:t>
            </a:r>
          </a:p>
        </p:txBody>
      </p:sp>
      <p:sp>
        <p:nvSpPr>
          <p:cNvPr id="26" name="TextBox 25"/>
          <p:cNvSpPr txBox="1"/>
          <p:nvPr/>
        </p:nvSpPr>
        <p:spPr>
          <a:xfrm>
            <a:off x="8321040" y="3017520"/>
            <a:ext cx="2834640" cy="411480"/>
          </a:xfrm>
          <a:prstGeom prst="rect">
            <a:avLst/>
          </a:prstGeom>
          <a:noFill/>
        </p:spPr>
        <p:txBody>
          <a:bodyPr wrap="none">
            <a:spAutoFit/>
          </a:bodyPr>
          <a:lstStyle/>
          <a:p>
            <a:pPr>
              <a:defRPr sz="2000" b="1">
                <a:solidFill>
                  <a:srgbClr val="00A389"/>
                </a:solidFill>
              </a:defRPr>
            </a:pPr>
            <a:r>
              <a:t>100% Audit Ready</a:t>
            </a:r>
          </a:p>
        </p:txBody>
      </p:sp>
      <p:sp>
        <p:nvSpPr>
          <p:cNvPr id="27" name="TextBox 26"/>
          <p:cNvSpPr txBox="1"/>
          <p:nvPr/>
        </p:nvSpPr>
        <p:spPr>
          <a:xfrm>
            <a:off x="8321040" y="3520440"/>
            <a:ext cx="2834640" cy="1645920"/>
          </a:xfrm>
          <a:prstGeom prst="rect">
            <a:avLst/>
          </a:prstGeom>
          <a:noFill/>
        </p:spPr>
        <p:txBody>
          <a:bodyPr wrap="square">
            <a:spAutoFit/>
          </a:bodyPr>
          <a:lstStyle/>
          <a:p>
            <a:pPr>
              <a:spcAft>
                <a:spcPts val="800"/>
              </a:spcAft>
              <a:defRPr sz="1200">
                <a:solidFill>
                  <a:srgbClr val="0F172A"/>
                </a:solidFill>
              </a:defRPr>
            </a:pPr>
            <a:r>
              <a:t>• Every active agent mapped to a human owner, usage class, and risk tier.</a:t>
            </a:r>
          </a:p>
          <a:p>
            <a:pPr>
              <a:spcAft>
                <a:spcPts val="800"/>
              </a:spcAft>
              <a:defRPr sz="1200">
                <a:solidFill>
                  <a:srgbClr val="0F172A"/>
                </a:solidFill>
              </a:defRPr>
            </a:pPr>
            <a:r>
              <a:t>• Demonstrated sub-minute containment drill passing CISO and EU AI Act audit.</a:t>
            </a:r>
          </a:p>
        </p:txBody>
      </p:sp>
      <p:sp>
        <p:nvSpPr>
          <p:cNvPr id="28" name="Rounded Rectangle 27"/>
          <p:cNvSpPr/>
          <p:nvPr/>
        </p:nvSpPr>
        <p:spPr>
          <a:xfrm>
            <a:off x="731520" y="5532120"/>
            <a:ext cx="10698480" cy="68580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23560"/>
            <a:ext cx="10332720" cy="502920"/>
          </a:xfrm>
          <a:prstGeom prst="rect">
            <a:avLst/>
          </a:prstGeom>
          <a:noFill/>
        </p:spPr>
        <p:txBody>
          <a:bodyPr wrap="square">
            <a:spAutoFit/>
          </a:bodyPr>
          <a:lstStyle/>
          <a:p>
            <a:r>
              <a:rPr b="1" sz="1200">
                <a:solidFill>
                  <a:srgbClr val="0078D4"/>
                </a:solidFill>
              </a:rPr>
              <a:t>DECISION REQUESTED: </a:t>
            </a:r>
            <a:r>
              <a:rPr sz="1200" b="1">
                <a:solidFill>
                  <a:srgbClr val="0A192F"/>
                </a:solidFill>
              </a:rPr>
              <a:t>Adopt configure-before-build design rule and approve a 4-to-6 week kill-switch PoC with nominated CISO containment authority.</a:t>
            </a:r>
          </a:p>
        </p:txBody>
      </p:sp>
      <p:sp>
        <p:nvSpPr>
          <p:cNvPr id="30" name="TextBox 29"/>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Agent Governance and Operations · Working proposal for senior leadership review · Slide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3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MARKET DEMAND &amp; TRIGGERS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03</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Agent sprawl without governance creates hidden compliance risk</a:t>
            </a:r>
          </a:p>
        </p:txBody>
      </p:sp>
      <p:sp>
        <p:nvSpPr>
          <p:cNvPr id="6" name="Rounded Rectangle 5"/>
          <p:cNvSpPr/>
          <p:nvPr/>
        </p:nvSpPr>
        <p:spPr>
          <a:xfrm>
            <a:off x="7315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2926080" cy="548640"/>
          </a:xfrm>
          <a:prstGeom prst="rect">
            <a:avLst/>
          </a:prstGeom>
          <a:noFill/>
        </p:spPr>
        <p:txBody>
          <a:bodyPr wrap="none">
            <a:spAutoFit/>
          </a:bodyPr>
          <a:lstStyle/>
          <a:p>
            <a:pPr>
              <a:defRPr sz="3400" b="1">
                <a:solidFill>
                  <a:srgbClr val="0078D4"/>
                </a:solidFill>
              </a:defRPr>
            </a:pPr>
            <a:r>
              <a:t>1 May 2026</a:t>
            </a:r>
          </a:p>
        </p:txBody>
      </p:sp>
      <p:sp>
        <p:nvSpPr>
          <p:cNvPr id="9" name="TextBox 8"/>
          <p:cNvSpPr txBox="1"/>
          <p:nvPr/>
        </p:nvSpPr>
        <p:spPr>
          <a:xfrm>
            <a:off x="960120" y="2148840"/>
            <a:ext cx="2926080" cy="320040"/>
          </a:xfrm>
          <a:prstGeom prst="rect">
            <a:avLst/>
          </a:prstGeom>
          <a:noFill/>
        </p:spPr>
        <p:txBody>
          <a:bodyPr wrap="none">
            <a:spAutoFit/>
          </a:bodyPr>
          <a:lstStyle/>
          <a:p>
            <a:pPr>
              <a:defRPr sz="1500" b="1">
                <a:solidFill>
                  <a:srgbClr val="0A192F"/>
                </a:solidFill>
              </a:defRPr>
            </a:pPr>
            <a:r>
              <a:t>Agent 365 GA</a:t>
            </a:r>
          </a:p>
        </p:txBody>
      </p:sp>
      <p:sp>
        <p:nvSpPr>
          <p:cNvPr id="10" name="TextBox 9"/>
          <p:cNvSpPr txBox="1"/>
          <p:nvPr/>
        </p:nvSpPr>
        <p:spPr>
          <a:xfrm>
            <a:off x="960120" y="2514600"/>
            <a:ext cx="2926080" cy="914400"/>
          </a:xfrm>
          <a:prstGeom prst="rect">
            <a:avLst/>
          </a:prstGeom>
          <a:noFill/>
        </p:spPr>
        <p:txBody>
          <a:bodyPr wrap="square">
            <a:spAutoFit/>
          </a:bodyPr>
          <a:lstStyle/>
          <a:p>
            <a:pPr>
              <a:defRPr sz="1100">
                <a:solidFill>
                  <a:srgbClr val="0F172A"/>
                </a:solidFill>
              </a:defRPr>
            </a:pPr>
            <a:r>
              <a:t>Microsoft unified control plane covers Copilot Studio, Foundry, and partner agents; configure native registry before custom engineering.</a:t>
            </a:r>
          </a:p>
        </p:txBody>
      </p:sp>
      <p:sp>
        <p:nvSpPr>
          <p:cNvPr id="11" name="Rounded Rectangle 10"/>
          <p:cNvSpPr/>
          <p:nvPr/>
        </p:nvSpPr>
        <p:spPr>
          <a:xfrm>
            <a:off x="43891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371600"/>
            <a:ext cx="3383280" cy="54864"/>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554480"/>
            <a:ext cx="2926080" cy="548640"/>
          </a:xfrm>
          <a:prstGeom prst="rect">
            <a:avLst/>
          </a:prstGeom>
          <a:noFill/>
        </p:spPr>
        <p:txBody>
          <a:bodyPr wrap="none">
            <a:spAutoFit/>
          </a:bodyPr>
          <a:lstStyle/>
          <a:p>
            <a:pPr>
              <a:defRPr sz="3400" b="1">
                <a:solidFill>
                  <a:srgbClr val="00A389"/>
                </a:solidFill>
              </a:defRPr>
            </a:pPr>
            <a:r>
              <a:t>&lt;60s</a:t>
            </a:r>
          </a:p>
        </p:txBody>
      </p:sp>
      <p:sp>
        <p:nvSpPr>
          <p:cNvPr id="14" name="TextBox 13"/>
          <p:cNvSpPr txBox="1"/>
          <p:nvPr/>
        </p:nvSpPr>
        <p:spPr>
          <a:xfrm>
            <a:off x="4617720" y="2148840"/>
            <a:ext cx="2926080" cy="320040"/>
          </a:xfrm>
          <a:prstGeom prst="rect">
            <a:avLst/>
          </a:prstGeom>
          <a:noFill/>
        </p:spPr>
        <p:txBody>
          <a:bodyPr wrap="none">
            <a:spAutoFit/>
          </a:bodyPr>
          <a:lstStyle/>
          <a:p>
            <a:pPr>
              <a:defRPr sz="1500" b="1">
                <a:solidFill>
                  <a:srgbClr val="0A192F"/>
                </a:solidFill>
              </a:defRPr>
            </a:pPr>
            <a:r>
              <a:t>Stop Time Target</a:t>
            </a:r>
          </a:p>
        </p:txBody>
      </p:sp>
      <p:sp>
        <p:nvSpPr>
          <p:cNvPr id="15" name="TextBox 14"/>
          <p:cNvSpPr txBox="1"/>
          <p:nvPr/>
        </p:nvSpPr>
        <p:spPr>
          <a:xfrm>
            <a:off x="4617720" y="2514600"/>
            <a:ext cx="2926080" cy="914400"/>
          </a:xfrm>
          <a:prstGeom prst="rect">
            <a:avLst/>
          </a:prstGeom>
          <a:noFill/>
        </p:spPr>
        <p:txBody>
          <a:bodyPr wrap="square">
            <a:spAutoFit/>
          </a:bodyPr>
          <a:lstStyle/>
          <a:p>
            <a:pPr>
              <a:defRPr sz="1100">
                <a:solidFill>
                  <a:srgbClr val="0F172A"/>
                </a:solidFill>
              </a:defRPr>
            </a:pPr>
            <a:r>
              <a:t>Foundry control plane stop does not end runs in flight; multi-layer kill switch required to isolate compute and revoke tool calls.</a:t>
            </a:r>
          </a:p>
        </p:txBody>
      </p:sp>
      <p:sp>
        <p:nvSpPr>
          <p:cNvPr id="16" name="Rounded Rectangle 15"/>
          <p:cNvSpPr/>
          <p:nvPr/>
        </p:nvSpPr>
        <p:spPr>
          <a:xfrm>
            <a:off x="80467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371600"/>
            <a:ext cx="3383280" cy="54864"/>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554480"/>
            <a:ext cx="2926080" cy="548640"/>
          </a:xfrm>
          <a:prstGeom prst="rect">
            <a:avLst/>
          </a:prstGeom>
          <a:noFill/>
        </p:spPr>
        <p:txBody>
          <a:bodyPr wrap="none">
            <a:spAutoFit/>
          </a:bodyPr>
          <a:lstStyle/>
          <a:p>
            <a:pPr>
              <a:defRPr sz="3400" b="1">
                <a:solidFill>
                  <a:srgbClr val="D83B01"/>
                </a:solidFill>
              </a:defRPr>
            </a:pPr>
            <a:r>
              <a:t>100%</a:t>
            </a:r>
          </a:p>
        </p:txBody>
      </p:sp>
      <p:sp>
        <p:nvSpPr>
          <p:cNvPr id="19" name="TextBox 18"/>
          <p:cNvSpPr txBox="1"/>
          <p:nvPr/>
        </p:nvSpPr>
        <p:spPr>
          <a:xfrm>
            <a:off x="8275320" y="2148840"/>
            <a:ext cx="2926080" cy="320040"/>
          </a:xfrm>
          <a:prstGeom prst="rect">
            <a:avLst/>
          </a:prstGeom>
          <a:noFill/>
        </p:spPr>
        <p:txBody>
          <a:bodyPr wrap="none">
            <a:spAutoFit/>
          </a:bodyPr>
          <a:lstStyle/>
          <a:p>
            <a:pPr>
              <a:defRPr sz="1500" b="1">
                <a:solidFill>
                  <a:srgbClr val="0A192F"/>
                </a:solidFill>
              </a:defRPr>
            </a:pPr>
            <a:r>
              <a:t>Firm CISO Gates</a:t>
            </a:r>
          </a:p>
        </p:txBody>
      </p:sp>
      <p:sp>
        <p:nvSpPr>
          <p:cNvPr id="20" name="TextBox 19"/>
          <p:cNvSpPr txBox="1"/>
          <p:nvPr/>
        </p:nvSpPr>
        <p:spPr>
          <a:xfrm>
            <a:off x="8275320" y="2514600"/>
            <a:ext cx="2926080" cy="914400"/>
          </a:xfrm>
          <a:prstGeom prst="rect">
            <a:avLst/>
          </a:prstGeom>
          <a:noFill/>
        </p:spPr>
        <p:txBody>
          <a:bodyPr wrap="square">
            <a:spAutoFit/>
          </a:bodyPr>
          <a:lstStyle/>
          <a:p>
            <a:pPr>
              <a:defRPr sz="1100">
                <a:solidFill>
                  <a:srgbClr val="0F172A"/>
                </a:solidFill>
              </a:defRPr>
            </a:pPr>
            <a:r>
              <a:t>EU AI Act Article 12 and enterprise audit demand an immutable agent inventory with registered business owners and risk tiers.</a:t>
            </a:r>
          </a:p>
        </p:txBody>
      </p:sp>
      <p:sp>
        <p:nvSpPr>
          <p:cNvPr id="21" name="Rounded Rectangle 20"/>
          <p:cNvSpPr/>
          <p:nvPr/>
        </p:nvSpPr>
        <p:spPr>
          <a:xfrm>
            <a:off x="731520" y="3749039"/>
            <a:ext cx="10698480" cy="2468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931920"/>
            <a:ext cx="4846320" cy="2103120"/>
          </a:xfrm>
          <a:prstGeom prst="rect">
            <a:avLst/>
          </a:prstGeom>
          <a:noFill/>
        </p:spPr>
        <p:txBody>
          <a:bodyPr wrap="square">
            <a:spAutoFit/>
          </a:bodyPr>
          <a:lstStyle/>
          <a:p>
            <a:pPr>
              <a:spcAft>
                <a:spcPts val="600"/>
              </a:spcAft>
              <a:defRPr sz="1300" b="1">
                <a:solidFill>
                  <a:srgbClr val="0A192F"/>
                </a:solidFill>
              </a:defRPr>
            </a:pPr>
            <a:r>
              <a:t>THE ECONOMIC BUYER</a:t>
            </a:r>
          </a:p>
          <a:p>
            <a:pPr>
              <a:spcAft>
                <a:spcPts val="400"/>
              </a:spcAft>
              <a:defRPr sz="1100">
                <a:solidFill>
                  <a:srgbClr val="0F172A"/>
                </a:solidFill>
              </a:defRPr>
            </a:pPr>
            <a:r>
              <a:t>• Primary Buyer: Head of AI Platform / Cloud Infrastructure.</a:t>
            </a:r>
          </a:p>
          <a:p>
            <a:pPr>
              <a:spcAft>
                <a:spcPts val="400"/>
              </a:spcAft>
              <a:defRPr sz="1100">
                <a:solidFill>
                  <a:srgbClr val="0F172A"/>
                </a:solidFill>
              </a:defRPr>
            </a:pPr>
            <a:r>
              <a:t>• Key Stakeholders: CISO Security Delegate and IT Service Management Owner.</a:t>
            </a:r>
          </a:p>
          <a:p>
            <a:pPr>
              <a:spcAft>
                <a:spcPts val="400"/>
              </a:spcAft>
              <a:defRPr sz="1100">
                <a:solidFill>
                  <a:srgbClr val="0F172A"/>
                </a:solidFill>
              </a:defRPr>
            </a:pPr>
            <a:r>
              <a:t>• Budget Catalyst: Internal audit risk notifications or upcoming regulatory filing deadlines.</a:t>
            </a:r>
          </a:p>
        </p:txBody>
      </p:sp>
      <p:sp>
        <p:nvSpPr>
          <p:cNvPr id="23" name="Rectangle 22"/>
          <p:cNvSpPr/>
          <p:nvPr/>
        </p:nvSpPr>
        <p:spPr>
          <a:xfrm>
            <a:off x="6035040" y="3931920"/>
            <a:ext cx="18288" cy="21031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931920"/>
            <a:ext cx="4846320" cy="2103120"/>
          </a:xfrm>
          <a:prstGeom prst="rect">
            <a:avLst/>
          </a:prstGeom>
          <a:noFill/>
        </p:spPr>
        <p:txBody>
          <a:bodyPr wrap="square">
            <a:spAutoFit/>
          </a:bodyPr>
          <a:lstStyle/>
          <a:p>
            <a:pPr>
              <a:spcAft>
                <a:spcPts val="600"/>
              </a:spcAft>
              <a:defRPr sz="1300" b="1">
                <a:solidFill>
                  <a:srgbClr val="0078D4"/>
                </a:solidFill>
              </a:defRPr>
            </a:pPr>
            <a:r>
              <a:t>THE BUYING TRIGGERS</a:t>
            </a:r>
          </a:p>
          <a:p>
            <a:pPr>
              <a:spcAft>
                <a:spcPts val="400"/>
              </a:spcAft>
              <a:defRPr sz="1100">
                <a:solidFill>
                  <a:srgbClr val="0F172A"/>
                </a:solidFill>
              </a:defRPr>
            </a:pPr>
            <a:r>
              <a:t>• Agent count proliferating across disparate business units without central oversight.</a:t>
            </a:r>
          </a:p>
          <a:p>
            <a:pPr>
              <a:spcAft>
                <a:spcPts val="400"/>
              </a:spcAft>
              <a:defRPr sz="1100">
                <a:solidFill>
                  <a:srgbClr val="0F172A"/>
                </a:solidFill>
              </a:defRPr>
            </a:pPr>
            <a:r>
              <a:t>• Operational incident or near-miss where an unmonitored agent invoked unauthorized tools.</a:t>
            </a:r>
          </a:p>
          <a:p>
            <a:pPr>
              <a:spcAft>
                <a:spcPts val="400"/>
              </a:spcAft>
              <a:defRPr sz="1100">
                <a:solidFill>
                  <a:srgbClr val="0F172A"/>
                </a:solidFill>
              </a:defRPr>
            </a:pPr>
            <a:r>
              <a:t>• Security audit requiring verifiable emergency kill-switch procedures before production sign-off.</a:t>
            </a:r>
          </a:p>
        </p:txBody>
      </p:sp>
      <p:sp>
        <p:nvSpPr>
          <p:cNvPr id="25" name="TextBox 24"/>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Agent Governance and Operations · Working proposal for senior leadership review · Slide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4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PORTFOLIO FIT &amp; ADJACENCY</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04</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Offering 02 classifies and protects agents built across runtimes</a:t>
            </a:r>
          </a:p>
        </p:txBody>
      </p:sp>
      <p:sp>
        <p:nvSpPr>
          <p:cNvPr id="6" name="Rounded Rectangle 5"/>
          <p:cNvSpPr/>
          <p:nvPr/>
        </p:nvSpPr>
        <p:spPr>
          <a:xfrm>
            <a:off x="731520" y="1371600"/>
            <a:ext cx="2377440" cy="2926080"/>
          </a:xfrm>
          <a:prstGeom prst="roundRect">
            <a:avLst/>
          </a:prstGeom>
          <a:solidFill>
            <a:srgbClr val="FFFFFF"/>
          </a:solidFill>
          <a:ln w="1270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37744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011680" cy="320040"/>
          </a:xfrm>
          <a:prstGeom prst="rect">
            <a:avLst/>
          </a:prstGeom>
          <a:noFill/>
        </p:spPr>
        <p:txBody>
          <a:bodyPr wrap="none">
            <a:spAutoFit/>
          </a:bodyPr>
          <a:lstStyle/>
          <a:p>
            <a:pPr>
              <a:defRPr sz="1000" b="1">
                <a:solidFill>
                  <a:srgbClr val="0A192F"/>
                </a:solidFill>
              </a:defRPr>
            </a:pPr>
            <a:r>
              <a:t>01 · FOUNDATION INPUT</a:t>
            </a:r>
          </a:p>
        </p:txBody>
      </p:sp>
      <p:sp>
        <p:nvSpPr>
          <p:cNvPr id="9" name="TextBox 8"/>
          <p:cNvSpPr txBox="1"/>
          <p:nvPr/>
        </p:nvSpPr>
        <p:spPr>
          <a:xfrm>
            <a:off x="914400" y="1965960"/>
            <a:ext cx="2011680" cy="502920"/>
          </a:xfrm>
          <a:prstGeom prst="rect">
            <a:avLst/>
          </a:prstGeom>
          <a:noFill/>
        </p:spPr>
        <p:txBody>
          <a:bodyPr wrap="square">
            <a:spAutoFit/>
          </a:bodyPr>
          <a:lstStyle/>
          <a:p>
            <a:pPr>
              <a:defRPr sz="1600" b="1">
                <a:solidFill>
                  <a:srgbClr val="0A192F"/>
                </a:solidFill>
              </a:defRPr>
            </a:pPr>
            <a:r>
              <a:t>Landing Zone</a:t>
            </a:r>
          </a:p>
        </p:txBody>
      </p:sp>
      <p:sp>
        <p:nvSpPr>
          <p:cNvPr id="10" name="TextBox 9"/>
          <p:cNvSpPr txBox="1"/>
          <p:nvPr/>
        </p:nvSpPr>
        <p:spPr>
          <a:xfrm>
            <a:off x="914400" y="2560320"/>
            <a:ext cx="2011680" cy="1554480"/>
          </a:xfrm>
          <a:prstGeom prst="rect">
            <a:avLst/>
          </a:prstGeom>
          <a:noFill/>
        </p:spPr>
        <p:txBody>
          <a:bodyPr wrap="square">
            <a:spAutoFit/>
          </a:bodyPr>
          <a:lstStyle/>
          <a:p>
            <a:pPr>
              <a:defRPr sz="1100">
                <a:solidFill>
                  <a:srgbClr val="0F172A"/>
                </a:solidFill>
              </a:defRPr>
            </a:pPr>
            <a:r>
              <a:t>Supplies private VNet, Entra ID tenant, and baseline telemetry sinks.</a:t>
            </a:r>
          </a:p>
        </p:txBody>
      </p:sp>
      <p:sp>
        <p:nvSpPr>
          <p:cNvPr id="11" name="Rounded Rectangle 10"/>
          <p:cNvSpPr/>
          <p:nvPr/>
        </p:nvSpPr>
        <p:spPr>
          <a:xfrm>
            <a:off x="3474720" y="1371600"/>
            <a:ext cx="2377440" cy="2926080"/>
          </a:xfrm>
          <a:prstGeom prst="roundRect">
            <a:avLst/>
          </a:prstGeom>
          <a:solidFill>
            <a:srgbClr val="FFFFFF"/>
          </a:solidFill>
          <a:ln w="1270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371600"/>
            <a:ext cx="237744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1600200"/>
            <a:ext cx="2011680" cy="320040"/>
          </a:xfrm>
          <a:prstGeom prst="rect">
            <a:avLst/>
          </a:prstGeom>
          <a:noFill/>
        </p:spPr>
        <p:txBody>
          <a:bodyPr wrap="none">
            <a:spAutoFit/>
          </a:bodyPr>
          <a:lstStyle/>
          <a:p>
            <a:pPr>
              <a:defRPr sz="1000" b="1">
                <a:solidFill>
                  <a:srgbClr val="0A192F"/>
                </a:solidFill>
              </a:defRPr>
            </a:pPr>
            <a:r>
              <a:t>03 · ENFORCEMENT INPUT</a:t>
            </a:r>
          </a:p>
        </p:txBody>
      </p:sp>
      <p:sp>
        <p:nvSpPr>
          <p:cNvPr id="14" name="TextBox 13"/>
          <p:cNvSpPr txBox="1"/>
          <p:nvPr/>
        </p:nvSpPr>
        <p:spPr>
          <a:xfrm>
            <a:off x="3657600" y="1965960"/>
            <a:ext cx="2011680" cy="502920"/>
          </a:xfrm>
          <a:prstGeom prst="rect">
            <a:avLst/>
          </a:prstGeom>
          <a:noFill/>
        </p:spPr>
        <p:txBody>
          <a:bodyPr wrap="square">
            <a:spAutoFit/>
          </a:bodyPr>
          <a:lstStyle/>
          <a:p>
            <a:pPr>
              <a:defRPr sz="1600" b="1">
                <a:solidFill>
                  <a:srgbClr val="0A192F"/>
                </a:solidFill>
              </a:defRPr>
            </a:pPr>
            <a:r>
              <a:t>AI Gateway</a:t>
            </a:r>
          </a:p>
        </p:txBody>
      </p:sp>
      <p:sp>
        <p:nvSpPr>
          <p:cNvPr id="15" name="TextBox 14"/>
          <p:cNvSpPr txBox="1"/>
          <p:nvPr/>
        </p:nvSpPr>
        <p:spPr>
          <a:xfrm>
            <a:off x="3657600" y="2560320"/>
            <a:ext cx="2011680" cy="1554480"/>
          </a:xfrm>
          <a:prstGeom prst="rect">
            <a:avLst/>
          </a:prstGeom>
          <a:noFill/>
        </p:spPr>
        <p:txBody>
          <a:bodyPr wrap="square">
            <a:spAutoFit/>
          </a:bodyPr>
          <a:lstStyle/>
          <a:p>
            <a:pPr>
              <a:defRPr sz="1100">
                <a:solidFill>
                  <a:srgbClr val="0F172A"/>
                </a:solidFill>
              </a:defRPr>
            </a:pPr>
            <a:r>
              <a:t>Supplies APIM policy enforcement points and per-agent token tracking.</a:t>
            </a:r>
          </a:p>
        </p:txBody>
      </p:sp>
      <p:sp>
        <p:nvSpPr>
          <p:cNvPr id="16" name="Rounded Rectangle 15"/>
          <p:cNvSpPr/>
          <p:nvPr/>
        </p:nvSpPr>
        <p:spPr>
          <a:xfrm>
            <a:off x="6217920" y="1371600"/>
            <a:ext cx="2560320" cy="2926080"/>
          </a:xfrm>
          <a:prstGeom prst="roundRect">
            <a:avLst/>
          </a:prstGeom>
          <a:solidFill>
            <a:srgbClr val="EFF6FF"/>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371600"/>
            <a:ext cx="25603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600200"/>
            <a:ext cx="2194560" cy="320040"/>
          </a:xfrm>
          <a:prstGeom prst="rect">
            <a:avLst/>
          </a:prstGeom>
          <a:noFill/>
        </p:spPr>
        <p:txBody>
          <a:bodyPr wrap="none">
            <a:spAutoFit/>
          </a:bodyPr>
          <a:lstStyle/>
          <a:p>
            <a:pPr>
              <a:defRPr sz="1000" b="1">
                <a:solidFill>
                  <a:srgbClr val="0078D4"/>
                </a:solidFill>
              </a:defRPr>
            </a:pPr>
            <a:r>
              <a:t>02 · THIS OFFERING</a:t>
            </a:r>
          </a:p>
        </p:txBody>
      </p:sp>
      <p:sp>
        <p:nvSpPr>
          <p:cNvPr id="19" name="TextBox 18"/>
          <p:cNvSpPr txBox="1"/>
          <p:nvPr/>
        </p:nvSpPr>
        <p:spPr>
          <a:xfrm>
            <a:off x="6400800" y="1965960"/>
            <a:ext cx="2194560" cy="502920"/>
          </a:xfrm>
          <a:prstGeom prst="rect">
            <a:avLst/>
          </a:prstGeom>
          <a:noFill/>
        </p:spPr>
        <p:txBody>
          <a:bodyPr wrap="square">
            <a:spAutoFit/>
          </a:bodyPr>
          <a:lstStyle/>
          <a:p>
            <a:pPr>
              <a:defRPr sz="1600" b="1">
                <a:solidFill>
                  <a:srgbClr val="0A192F"/>
                </a:solidFill>
              </a:defRPr>
            </a:pPr>
            <a:r>
              <a:t>Agent Governance</a:t>
            </a:r>
          </a:p>
        </p:txBody>
      </p:sp>
      <p:sp>
        <p:nvSpPr>
          <p:cNvPr id="20" name="TextBox 19"/>
          <p:cNvSpPr txBox="1"/>
          <p:nvPr/>
        </p:nvSpPr>
        <p:spPr>
          <a:xfrm>
            <a:off x="6400800" y="2560320"/>
            <a:ext cx="2194560" cy="1554480"/>
          </a:xfrm>
          <a:prstGeom prst="rect">
            <a:avLst/>
          </a:prstGeom>
          <a:noFill/>
        </p:spPr>
        <p:txBody>
          <a:bodyPr wrap="square">
            <a:spAutoFit/>
          </a:bodyPr>
          <a:lstStyle/>
          <a:p>
            <a:pPr>
              <a:defRPr sz="1100">
                <a:solidFill>
                  <a:srgbClr val="0F172A"/>
                </a:solidFill>
              </a:defRPr>
            </a:pPr>
            <a:r>
              <a:t>Delivers inventory reconciliation, posture tracking, and 4-layer containment.</a:t>
            </a:r>
          </a:p>
        </p:txBody>
      </p:sp>
      <p:sp>
        <p:nvSpPr>
          <p:cNvPr id="21" name="Rounded Rectangle 20"/>
          <p:cNvSpPr/>
          <p:nvPr/>
        </p:nvSpPr>
        <p:spPr>
          <a:xfrm>
            <a:off x="9144000" y="1371600"/>
            <a:ext cx="2286000" cy="2926080"/>
          </a:xfrm>
          <a:prstGeom prst="roundRect">
            <a:avLst/>
          </a:prstGeom>
          <a:solidFill>
            <a:srgbClr val="FFFFFF"/>
          </a:solidFill>
          <a:ln w="1270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1371600"/>
            <a:ext cx="228600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1600200"/>
            <a:ext cx="1920240" cy="320040"/>
          </a:xfrm>
          <a:prstGeom prst="rect">
            <a:avLst/>
          </a:prstGeom>
          <a:noFill/>
        </p:spPr>
        <p:txBody>
          <a:bodyPr wrap="none">
            <a:spAutoFit/>
          </a:bodyPr>
          <a:lstStyle/>
          <a:p>
            <a:pPr>
              <a:defRPr sz="1000" b="1">
                <a:solidFill>
                  <a:srgbClr val="00A389"/>
                </a:solidFill>
              </a:defRPr>
            </a:pPr>
            <a:r>
              <a:t>05 · OPERATIONAL HANDOFF</a:t>
            </a:r>
          </a:p>
        </p:txBody>
      </p:sp>
      <p:sp>
        <p:nvSpPr>
          <p:cNvPr id="24" name="TextBox 23"/>
          <p:cNvSpPr txBox="1"/>
          <p:nvPr/>
        </p:nvSpPr>
        <p:spPr>
          <a:xfrm>
            <a:off x="9326880" y="1965960"/>
            <a:ext cx="1920240" cy="502920"/>
          </a:xfrm>
          <a:prstGeom prst="rect">
            <a:avLst/>
          </a:prstGeom>
          <a:noFill/>
        </p:spPr>
        <p:txBody>
          <a:bodyPr wrap="square">
            <a:spAutoFit/>
          </a:bodyPr>
          <a:lstStyle/>
          <a:p>
            <a:pPr>
              <a:defRPr sz="1600" b="1">
                <a:solidFill>
                  <a:srgbClr val="0A192F"/>
                </a:solidFill>
              </a:defRPr>
            </a:pPr>
            <a:r>
              <a:t>Managed Ops</a:t>
            </a:r>
          </a:p>
        </p:txBody>
      </p:sp>
      <p:sp>
        <p:nvSpPr>
          <p:cNvPr id="25" name="TextBox 24"/>
          <p:cNvSpPr txBox="1"/>
          <p:nvPr/>
        </p:nvSpPr>
        <p:spPr>
          <a:xfrm>
            <a:off x="9326880" y="2560320"/>
            <a:ext cx="1920240" cy="1554480"/>
          </a:xfrm>
          <a:prstGeom prst="rect">
            <a:avLst/>
          </a:prstGeom>
          <a:noFill/>
        </p:spPr>
        <p:txBody>
          <a:bodyPr wrap="square">
            <a:spAutoFit/>
          </a:bodyPr>
          <a:lstStyle/>
          <a:p>
            <a:pPr>
              <a:defRPr sz="1100">
                <a:solidFill>
                  <a:srgbClr val="0F172A"/>
                </a:solidFill>
              </a:defRPr>
            </a:pPr>
            <a:r>
              <a:t>Executes 24x7 containment runbooks and monthly review queues.</a:t>
            </a:r>
          </a:p>
        </p:txBody>
      </p:sp>
      <p:sp>
        <p:nvSpPr>
          <p:cNvPr id="26" name="Rounded Rectangle 25"/>
          <p:cNvSpPr/>
          <p:nvPr/>
        </p:nvSpPr>
        <p:spPr>
          <a:xfrm>
            <a:off x="731520" y="4480560"/>
            <a:ext cx="10698480" cy="17373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4617720"/>
            <a:ext cx="10149840" cy="320040"/>
          </a:xfrm>
          <a:prstGeom prst="rect">
            <a:avLst/>
          </a:prstGeom>
          <a:noFill/>
        </p:spPr>
        <p:txBody>
          <a:bodyPr wrap="none">
            <a:spAutoFit/>
          </a:bodyPr>
          <a:lstStyle/>
          <a:p>
            <a:pPr>
              <a:defRPr sz="1200" b="1">
                <a:solidFill>
                  <a:srgbClr val="0A192F"/>
                </a:solidFill>
              </a:defRPr>
            </a:pPr>
            <a:r>
              <a:t>MICROSOFT ECOSYSTEM &amp; PRACTICE BOUNDARIES</a:t>
            </a:r>
          </a:p>
        </p:txBody>
      </p:sp>
      <p:sp>
        <p:nvSpPr>
          <p:cNvPr id="28" name="Rounded Rectangle 27"/>
          <p:cNvSpPr/>
          <p:nvPr/>
        </p:nvSpPr>
        <p:spPr>
          <a:xfrm>
            <a:off x="1005840" y="4983480"/>
            <a:ext cx="1737360" cy="292608"/>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M365 COPILOT</a:t>
            </a:r>
          </a:p>
        </p:txBody>
      </p:sp>
      <p:sp>
        <p:nvSpPr>
          <p:cNvPr id="29" name="TextBox 28"/>
          <p:cNvSpPr txBox="1"/>
          <p:nvPr/>
        </p:nvSpPr>
        <p:spPr>
          <a:xfrm>
            <a:off x="2926080" y="4965192"/>
            <a:ext cx="8229600" cy="320040"/>
          </a:xfrm>
          <a:prstGeom prst="rect">
            <a:avLst/>
          </a:prstGeom>
          <a:noFill/>
        </p:spPr>
        <p:txBody>
          <a:bodyPr wrap="none">
            <a:spAutoFit/>
          </a:bodyPr>
          <a:lstStyle/>
          <a:p>
            <a:pPr>
              <a:defRPr sz="1100">
                <a:solidFill>
                  <a:srgbClr val="0F172A"/>
                </a:solidFill>
              </a:defRPr>
            </a:pPr>
            <a:r>
              <a:t>Owned by Cognizant M365 and D365 teams. CIS Infra provides prerequisite cloud identity and networking readiness.</a:t>
            </a:r>
          </a:p>
        </p:txBody>
      </p:sp>
      <p:sp>
        <p:nvSpPr>
          <p:cNvPr id="30" name="Rounded Rectangle 29"/>
          <p:cNvSpPr/>
          <p:nvPr/>
        </p:nvSpPr>
        <p:spPr>
          <a:xfrm>
            <a:off x="1005840" y="5367528"/>
            <a:ext cx="1737360"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COPILOT STUDIO</a:t>
            </a:r>
          </a:p>
        </p:txBody>
      </p:sp>
      <p:sp>
        <p:nvSpPr>
          <p:cNvPr id="31" name="TextBox 30"/>
          <p:cNvSpPr txBox="1"/>
          <p:nvPr/>
        </p:nvSpPr>
        <p:spPr>
          <a:xfrm>
            <a:off x="2926080" y="5349240"/>
            <a:ext cx="8229600" cy="320040"/>
          </a:xfrm>
          <a:prstGeom prst="rect">
            <a:avLst/>
          </a:prstGeom>
          <a:noFill/>
        </p:spPr>
        <p:txBody>
          <a:bodyPr wrap="none">
            <a:spAutoFit/>
          </a:bodyPr>
          <a:lstStyle/>
          <a:p>
            <a:pPr>
              <a:defRPr sz="1100">
                <a:solidFill>
                  <a:srgbClr val="0F172A"/>
                </a:solidFill>
              </a:defRPr>
            </a:pPr>
            <a:r>
              <a:t>Covered as a first-class agent runtime in Offerings 02 to 05 alongside Azure Foundry agents and custom containers.</a:t>
            </a:r>
          </a:p>
        </p:txBody>
      </p:sp>
      <p:sp>
        <p:nvSpPr>
          <p:cNvPr id="32" name="Rounded Rectangle 31"/>
          <p:cNvSpPr/>
          <p:nvPr/>
        </p:nvSpPr>
        <p:spPr>
          <a:xfrm>
            <a:off x="1005840" y="5751576"/>
            <a:ext cx="1737360" cy="292608"/>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AGENT 365</a:t>
            </a:r>
          </a:p>
        </p:txBody>
      </p:sp>
      <p:sp>
        <p:nvSpPr>
          <p:cNvPr id="33" name="TextBox 32"/>
          <p:cNvSpPr txBox="1"/>
          <p:nvPr/>
        </p:nvSpPr>
        <p:spPr>
          <a:xfrm>
            <a:off x="2926080" y="5733288"/>
            <a:ext cx="8229600" cy="320040"/>
          </a:xfrm>
          <a:prstGeom prst="rect">
            <a:avLst/>
          </a:prstGeom>
          <a:noFill/>
        </p:spPr>
        <p:txBody>
          <a:bodyPr wrap="none">
            <a:spAutoFit/>
          </a:bodyPr>
          <a:lstStyle/>
          <a:p>
            <a:pPr>
              <a:defRPr sz="1100">
                <a:solidFill>
                  <a:srgbClr val="0F172A"/>
                </a:solidFill>
              </a:defRPr>
            </a:pPr>
            <a:r>
              <a:t>Microsoft native control plane launched May 2026; configured first before developing any custom reconciliation tooling.</a:t>
            </a:r>
          </a:p>
        </p:txBody>
      </p:sp>
      <p:sp>
        <p:nvSpPr>
          <p:cNvPr id="34" name="TextBox 33"/>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Agent Governance and Operations · Working proposal for senior leadership review · Slide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5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SCOPE &amp; RACI DEMARCATION</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05</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We govern the agent platform; creators own prompt logic</a:t>
            </a:r>
          </a:p>
        </p:txBody>
      </p:sp>
      <p:sp>
        <p:nvSpPr>
          <p:cNvPr id="6" name="Rounded Rectangle 5"/>
          <p:cNvSpPr/>
          <p:nvPr/>
        </p:nvSpPr>
        <p:spPr>
          <a:xfrm>
            <a:off x="731520" y="1371600"/>
            <a:ext cx="3383280" cy="402336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3017520" cy="411480"/>
          </a:xfrm>
          <a:prstGeom prst="rect">
            <a:avLst/>
          </a:prstGeom>
          <a:noFill/>
        </p:spPr>
        <p:txBody>
          <a:bodyPr wrap="none">
            <a:spAutoFit/>
          </a:bodyPr>
          <a:lstStyle/>
          <a:p>
            <a:pPr>
              <a:defRPr sz="1100" b="1">
                <a:solidFill>
                  <a:srgbClr val="0078D4"/>
                </a:solidFill>
              </a:defRPr>
            </a:pPr>
            <a:r>
              <a:t>🏗️ CIS INFRA SELLS &amp; DELIVERS</a:t>
            </a:r>
          </a:p>
        </p:txBody>
      </p:sp>
      <p:sp>
        <p:nvSpPr>
          <p:cNvPr id="9" name="TextBox 8"/>
          <p:cNvSpPr txBox="1"/>
          <p:nvPr/>
        </p:nvSpPr>
        <p:spPr>
          <a:xfrm>
            <a:off x="914400" y="2103120"/>
            <a:ext cx="3017520" cy="3108960"/>
          </a:xfrm>
          <a:prstGeom prst="rect">
            <a:avLst/>
          </a:prstGeom>
          <a:noFill/>
        </p:spPr>
        <p:txBody>
          <a:bodyPr wrap="square">
            <a:spAutoFit/>
          </a:bodyPr>
          <a:lstStyle/>
          <a:p>
            <a:pPr>
              <a:spcAft>
                <a:spcPts val="600"/>
              </a:spcAft>
              <a:defRPr sz="1100">
                <a:solidFill>
                  <a:srgbClr val="0F172A"/>
                </a:solidFill>
              </a:defRPr>
            </a:pPr>
            <a:r>
              <a:t>• Agent 365 and Foundry Control Plane setup</a:t>
            </a:r>
          </a:p>
          <a:p>
            <a:pPr>
              <a:spcAft>
                <a:spcPts val="600"/>
              </a:spcAft>
              <a:defRPr sz="1100">
                <a:solidFill>
                  <a:srgbClr val="0F172A"/>
                </a:solidFill>
              </a:defRPr>
            </a:pPr>
            <a:r>
              <a:t>• Entra Agent Identity &amp; Conditional Access plumbing</a:t>
            </a:r>
          </a:p>
          <a:p>
            <a:pPr>
              <a:spcAft>
                <a:spcPts val="600"/>
              </a:spcAft>
              <a:defRPr sz="1100">
                <a:solidFill>
                  <a:srgbClr val="0F172A"/>
                </a:solidFill>
              </a:defRPr>
            </a:pPr>
            <a:r>
              <a:t>• Telemetry reconciliation (App Insights + Log Analytics)</a:t>
            </a:r>
          </a:p>
          <a:p>
            <a:pPr>
              <a:spcAft>
                <a:spcPts val="600"/>
              </a:spcAft>
              <a:defRPr sz="1100">
                <a:solidFill>
                  <a:srgbClr val="0F172A"/>
                </a:solidFill>
              </a:defRPr>
            </a:pPr>
            <a:r>
              <a:t>• Durable Functions 4-layer containment orchestrator</a:t>
            </a:r>
          </a:p>
          <a:p>
            <a:pPr>
              <a:spcAft>
                <a:spcPts val="600"/>
              </a:spcAft>
              <a:defRPr sz="1100">
                <a:solidFill>
                  <a:srgbClr val="0F172A"/>
                </a:solidFill>
              </a:defRPr>
            </a:pPr>
            <a:r>
              <a:t>• Azure Monitor workbooks and ownership catalogs</a:t>
            </a:r>
          </a:p>
          <a:p>
            <a:pPr>
              <a:spcAft>
                <a:spcPts val="600"/>
              </a:spcAft>
              <a:defRPr sz="1100">
                <a:solidFill>
                  <a:srgbClr val="0F172A"/>
                </a:solidFill>
              </a:defRPr>
            </a:pPr>
            <a:r>
              <a:t>• Operational containment drills and runbooks</a:t>
            </a:r>
          </a:p>
        </p:txBody>
      </p:sp>
      <p:sp>
        <p:nvSpPr>
          <p:cNvPr id="10" name="Rounded Rectangle 9"/>
          <p:cNvSpPr/>
          <p:nvPr/>
        </p:nvSpPr>
        <p:spPr>
          <a:xfrm>
            <a:off x="4389120" y="1371600"/>
            <a:ext cx="3383280" cy="4023360"/>
          </a:xfrm>
          <a:prstGeom prst="roundRect">
            <a:avLst/>
          </a:prstGeom>
          <a:solidFill>
            <a:srgbClr val="F8FAFC"/>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371600"/>
            <a:ext cx="3383280" cy="73152"/>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600200"/>
            <a:ext cx="3017520" cy="411480"/>
          </a:xfrm>
          <a:prstGeom prst="rect">
            <a:avLst/>
          </a:prstGeom>
          <a:noFill/>
        </p:spPr>
        <p:txBody>
          <a:bodyPr wrap="none">
            <a:spAutoFit/>
          </a:bodyPr>
          <a:lstStyle/>
          <a:p>
            <a:pPr>
              <a:defRPr sz="1100" b="1">
                <a:solidFill>
                  <a:srgbClr val="64748B"/>
                </a:solidFill>
              </a:defRPr>
            </a:pPr>
            <a:r>
              <a:t>🤝 SPECIALIST TOWERS DELIVER</a:t>
            </a:r>
          </a:p>
        </p:txBody>
      </p:sp>
      <p:sp>
        <p:nvSpPr>
          <p:cNvPr id="13" name="TextBox 12"/>
          <p:cNvSpPr txBox="1"/>
          <p:nvPr/>
        </p:nvSpPr>
        <p:spPr>
          <a:xfrm>
            <a:off x="4572000" y="2103120"/>
            <a:ext cx="3017520" cy="3108960"/>
          </a:xfrm>
          <a:prstGeom prst="rect">
            <a:avLst/>
          </a:prstGeom>
          <a:noFill/>
        </p:spPr>
        <p:txBody>
          <a:bodyPr wrap="square">
            <a:spAutoFit/>
          </a:bodyPr>
          <a:lstStyle/>
          <a:p>
            <a:pPr>
              <a:spcAft>
                <a:spcPts val="600"/>
              </a:spcAft>
              <a:defRPr sz="1100">
                <a:solidFill>
                  <a:srgbClr val="0F172A"/>
                </a:solidFill>
              </a:defRPr>
            </a:pPr>
            <a:r>
              <a:t>• AI Tower: Prompt engineering, model evaluation &amp; tuning</a:t>
            </a:r>
          </a:p>
          <a:p>
            <a:pPr>
              <a:spcAft>
                <a:spcPts val="600"/>
              </a:spcAft>
              <a:defRPr sz="1100">
                <a:solidFill>
                  <a:srgbClr val="0F172A"/>
                </a:solidFill>
              </a:defRPr>
            </a:pPr>
            <a:r>
              <a:t>• Security Tower: Corporate threat policy &amp; Sentinel rules</a:t>
            </a:r>
          </a:p>
          <a:p>
            <a:pPr>
              <a:spcAft>
                <a:spcPts val="600"/>
              </a:spcAft>
              <a:defRPr sz="1100">
                <a:solidFill>
                  <a:srgbClr val="0F172A"/>
                </a:solidFill>
              </a:defRPr>
            </a:pPr>
            <a:r>
              <a:t>• Security Tower: Named CISO containment authority sign-off</a:t>
            </a:r>
          </a:p>
          <a:p>
            <a:pPr>
              <a:spcAft>
                <a:spcPts val="600"/>
              </a:spcAft>
              <a:defRPr sz="1100">
                <a:solidFill>
                  <a:srgbClr val="0F172A"/>
                </a:solidFill>
              </a:defRPr>
            </a:pPr>
            <a:r>
              <a:t>• Power Platform Team: Copilot Studio tenant admin</a:t>
            </a:r>
          </a:p>
          <a:p>
            <a:pPr>
              <a:spcAft>
                <a:spcPts val="600"/>
              </a:spcAft>
              <a:defRPr sz="1100">
                <a:solidFill>
                  <a:srgbClr val="0F172A"/>
                </a:solidFill>
              </a:defRPr>
            </a:pPr>
            <a:r>
              <a:t>• DevOps Tower: Application build and CI/CD deployment pipelines</a:t>
            </a:r>
          </a:p>
          <a:p>
            <a:pPr>
              <a:spcAft>
                <a:spcPts val="600"/>
              </a:spcAft>
              <a:defRPr sz="1100">
                <a:solidFill>
                  <a:srgbClr val="0F172A"/>
                </a:solidFill>
              </a:defRPr>
            </a:pPr>
            <a:r>
              <a:t>• Data Tower: Vector indexing &amp; grounding storage schemas</a:t>
            </a:r>
          </a:p>
        </p:txBody>
      </p:sp>
      <p:sp>
        <p:nvSpPr>
          <p:cNvPr id="14" name="Rounded Rectangle 13"/>
          <p:cNvSpPr/>
          <p:nvPr/>
        </p:nvSpPr>
        <p:spPr>
          <a:xfrm>
            <a:off x="8046720" y="1371600"/>
            <a:ext cx="3383280" cy="402336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371600"/>
            <a:ext cx="33832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600200"/>
            <a:ext cx="3017520" cy="411480"/>
          </a:xfrm>
          <a:prstGeom prst="rect">
            <a:avLst/>
          </a:prstGeom>
          <a:noFill/>
        </p:spPr>
        <p:txBody>
          <a:bodyPr wrap="none">
            <a:spAutoFit/>
          </a:bodyPr>
          <a:lstStyle/>
          <a:p>
            <a:pPr>
              <a:defRPr sz="1100" b="1">
                <a:solidFill>
                  <a:srgbClr val="0A192F"/>
                </a:solidFill>
              </a:defRPr>
            </a:pPr>
            <a:r>
              <a:t>🏢 CUSTOMER OWNS &amp; DECIDES</a:t>
            </a:r>
          </a:p>
        </p:txBody>
      </p:sp>
      <p:sp>
        <p:nvSpPr>
          <p:cNvPr id="17" name="TextBox 16"/>
          <p:cNvSpPr txBox="1"/>
          <p:nvPr/>
        </p:nvSpPr>
        <p:spPr>
          <a:xfrm>
            <a:off x="8229600" y="2103120"/>
            <a:ext cx="3017520" cy="3108960"/>
          </a:xfrm>
          <a:prstGeom prst="rect">
            <a:avLst/>
          </a:prstGeom>
          <a:noFill/>
        </p:spPr>
        <p:txBody>
          <a:bodyPr wrap="square">
            <a:spAutoFit/>
          </a:bodyPr>
          <a:lstStyle/>
          <a:p>
            <a:pPr>
              <a:spcAft>
                <a:spcPts val="600"/>
              </a:spcAft>
              <a:defRPr sz="1100">
                <a:solidFill>
                  <a:srgbClr val="0F172A"/>
                </a:solidFill>
              </a:defRPr>
            </a:pPr>
            <a:r>
              <a:t>• Agent business logic, autonomy boundaries, and prompts</a:t>
            </a:r>
          </a:p>
          <a:p>
            <a:pPr>
              <a:spcAft>
                <a:spcPts val="600"/>
              </a:spcAft>
              <a:defRPr sz="1100">
                <a:solidFill>
                  <a:srgbClr val="0F172A"/>
                </a:solidFill>
              </a:defRPr>
            </a:pPr>
            <a:r>
              <a:t>• Tool API implementation code and backend access keys</a:t>
            </a:r>
          </a:p>
          <a:p>
            <a:pPr>
              <a:spcAft>
                <a:spcPts val="600"/>
              </a:spcAft>
              <a:defRPr sz="1100">
                <a:solidFill>
                  <a:srgbClr val="0F172A"/>
                </a:solidFill>
              </a:defRPr>
            </a:pPr>
            <a:r>
              <a:t>• Named Business Owner and Technical Owner designation</a:t>
            </a:r>
          </a:p>
          <a:p>
            <a:pPr>
              <a:spcAft>
                <a:spcPts val="600"/>
              </a:spcAft>
              <a:defRPr sz="1100">
                <a:solidFill>
                  <a:srgbClr val="0F172A"/>
                </a:solidFill>
              </a:defRPr>
            </a:pPr>
            <a:r>
              <a:t>• Risk tier assignment and regulatory compliance sign-off</a:t>
            </a:r>
          </a:p>
          <a:p>
            <a:pPr>
              <a:spcAft>
                <a:spcPts val="600"/>
              </a:spcAft>
              <a:defRPr sz="1100">
                <a:solidFill>
                  <a:srgbClr val="0F172A"/>
                </a:solidFill>
              </a:defRPr>
            </a:pPr>
            <a:r>
              <a:t>• Microsoft 365, Copilot Studio, and Azure cloud licenses</a:t>
            </a:r>
          </a:p>
          <a:p>
            <a:pPr>
              <a:spcAft>
                <a:spcPts val="600"/>
              </a:spcAft>
              <a:defRPr sz="1100">
                <a:solidFill>
                  <a:srgbClr val="0F172A"/>
                </a:solidFill>
              </a:defRPr>
            </a:pPr>
            <a:r>
              <a:t>• Final business approval for agent de-provisioning</a:t>
            </a:r>
          </a:p>
        </p:txBody>
      </p:sp>
      <p:sp>
        <p:nvSpPr>
          <p:cNvPr id="18" name="Rounded Rectangle 17"/>
          <p:cNvSpPr/>
          <p:nvPr/>
        </p:nvSpPr>
        <p:spPr>
          <a:xfrm>
            <a:off x="731520" y="5532120"/>
            <a:ext cx="10698480" cy="685800"/>
          </a:xfrm>
          <a:prstGeom prst="roundRect">
            <a:avLst/>
          </a:prstGeom>
          <a:solidFill>
            <a:srgbClr val="FEF2F2"/>
          </a:solidFill>
          <a:ln w="1270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623560"/>
            <a:ext cx="10332720" cy="502920"/>
          </a:xfrm>
          <a:prstGeom prst="rect">
            <a:avLst/>
          </a:prstGeom>
          <a:noFill/>
        </p:spPr>
        <p:txBody>
          <a:bodyPr wrap="square">
            <a:spAutoFit/>
          </a:bodyPr>
          <a:lstStyle/>
          <a:p>
            <a:r>
              <a:rPr b="1" sz="1100">
                <a:solidFill>
                  <a:srgbClr val="D83B01"/>
                </a:solidFill>
              </a:rPr>
              <a:t>GOVERNANCE BOUNDARY: </a:t>
            </a:r>
            <a:r>
              <a:rPr sz="1100">
                <a:solidFill>
                  <a:srgbClr val="0A192F"/>
                </a:solidFill>
              </a:rPr>
              <a:t>Agents outside supported runtimes and lacking telemetry remain unmonitored until onboarded through the CIS Infra discovery workbook.</a:t>
            </a:r>
          </a:p>
        </p:txBody>
      </p:sp>
      <p:sp>
        <p:nvSpPr>
          <p:cNvPr id="20" name="TextBox 19"/>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Agent Governance and Operations · Working proposal for senior leadership review · Slide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6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REFERENCE ARCHITECTURE</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06</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Native controls first; custom build strictly for documented gaps</a:t>
            </a:r>
          </a:p>
        </p:txBody>
      </p:sp>
      <p:sp>
        <p:nvSpPr>
          <p:cNvPr id="6" name="Rounded Rectangle 5"/>
          <p:cNvSpPr/>
          <p:nvPr/>
        </p:nvSpPr>
        <p:spPr>
          <a:xfrm>
            <a:off x="731520" y="1325880"/>
            <a:ext cx="10698480" cy="13716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25880"/>
            <a:ext cx="91440" cy="13716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417320"/>
            <a:ext cx="10058400" cy="274320"/>
          </a:xfrm>
          <a:prstGeom prst="rect">
            <a:avLst/>
          </a:prstGeom>
          <a:noFill/>
        </p:spPr>
        <p:txBody>
          <a:bodyPr wrap="none">
            <a:spAutoFit/>
          </a:bodyPr>
          <a:lstStyle/>
          <a:p>
            <a:pPr>
              <a:defRPr sz="1000" b="1">
                <a:solidFill>
                  <a:srgbClr val="D97706"/>
                </a:solidFill>
              </a:defRPr>
            </a:pPr>
            <a:r>
              <a:t>LAYER 3: CIS INFRA CUSTOM GAP LAYER (BUILD ONLY WHEN MISSING)</a:t>
            </a:r>
          </a:p>
        </p:txBody>
      </p:sp>
      <p:sp>
        <p:nvSpPr>
          <p:cNvPr id="9" name="Rounded Rectangle 8"/>
          <p:cNvSpPr/>
          <p:nvPr/>
        </p:nvSpPr>
        <p:spPr>
          <a:xfrm>
            <a:off x="1005840" y="1737360"/>
            <a:ext cx="2423160" cy="822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Reconciliation Engine</a:t>
            </a:r>
          </a:p>
          <a:p>
            <a:pPr>
              <a:defRPr sz="850">
                <a:solidFill>
                  <a:srgbClr val="0F172A"/>
                </a:solidFill>
              </a:defRPr>
            </a:pPr>
            <a:r>
              <a:t>Joins native inventory to active gateway token logs</a:t>
            </a:r>
          </a:p>
        </p:txBody>
      </p:sp>
      <p:sp>
        <p:nvSpPr>
          <p:cNvPr id="10" name="Rounded Rectangle 9"/>
          <p:cNvSpPr/>
          <p:nvPr/>
        </p:nvSpPr>
        <p:spPr>
          <a:xfrm>
            <a:off x="3566160" y="1737360"/>
            <a:ext cx="2423160" cy="822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Usage Catalog</a:t>
            </a:r>
          </a:p>
          <a:p>
            <a:pPr>
              <a:defRPr sz="850">
                <a:solidFill>
                  <a:srgbClr val="0F172A"/>
                </a:solidFill>
              </a:defRPr>
            </a:pPr>
            <a:r>
              <a:t>Tracks owner, risk class, and lifecycle state</a:t>
            </a:r>
          </a:p>
        </p:txBody>
      </p:sp>
      <p:sp>
        <p:nvSpPr>
          <p:cNvPr id="11" name="Rounded Rectangle 10"/>
          <p:cNvSpPr/>
          <p:nvPr/>
        </p:nvSpPr>
        <p:spPr>
          <a:xfrm>
            <a:off x="6126480" y="1737360"/>
            <a:ext cx="2423160" cy="822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Monitor Workbooks</a:t>
            </a:r>
          </a:p>
          <a:p>
            <a:pPr>
              <a:defRPr sz="850">
                <a:solidFill>
                  <a:srgbClr val="0F172A"/>
                </a:solidFill>
              </a:defRPr>
            </a:pPr>
            <a:r>
              <a:t>Executive visibility into dormant/orphaned agents</a:t>
            </a:r>
          </a:p>
        </p:txBody>
      </p:sp>
      <p:sp>
        <p:nvSpPr>
          <p:cNvPr id="12" name="Rounded Rectangle 11"/>
          <p:cNvSpPr/>
          <p:nvPr/>
        </p:nvSpPr>
        <p:spPr>
          <a:xfrm>
            <a:off x="8686799" y="1737360"/>
            <a:ext cx="2423160" cy="822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Containment Orchestrator</a:t>
            </a:r>
          </a:p>
          <a:p>
            <a:pPr>
              <a:defRPr sz="850">
                <a:solidFill>
                  <a:srgbClr val="0F172A"/>
                </a:solidFill>
              </a:defRPr>
            </a:pPr>
            <a:r>
              <a:t>Durable Functions executing 4-layer emergency stop</a:t>
            </a:r>
          </a:p>
        </p:txBody>
      </p:sp>
      <p:sp>
        <p:nvSpPr>
          <p:cNvPr id="13" name="Rounded Rectangle 12"/>
          <p:cNvSpPr/>
          <p:nvPr/>
        </p:nvSpPr>
        <p:spPr>
          <a:xfrm>
            <a:off x="731520" y="2834640"/>
            <a:ext cx="10698480" cy="137160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834640"/>
            <a:ext cx="91440" cy="13716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2926080"/>
            <a:ext cx="10058400" cy="274320"/>
          </a:xfrm>
          <a:prstGeom prst="rect">
            <a:avLst/>
          </a:prstGeom>
          <a:noFill/>
        </p:spPr>
        <p:txBody>
          <a:bodyPr wrap="none">
            <a:spAutoFit/>
          </a:bodyPr>
          <a:lstStyle/>
          <a:p>
            <a:pPr>
              <a:defRPr sz="1000" b="1">
                <a:solidFill>
                  <a:srgbClr val="0078D4"/>
                </a:solidFill>
              </a:defRPr>
            </a:pPr>
            <a:r>
              <a:t>LAYER 2: RUNTIME EVIDENCE (NATIVE AZURE TELEMETRY)</a:t>
            </a:r>
          </a:p>
        </p:txBody>
      </p:sp>
      <p:sp>
        <p:nvSpPr>
          <p:cNvPr id="16" name="Rounded Rectangle 15"/>
          <p:cNvSpPr/>
          <p:nvPr/>
        </p:nvSpPr>
        <p:spPr>
          <a:xfrm>
            <a:off x="1005840" y="3246120"/>
            <a:ext cx="2423160" cy="822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Application Insights</a:t>
            </a:r>
          </a:p>
          <a:p>
            <a:pPr>
              <a:defRPr sz="850">
                <a:solidFill>
                  <a:srgbClr val="0F172A"/>
                </a:solidFill>
              </a:defRPr>
            </a:pPr>
            <a:r>
              <a:t>Agent loop runs, execution traces, and token metrics</a:t>
            </a:r>
          </a:p>
        </p:txBody>
      </p:sp>
      <p:sp>
        <p:nvSpPr>
          <p:cNvPr id="17" name="Rounded Rectangle 16"/>
          <p:cNvSpPr/>
          <p:nvPr/>
        </p:nvSpPr>
        <p:spPr>
          <a:xfrm>
            <a:off x="3566160" y="3246120"/>
            <a:ext cx="2423160" cy="822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Log Analytics</a:t>
            </a:r>
          </a:p>
          <a:p>
            <a:pPr>
              <a:defRPr sz="850">
                <a:solidFill>
                  <a:srgbClr val="0F172A"/>
                </a:solidFill>
              </a:defRPr>
            </a:pPr>
            <a:r>
              <a:t>Centralized APIM gateway and VNet firewall logs</a:t>
            </a:r>
          </a:p>
        </p:txBody>
      </p:sp>
      <p:sp>
        <p:nvSpPr>
          <p:cNvPr id="18" name="Rounded Rectangle 17"/>
          <p:cNvSpPr/>
          <p:nvPr/>
        </p:nvSpPr>
        <p:spPr>
          <a:xfrm>
            <a:off x="6126480" y="3246120"/>
            <a:ext cx="2423160" cy="822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Resource Graph</a:t>
            </a:r>
          </a:p>
          <a:p>
            <a:pPr>
              <a:defRPr sz="850">
                <a:solidFill>
                  <a:srgbClr val="0F172A"/>
                </a:solidFill>
              </a:defRPr>
            </a:pPr>
            <a:r>
              <a:t>Automated discovery of hosting resources and tags</a:t>
            </a:r>
          </a:p>
        </p:txBody>
      </p:sp>
      <p:sp>
        <p:nvSpPr>
          <p:cNvPr id="19" name="Rounded Rectangle 18"/>
          <p:cNvSpPr/>
          <p:nvPr/>
        </p:nvSpPr>
        <p:spPr>
          <a:xfrm>
            <a:off x="8686799" y="3246120"/>
            <a:ext cx="2423160" cy="822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Deployment Pipelines</a:t>
            </a:r>
          </a:p>
          <a:p>
            <a:pPr>
              <a:defRPr sz="850">
                <a:solidFill>
                  <a:srgbClr val="0F172A"/>
                </a:solidFill>
              </a:defRPr>
            </a:pPr>
            <a:r>
              <a:t>CI/CD release metadata, commit hashes, and author</a:t>
            </a:r>
          </a:p>
        </p:txBody>
      </p:sp>
      <p:sp>
        <p:nvSpPr>
          <p:cNvPr id="20" name="Rounded Rectangle 19"/>
          <p:cNvSpPr/>
          <p:nvPr/>
        </p:nvSpPr>
        <p:spPr>
          <a:xfrm>
            <a:off x="731520" y="4343400"/>
            <a:ext cx="10698480" cy="137160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343400"/>
            <a:ext cx="91440" cy="1371600"/>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434840"/>
            <a:ext cx="10058400" cy="274320"/>
          </a:xfrm>
          <a:prstGeom prst="rect">
            <a:avLst/>
          </a:prstGeom>
          <a:noFill/>
        </p:spPr>
        <p:txBody>
          <a:bodyPr wrap="none">
            <a:spAutoFit/>
          </a:bodyPr>
          <a:lstStyle/>
          <a:p>
            <a:pPr>
              <a:defRPr sz="1000" b="1">
                <a:solidFill>
                  <a:srgbClr val="00A389"/>
                </a:solidFill>
              </a:defRPr>
            </a:pPr>
            <a:r>
              <a:t>LAYER 1: MICROSOFT CONTROL PLANE (CONFIGURE FIRST)</a:t>
            </a:r>
          </a:p>
        </p:txBody>
      </p:sp>
      <p:sp>
        <p:nvSpPr>
          <p:cNvPr id="23" name="Rounded Rectangle 22"/>
          <p:cNvSpPr/>
          <p:nvPr/>
        </p:nvSpPr>
        <p:spPr>
          <a:xfrm>
            <a:off x="1005840" y="4754880"/>
            <a:ext cx="2423160" cy="822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Agent 365</a:t>
            </a:r>
          </a:p>
          <a:p>
            <a:pPr>
              <a:defRPr sz="850">
                <a:solidFill>
                  <a:srgbClr val="0F172A"/>
                </a:solidFill>
              </a:defRPr>
            </a:pPr>
            <a:r>
              <a:t>Unified native registry and cross-runtime policy</a:t>
            </a:r>
          </a:p>
        </p:txBody>
      </p:sp>
      <p:sp>
        <p:nvSpPr>
          <p:cNvPr id="24" name="Rounded Rectangle 23"/>
          <p:cNvSpPr/>
          <p:nvPr/>
        </p:nvSpPr>
        <p:spPr>
          <a:xfrm>
            <a:off x="3566160" y="4754880"/>
            <a:ext cx="2423160" cy="822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Foundry Control Plane</a:t>
            </a:r>
          </a:p>
          <a:p>
            <a:pPr>
              <a:defRPr sz="850">
                <a:solidFill>
                  <a:srgbClr val="0F172A"/>
                </a:solidFill>
              </a:defRPr>
            </a:pPr>
            <a:r>
              <a:t>Native agent runtime controls and model endpoints</a:t>
            </a:r>
          </a:p>
        </p:txBody>
      </p:sp>
      <p:sp>
        <p:nvSpPr>
          <p:cNvPr id="25" name="Rounded Rectangle 24"/>
          <p:cNvSpPr/>
          <p:nvPr/>
        </p:nvSpPr>
        <p:spPr>
          <a:xfrm>
            <a:off x="6126480" y="4754880"/>
            <a:ext cx="2423160" cy="822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Entra Agent ID</a:t>
            </a:r>
          </a:p>
          <a:p>
            <a:pPr>
              <a:defRPr sz="850">
                <a:solidFill>
                  <a:srgbClr val="0F172A"/>
                </a:solidFill>
              </a:defRPr>
            </a:pPr>
            <a:r>
              <a:t>Workload identities and Conditional Access policies</a:t>
            </a:r>
          </a:p>
        </p:txBody>
      </p:sp>
      <p:sp>
        <p:nvSpPr>
          <p:cNvPr id="26" name="Rounded Rectangle 25"/>
          <p:cNvSpPr/>
          <p:nvPr/>
        </p:nvSpPr>
        <p:spPr>
          <a:xfrm>
            <a:off x="8686799" y="4754880"/>
            <a:ext cx="2423160" cy="82296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A192F"/>
                </a:solidFill>
              </a:defRPr>
            </a:pPr>
            <a:r>
              <a:t>Defender &amp; Purview</a:t>
            </a:r>
          </a:p>
          <a:p>
            <a:pPr>
              <a:defRPr sz="850">
                <a:solidFill>
                  <a:srgbClr val="0F172A"/>
                </a:solidFill>
              </a:defRPr>
            </a:pPr>
            <a:r>
              <a:t>Threat protection, DLP rules, and sensitivity labels</a:t>
            </a:r>
          </a:p>
        </p:txBody>
      </p:sp>
      <p:sp>
        <p:nvSpPr>
          <p:cNvPr id="27" name="Rounded Rectangle 26"/>
          <p:cNvSpPr/>
          <p:nvPr/>
        </p:nvSpPr>
        <p:spPr>
          <a:xfrm>
            <a:off x="731520" y="5852160"/>
            <a:ext cx="10698480" cy="411480"/>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RUNTIMES COVERED: Copilot Studio · Foundry Agents · Container Apps · AKS · Multi-Cloud via Azure Arc</a:t>
            </a:r>
          </a:p>
        </p:txBody>
      </p:sp>
      <p:sp>
        <p:nvSpPr>
          <p:cNvPr id="28" name="TextBox 27"/>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Agent Governance and Operations · Working proposal for senior leadership review · Slide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7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CONFIGURE FIRST VS BUILD</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07</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Agent 365 handles discovery; custom tools fill estate gaps</a:t>
            </a:r>
          </a:p>
        </p:txBody>
      </p:sp>
      <p:sp>
        <p:nvSpPr>
          <p:cNvPr id="6" name="Rounded Rectangle 5"/>
          <p:cNvSpPr/>
          <p:nvPr/>
        </p:nvSpPr>
        <p:spPr>
          <a:xfrm>
            <a:off x="731520" y="1371600"/>
            <a:ext cx="5120640" cy="402336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512064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00200"/>
            <a:ext cx="4572000" cy="411480"/>
          </a:xfrm>
          <a:prstGeom prst="rect">
            <a:avLst/>
          </a:prstGeom>
          <a:noFill/>
        </p:spPr>
        <p:txBody>
          <a:bodyPr wrap="none">
            <a:spAutoFit/>
          </a:bodyPr>
          <a:lstStyle/>
          <a:p>
            <a:pPr>
              <a:defRPr sz="1400" b="1">
                <a:solidFill>
                  <a:srgbClr val="0A192F"/>
                </a:solidFill>
              </a:defRPr>
            </a:pPr>
            <a:r>
              <a:t>⚙️ CONFIGURE: Native Microsoft Platform</a:t>
            </a:r>
          </a:p>
        </p:txBody>
      </p:sp>
      <p:sp>
        <p:nvSpPr>
          <p:cNvPr id="9" name="TextBox 8"/>
          <p:cNvSpPr txBox="1"/>
          <p:nvPr/>
        </p:nvSpPr>
        <p:spPr>
          <a:xfrm>
            <a:off x="1005840" y="2057400"/>
            <a:ext cx="4572000" cy="320040"/>
          </a:xfrm>
          <a:prstGeom prst="rect">
            <a:avLst/>
          </a:prstGeom>
          <a:noFill/>
        </p:spPr>
        <p:txBody>
          <a:bodyPr wrap="none">
            <a:spAutoFit/>
          </a:bodyPr>
          <a:lstStyle/>
          <a:p>
            <a:pPr>
              <a:defRPr sz="1100">
                <a:solidFill>
                  <a:srgbClr val="64748B"/>
                </a:solidFill>
              </a:defRPr>
            </a:pPr>
            <a:r>
              <a:t>Leverage out-of-the-box Microsoft enterprise capabilities before engineering custom code:</a:t>
            </a:r>
          </a:p>
        </p:txBody>
      </p:sp>
      <p:sp>
        <p:nvSpPr>
          <p:cNvPr id="10" name="TextBox 9"/>
          <p:cNvSpPr txBox="1"/>
          <p:nvPr/>
        </p:nvSpPr>
        <p:spPr>
          <a:xfrm>
            <a:off x="1005840" y="2423160"/>
            <a:ext cx="4572000" cy="2103120"/>
          </a:xfrm>
          <a:prstGeom prst="rect">
            <a:avLst/>
          </a:prstGeom>
          <a:noFill/>
        </p:spPr>
        <p:txBody>
          <a:bodyPr wrap="square">
            <a:spAutoFit/>
          </a:bodyPr>
          <a:lstStyle/>
          <a:p>
            <a:pPr>
              <a:spcAft>
                <a:spcPts val="600"/>
              </a:spcAft>
              <a:defRPr sz="1100">
                <a:solidFill>
                  <a:srgbClr val="0F172A"/>
                </a:solidFill>
              </a:defRPr>
            </a:pPr>
            <a:r>
              <a:t>• Agent 365: Central catalog spanning Microsoft, Copilot Studio, Foundry, and partner agents.</a:t>
            </a:r>
          </a:p>
          <a:p>
            <a:pPr>
              <a:spcAft>
                <a:spcPts val="600"/>
              </a:spcAft>
              <a:defRPr sz="1100">
                <a:solidFill>
                  <a:srgbClr val="0F172A"/>
                </a:solidFill>
              </a:defRPr>
            </a:pPr>
            <a:r>
              <a:t>• Foundry Control Plane: Native agent execution logs, error traces, and model token usage.</a:t>
            </a:r>
          </a:p>
          <a:p>
            <a:pPr>
              <a:spcAft>
                <a:spcPts val="600"/>
              </a:spcAft>
              <a:defRPr sz="1100">
                <a:solidFill>
                  <a:srgbClr val="0F172A"/>
                </a:solidFill>
              </a:defRPr>
            </a:pPr>
            <a:r>
              <a:t>• Entra Agent ID: Workload identities, role assignments, and Conditional Access boundaries.</a:t>
            </a:r>
          </a:p>
          <a:p>
            <a:pPr>
              <a:spcAft>
                <a:spcPts val="600"/>
              </a:spcAft>
              <a:defRPr sz="1100">
                <a:solidFill>
                  <a:srgbClr val="0F172A"/>
                </a:solidFill>
              </a:defRPr>
            </a:pPr>
            <a:r>
              <a:t>• Defender for Cloud: Native threat detection and anomalous behavioral alerts.</a:t>
            </a:r>
          </a:p>
        </p:txBody>
      </p:sp>
      <p:sp>
        <p:nvSpPr>
          <p:cNvPr id="11" name="Rounded Rectangle 10"/>
          <p:cNvSpPr/>
          <p:nvPr/>
        </p:nvSpPr>
        <p:spPr>
          <a:xfrm>
            <a:off x="1005840" y="4709160"/>
            <a:ext cx="4572000" cy="5029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00A389"/>
                </a:solidFill>
              </a:rPr>
              <a:t>PREREQUISITE: </a:t>
            </a:r>
            <a:r>
              <a:rPr sz="1000">
                <a:solidFill>
                  <a:srgbClr val="0A192F"/>
                </a:solidFill>
              </a:rPr>
              <a:t>Agent 365 ($15/user/month or M365 E7 suite)</a:t>
            </a:r>
          </a:p>
        </p:txBody>
      </p:sp>
      <p:sp>
        <p:nvSpPr>
          <p:cNvPr id="12" name="Rounded Rectangle 11"/>
          <p:cNvSpPr/>
          <p:nvPr/>
        </p:nvSpPr>
        <p:spPr>
          <a:xfrm>
            <a:off x="6309360" y="1371600"/>
            <a:ext cx="5120640" cy="40233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371600"/>
            <a:ext cx="51206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1600200"/>
            <a:ext cx="4572000" cy="411480"/>
          </a:xfrm>
          <a:prstGeom prst="rect">
            <a:avLst/>
          </a:prstGeom>
          <a:noFill/>
        </p:spPr>
        <p:txBody>
          <a:bodyPr wrap="none">
            <a:spAutoFit/>
          </a:bodyPr>
          <a:lstStyle/>
          <a:p>
            <a:pPr>
              <a:defRPr sz="1400" b="1">
                <a:solidFill>
                  <a:srgbClr val="0A192F"/>
                </a:solidFill>
              </a:defRPr>
            </a:pPr>
            <a:r>
              <a:t>🛠️ BUILD: CIS Infra Custom Gap Additions</a:t>
            </a:r>
          </a:p>
        </p:txBody>
      </p:sp>
      <p:sp>
        <p:nvSpPr>
          <p:cNvPr id="15" name="TextBox 14"/>
          <p:cNvSpPr txBox="1"/>
          <p:nvPr/>
        </p:nvSpPr>
        <p:spPr>
          <a:xfrm>
            <a:off x="6583680" y="2057400"/>
            <a:ext cx="4572000" cy="320040"/>
          </a:xfrm>
          <a:prstGeom prst="rect">
            <a:avLst/>
          </a:prstGeom>
          <a:noFill/>
        </p:spPr>
        <p:txBody>
          <a:bodyPr wrap="none">
            <a:spAutoFit/>
          </a:bodyPr>
          <a:lstStyle/>
          <a:p>
            <a:pPr>
              <a:defRPr sz="1100">
                <a:solidFill>
                  <a:srgbClr val="64748B"/>
                </a:solidFill>
              </a:defRPr>
            </a:pPr>
            <a:r>
              <a:t>Engineered strictly where Microsoft native tooling has documented limitations:</a:t>
            </a:r>
          </a:p>
        </p:txBody>
      </p:sp>
      <p:sp>
        <p:nvSpPr>
          <p:cNvPr id="16" name="TextBox 15"/>
          <p:cNvSpPr txBox="1"/>
          <p:nvPr/>
        </p:nvSpPr>
        <p:spPr>
          <a:xfrm>
            <a:off x="6583680" y="2423160"/>
            <a:ext cx="4572000" cy="2103120"/>
          </a:xfrm>
          <a:prstGeom prst="rect">
            <a:avLst/>
          </a:prstGeom>
          <a:noFill/>
        </p:spPr>
        <p:txBody>
          <a:bodyPr wrap="square">
            <a:spAutoFit/>
          </a:bodyPr>
          <a:lstStyle/>
          <a:p>
            <a:pPr>
              <a:spcAft>
                <a:spcPts val="600"/>
              </a:spcAft>
              <a:defRPr sz="1100">
                <a:solidFill>
                  <a:srgbClr val="0F172A"/>
                </a:solidFill>
              </a:defRPr>
            </a:pPr>
            <a:r>
              <a:t>• Cross-Runtime Reconciliation: Joins deployment inventory to active gateway token logs.</a:t>
            </a:r>
          </a:p>
          <a:p>
            <a:pPr>
              <a:spcAft>
                <a:spcPts val="600"/>
              </a:spcAft>
              <a:defRPr sz="1100">
                <a:solidFill>
                  <a:srgbClr val="0F172A"/>
                </a:solidFill>
              </a:defRPr>
            </a:pPr>
            <a:r>
              <a:t>• Dormant &amp; Orphaned Reviews: Automated workflows identifying abandoned agents without owners.</a:t>
            </a:r>
          </a:p>
          <a:p>
            <a:pPr>
              <a:spcAft>
                <a:spcPts val="600"/>
              </a:spcAft>
              <a:defRPr sz="1100">
                <a:solidFill>
                  <a:srgbClr val="0F172A"/>
                </a:solidFill>
              </a:defRPr>
            </a:pPr>
            <a:r>
              <a:t>• 4-Layer Containment Orchestrator: Unified API drop, container pause, tool revoke, and identity block.</a:t>
            </a:r>
          </a:p>
          <a:p>
            <a:pPr>
              <a:spcAft>
                <a:spcPts val="600"/>
              </a:spcAft>
              <a:defRPr sz="1100">
                <a:solidFill>
                  <a:srgbClr val="0F172A"/>
                </a:solidFill>
              </a:defRPr>
            </a:pPr>
            <a:r>
              <a:t>• Custom Audit Workbooks: Tailored reporting formatted directly for CISO risk registers.</a:t>
            </a:r>
          </a:p>
        </p:txBody>
      </p:sp>
      <p:sp>
        <p:nvSpPr>
          <p:cNvPr id="17" name="Rounded Rectangle 16"/>
          <p:cNvSpPr/>
          <p:nvPr/>
        </p:nvSpPr>
        <p:spPr>
          <a:xfrm>
            <a:off x="6583680" y="4709160"/>
            <a:ext cx="4572000" cy="5029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000">
                <a:solidFill>
                  <a:srgbClr val="0078D4"/>
                </a:solidFill>
              </a:rPr>
              <a:t>CIS INFRA VALUE: </a:t>
            </a:r>
            <a:r>
              <a:rPr sz="1000">
                <a:solidFill>
                  <a:srgbClr val="0A192F"/>
                </a:solidFill>
              </a:rPr>
              <a:t>Unified multi-runtime visibility and emergency stop</a:t>
            </a:r>
          </a:p>
        </p:txBody>
      </p:sp>
      <p:sp>
        <p:nvSpPr>
          <p:cNvPr id="18" name="Rounded Rectangle 17"/>
          <p:cNvSpPr/>
          <p:nvPr/>
        </p:nvSpPr>
        <p:spPr>
          <a:xfrm>
            <a:off x="731520" y="5532120"/>
            <a:ext cx="10698480" cy="68580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623560"/>
            <a:ext cx="10332720" cy="502920"/>
          </a:xfrm>
          <a:prstGeom prst="rect">
            <a:avLst/>
          </a:prstGeom>
          <a:noFill/>
        </p:spPr>
        <p:txBody>
          <a:bodyPr wrap="square">
            <a:spAutoFit/>
          </a:bodyPr>
          <a:lstStyle/>
          <a:p>
            <a:r>
              <a:rPr b="1" sz="1100">
                <a:solidFill>
                  <a:srgbClr val="0078D4"/>
                </a:solidFill>
              </a:rPr>
              <a:t>STRATEGIC PRINCIPLE: </a:t>
            </a:r>
            <a:r>
              <a:rPr sz="1100">
                <a:solidFill>
                  <a:srgbClr val="0A192F"/>
                </a:solidFill>
              </a:rPr>
              <a:t>Always validate existing Microsoft 365 licensing in the initial assessment to avoid building expensive custom tools where native features already exist.</a:t>
            </a:r>
          </a:p>
        </p:txBody>
      </p:sp>
      <p:sp>
        <p:nvSpPr>
          <p:cNvPr id="20" name="TextBox 19"/>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Agent Governance and Operations · Working proposal for senior leadership review · Slide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8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DELIVERY PACKAGES &amp; SIZING</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08</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Five packages from inventory assessment to kill-switch PoC</a:t>
            </a:r>
          </a:p>
        </p:txBody>
      </p:sp>
      <p:sp>
        <p:nvSpPr>
          <p:cNvPr id="6" name="Rounded Rectangle 5"/>
          <p:cNvSpPr/>
          <p:nvPr/>
        </p:nvSpPr>
        <p:spPr>
          <a:xfrm>
            <a:off x="731520" y="1371600"/>
            <a:ext cx="2057400" cy="402336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05740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0200"/>
            <a:ext cx="1783080" cy="548640"/>
          </a:xfrm>
          <a:prstGeom prst="rect">
            <a:avLst/>
          </a:prstGeom>
          <a:noFill/>
        </p:spPr>
        <p:txBody>
          <a:bodyPr wrap="square">
            <a:spAutoFit/>
          </a:bodyPr>
          <a:lstStyle/>
          <a:p>
            <a:pPr>
              <a:defRPr sz="1200" b="1">
                <a:solidFill>
                  <a:srgbClr val="0A192F"/>
                </a:solidFill>
              </a:defRPr>
            </a:pPr>
            <a:r>
              <a:t>1. Inventory Assessment</a:t>
            </a:r>
          </a:p>
        </p:txBody>
      </p:sp>
      <p:sp>
        <p:nvSpPr>
          <p:cNvPr id="9" name="TextBox 8"/>
          <p:cNvSpPr txBox="1"/>
          <p:nvPr/>
        </p:nvSpPr>
        <p:spPr>
          <a:xfrm>
            <a:off x="868680" y="2240280"/>
            <a:ext cx="1783080" cy="274320"/>
          </a:xfrm>
          <a:prstGeom prst="rect">
            <a:avLst/>
          </a:prstGeom>
          <a:noFill/>
        </p:spPr>
        <p:txBody>
          <a:bodyPr wrap="none">
            <a:spAutoFit/>
          </a:bodyPr>
          <a:lstStyle/>
          <a:p>
            <a:pPr>
              <a:defRPr sz="1100" b="1">
                <a:solidFill>
                  <a:srgbClr val="0A192F"/>
                </a:solidFill>
              </a:defRPr>
            </a:pPr>
            <a:r>
              <a:t>3-4 WEEKS</a:t>
            </a:r>
          </a:p>
        </p:txBody>
      </p:sp>
      <p:sp>
        <p:nvSpPr>
          <p:cNvPr id="10" name="TextBox 9"/>
          <p:cNvSpPr txBox="1"/>
          <p:nvPr/>
        </p:nvSpPr>
        <p:spPr>
          <a:xfrm>
            <a:off x="868680" y="2560320"/>
            <a:ext cx="1783080" cy="320040"/>
          </a:xfrm>
          <a:prstGeom prst="rect">
            <a:avLst/>
          </a:prstGeom>
          <a:noFill/>
        </p:spPr>
        <p:txBody>
          <a:bodyPr wrap="none">
            <a:spAutoFit/>
          </a:bodyPr>
          <a:lstStyle/>
          <a:p>
            <a:pPr>
              <a:defRPr sz="1500" b="1">
                <a:solidFill>
                  <a:srgbClr val="0A192F"/>
                </a:solidFill>
              </a:defRPr>
            </a:pPr>
            <a:r>
              <a:t>25-35 Days</a:t>
            </a:r>
          </a:p>
        </p:txBody>
      </p:sp>
      <p:sp>
        <p:nvSpPr>
          <p:cNvPr id="11" name="TextBox 10"/>
          <p:cNvSpPr txBox="1"/>
          <p:nvPr/>
        </p:nvSpPr>
        <p:spPr>
          <a:xfrm>
            <a:off x="868680" y="2926080"/>
            <a:ext cx="1783080" cy="320040"/>
          </a:xfrm>
          <a:prstGeom prst="rect">
            <a:avLst/>
          </a:prstGeom>
          <a:noFill/>
        </p:spPr>
        <p:txBody>
          <a:bodyPr wrap="none">
            <a:spAutoFit/>
          </a:bodyPr>
          <a:lstStyle/>
          <a:p>
            <a:pPr>
              <a:defRPr sz="1400" b="1">
                <a:solidFill>
                  <a:srgbClr val="0A192F"/>
                </a:solidFill>
              </a:defRPr>
            </a:pPr>
            <a:r>
              <a:t>$25k-$35k</a:t>
            </a:r>
          </a:p>
        </p:txBody>
      </p:sp>
      <p:sp>
        <p:nvSpPr>
          <p:cNvPr id="12" name="TextBox 11"/>
          <p:cNvSpPr txBox="1"/>
          <p:nvPr/>
        </p:nvSpPr>
        <p:spPr>
          <a:xfrm>
            <a:off x="868680" y="3337560"/>
            <a:ext cx="1783080" cy="1920240"/>
          </a:xfrm>
          <a:prstGeom prst="rect">
            <a:avLst/>
          </a:prstGeom>
          <a:noFill/>
        </p:spPr>
        <p:txBody>
          <a:bodyPr wrap="square">
            <a:spAutoFit/>
          </a:bodyPr>
          <a:lstStyle/>
          <a:p>
            <a:pPr>
              <a:defRPr sz="1000">
                <a:solidFill>
                  <a:srgbClr val="0F172A"/>
                </a:solidFill>
              </a:defRPr>
            </a:pPr>
            <a:r>
              <a:t>Discovery of active runtimes, license audit, and estate gap report.</a:t>
            </a:r>
          </a:p>
        </p:txBody>
      </p:sp>
      <p:sp>
        <p:nvSpPr>
          <p:cNvPr id="13" name="Rounded Rectangle 12"/>
          <p:cNvSpPr/>
          <p:nvPr/>
        </p:nvSpPr>
        <p:spPr>
          <a:xfrm>
            <a:off x="2926080" y="1371600"/>
            <a:ext cx="2057400" cy="402336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6080" y="1371600"/>
            <a:ext cx="205740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63240" y="1600200"/>
            <a:ext cx="1783080" cy="548640"/>
          </a:xfrm>
          <a:prstGeom prst="rect">
            <a:avLst/>
          </a:prstGeom>
          <a:noFill/>
        </p:spPr>
        <p:txBody>
          <a:bodyPr wrap="square">
            <a:spAutoFit/>
          </a:bodyPr>
          <a:lstStyle/>
          <a:p>
            <a:pPr>
              <a:defRPr sz="1200" b="1">
                <a:solidFill>
                  <a:srgbClr val="0A192F"/>
                </a:solidFill>
              </a:defRPr>
            </a:pPr>
            <a:r>
              <a:t>2. Native Setup</a:t>
            </a:r>
          </a:p>
        </p:txBody>
      </p:sp>
      <p:sp>
        <p:nvSpPr>
          <p:cNvPr id="16" name="TextBox 15"/>
          <p:cNvSpPr txBox="1"/>
          <p:nvPr/>
        </p:nvSpPr>
        <p:spPr>
          <a:xfrm>
            <a:off x="3063240" y="2240280"/>
            <a:ext cx="1783080" cy="274320"/>
          </a:xfrm>
          <a:prstGeom prst="rect">
            <a:avLst/>
          </a:prstGeom>
          <a:noFill/>
        </p:spPr>
        <p:txBody>
          <a:bodyPr wrap="none">
            <a:spAutoFit/>
          </a:bodyPr>
          <a:lstStyle/>
          <a:p>
            <a:pPr>
              <a:defRPr sz="1100" b="1">
                <a:solidFill>
                  <a:srgbClr val="0A192F"/>
                </a:solidFill>
              </a:defRPr>
            </a:pPr>
            <a:r>
              <a:t>4-6 WEEKS</a:t>
            </a:r>
          </a:p>
        </p:txBody>
      </p:sp>
      <p:sp>
        <p:nvSpPr>
          <p:cNvPr id="17" name="TextBox 16"/>
          <p:cNvSpPr txBox="1"/>
          <p:nvPr/>
        </p:nvSpPr>
        <p:spPr>
          <a:xfrm>
            <a:off x="3063240" y="2560320"/>
            <a:ext cx="1783080" cy="320040"/>
          </a:xfrm>
          <a:prstGeom prst="rect">
            <a:avLst/>
          </a:prstGeom>
          <a:noFill/>
        </p:spPr>
        <p:txBody>
          <a:bodyPr wrap="none">
            <a:spAutoFit/>
          </a:bodyPr>
          <a:lstStyle/>
          <a:p>
            <a:pPr>
              <a:defRPr sz="1500" b="1">
                <a:solidFill>
                  <a:srgbClr val="0A192F"/>
                </a:solidFill>
              </a:defRPr>
            </a:pPr>
            <a:r>
              <a:t>35-50 Days</a:t>
            </a:r>
          </a:p>
        </p:txBody>
      </p:sp>
      <p:sp>
        <p:nvSpPr>
          <p:cNvPr id="18" name="TextBox 17"/>
          <p:cNvSpPr txBox="1"/>
          <p:nvPr/>
        </p:nvSpPr>
        <p:spPr>
          <a:xfrm>
            <a:off x="3063240" y="2926080"/>
            <a:ext cx="1783080" cy="320040"/>
          </a:xfrm>
          <a:prstGeom prst="rect">
            <a:avLst/>
          </a:prstGeom>
          <a:noFill/>
        </p:spPr>
        <p:txBody>
          <a:bodyPr wrap="none">
            <a:spAutoFit/>
          </a:bodyPr>
          <a:lstStyle/>
          <a:p>
            <a:pPr>
              <a:defRPr sz="1400" b="1">
                <a:solidFill>
                  <a:srgbClr val="0A192F"/>
                </a:solidFill>
              </a:defRPr>
            </a:pPr>
            <a:r>
              <a:t>$35k-$50k</a:t>
            </a:r>
          </a:p>
        </p:txBody>
      </p:sp>
      <p:sp>
        <p:nvSpPr>
          <p:cNvPr id="19" name="TextBox 18"/>
          <p:cNvSpPr txBox="1"/>
          <p:nvPr/>
        </p:nvSpPr>
        <p:spPr>
          <a:xfrm>
            <a:off x="3063240" y="3337560"/>
            <a:ext cx="1783080" cy="1920240"/>
          </a:xfrm>
          <a:prstGeom prst="rect">
            <a:avLst/>
          </a:prstGeom>
          <a:noFill/>
        </p:spPr>
        <p:txBody>
          <a:bodyPr wrap="square">
            <a:spAutoFit/>
          </a:bodyPr>
          <a:lstStyle/>
          <a:p>
            <a:pPr>
              <a:defRPr sz="1000">
                <a:solidFill>
                  <a:srgbClr val="0F172A"/>
                </a:solidFill>
              </a:defRPr>
            </a:pPr>
            <a:r>
              <a:t>Agent 365 configuration, Foundry Control Plane, Entra Agent IDs.</a:t>
            </a:r>
          </a:p>
        </p:txBody>
      </p:sp>
      <p:sp>
        <p:nvSpPr>
          <p:cNvPr id="20" name="Rounded Rectangle 19"/>
          <p:cNvSpPr/>
          <p:nvPr/>
        </p:nvSpPr>
        <p:spPr>
          <a:xfrm>
            <a:off x="5120640" y="1371600"/>
            <a:ext cx="2057400" cy="4023360"/>
          </a:xfrm>
          <a:prstGeom prst="roundRect">
            <a:avLst/>
          </a:prstGeom>
          <a:solidFill>
            <a:srgbClr val="FFFFFF"/>
          </a:solidFill>
          <a:ln w="19050">
            <a:solidFill>
              <a:srgbClr val="0A19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1371600"/>
            <a:ext cx="205740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57800" y="1600200"/>
            <a:ext cx="1783080" cy="548640"/>
          </a:xfrm>
          <a:prstGeom prst="rect">
            <a:avLst/>
          </a:prstGeom>
          <a:noFill/>
        </p:spPr>
        <p:txBody>
          <a:bodyPr wrap="square">
            <a:spAutoFit/>
          </a:bodyPr>
          <a:lstStyle/>
          <a:p>
            <a:pPr>
              <a:defRPr sz="1200" b="1">
                <a:solidFill>
                  <a:srgbClr val="0A192F"/>
                </a:solidFill>
              </a:defRPr>
            </a:pPr>
            <a:r>
              <a:t>3. Telemetry Join</a:t>
            </a:r>
          </a:p>
        </p:txBody>
      </p:sp>
      <p:sp>
        <p:nvSpPr>
          <p:cNvPr id="23" name="TextBox 22"/>
          <p:cNvSpPr txBox="1"/>
          <p:nvPr/>
        </p:nvSpPr>
        <p:spPr>
          <a:xfrm>
            <a:off x="5257800" y="2240280"/>
            <a:ext cx="1783080" cy="274320"/>
          </a:xfrm>
          <a:prstGeom prst="rect">
            <a:avLst/>
          </a:prstGeom>
          <a:noFill/>
        </p:spPr>
        <p:txBody>
          <a:bodyPr wrap="none">
            <a:spAutoFit/>
          </a:bodyPr>
          <a:lstStyle/>
          <a:p>
            <a:pPr>
              <a:defRPr sz="1100" b="1">
                <a:solidFill>
                  <a:srgbClr val="0A192F"/>
                </a:solidFill>
              </a:defRPr>
            </a:pPr>
            <a:r>
              <a:t>6-8 WEEKS</a:t>
            </a:r>
          </a:p>
        </p:txBody>
      </p:sp>
      <p:sp>
        <p:nvSpPr>
          <p:cNvPr id="24" name="TextBox 23"/>
          <p:cNvSpPr txBox="1"/>
          <p:nvPr/>
        </p:nvSpPr>
        <p:spPr>
          <a:xfrm>
            <a:off x="5257800" y="2560320"/>
            <a:ext cx="1783080" cy="320040"/>
          </a:xfrm>
          <a:prstGeom prst="rect">
            <a:avLst/>
          </a:prstGeom>
          <a:noFill/>
        </p:spPr>
        <p:txBody>
          <a:bodyPr wrap="none">
            <a:spAutoFit/>
          </a:bodyPr>
          <a:lstStyle/>
          <a:p>
            <a:pPr>
              <a:defRPr sz="1500" b="1">
                <a:solidFill>
                  <a:srgbClr val="0A192F"/>
                </a:solidFill>
              </a:defRPr>
            </a:pPr>
            <a:r>
              <a:t>50-70 Days</a:t>
            </a:r>
          </a:p>
        </p:txBody>
      </p:sp>
      <p:sp>
        <p:nvSpPr>
          <p:cNvPr id="25" name="TextBox 24"/>
          <p:cNvSpPr txBox="1"/>
          <p:nvPr/>
        </p:nvSpPr>
        <p:spPr>
          <a:xfrm>
            <a:off x="5257800" y="2926080"/>
            <a:ext cx="1783080" cy="320040"/>
          </a:xfrm>
          <a:prstGeom prst="rect">
            <a:avLst/>
          </a:prstGeom>
          <a:noFill/>
        </p:spPr>
        <p:txBody>
          <a:bodyPr wrap="none">
            <a:spAutoFit/>
          </a:bodyPr>
          <a:lstStyle/>
          <a:p>
            <a:pPr>
              <a:defRPr sz="1400" b="1">
                <a:solidFill>
                  <a:srgbClr val="0A192F"/>
                </a:solidFill>
              </a:defRPr>
            </a:pPr>
            <a:r>
              <a:t>$50k-$70k</a:t>
            </a:r>
          </a:p>
        </p:txBody>
      </p:sp>
      <p:sp>
        <p:nvSpPr>
          <p:cNvPr id="26" name="TextBox 25"/>
          <p:cNvSpPr txBox="1"/>
          <p:nvPr/>
        </p:nvSpPr>
        <p:spPr>
          <a:xfrm>
            <a:off x="5257800" y="3337560"/>
            <a:ext cx="1783080" cy="1920240"/>
          </a:xfrm>
          <a:prstGeom prst="rect">
            <a:avLst/>
          </a:prstGeom>
          <a:noFill/>
        </p:spPr>
        <p:txBody>
          <a:bodyPr wrap="square">
            <a:spAutoFit/>
          </a:bodyPr>
          <a:lstStyle/>
          <a:p>
            <a:pPr>
              <a:defRPr sz="1000">
                <a:solidFill>
                  <a:srgbClr val="0F172A"/>
                </a:solidFill>
              </a:defRPr>
            </a:pPr>
            <a:r>
              <a:t>Cross-runtime logs joined to inventory with owner review views.</a:t>
            </a:r>
          </a:p>
        </p:txBody>
      </p:sp>
      <p:sp>
        <p:nvSpPr>
          <p:cNvPr id="27" name="Rounded Rectangle 26"/>
          <p:cNvSpPr/>
          <p:nvPr/>
        </p:nvSpPr>
        <p:spPr>
          <a:xfrm>
            <a:off x="7315200" y="1371600"/>
            <a:ext cx="2057400" cy="4023360"/>
          </a:xfrm>
          <a:prstGeom prst="roundRect">
            <a:avLst/>
          </a:prstGeom>
          <a:solidFill>
            <a:srgbClr val="FFFFFF"/>
          </a:solidFill>
          <a:ln w="1905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0" y="1371600"/>
            <a:ext cx="205740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52360" y="1600200"/>
            <a:ext cx="1783080" cy="548640"/>
          </a:xfrm>
          <a:prstGeom prst="rect">
            <a:avLst/>
          </a:prstGeom>
          <a:noFill/>
        </p:spPr>
        <p:txBody>
          <a:bodyPr wrap="square">
            <a:spAutoFit/>
          </a:bodyPr>
          <a:lstStyle/>
          <a:p>
            <a:pPr>
              <a:defRPr sz="1200" b="1">
                <a:solidFill>
                  <a:srgbClr val="0A192F"/>
                </a:solidFill>
              </a:defRPr>
            </a:pPr>
            <a:r>
              <a:t>4. Kill-Switch PoC</a:t>
            </a:r>
          </a:p>
        </p:txBody>
      </p:sp>
      <p:sp>
        <p:nvSpPr>
          <p:cNvPr id="30" name="TextBox 29"/>
          <p:cNvSpPr txBox="1"/>
          <p:nvPr/>
        </p:nvSpPr>
        <p:spPr>
          <a:xfrm>
            <a:off x="7452360" y="2240280"/>
            <a:ext cx="1783080" cy="274320"/>
          </a:xfrm>
          <a:prstGeom prst="rect">
            <a:avLst/>
          </a:prstGeom>
          <a:noFill/>
        </p:spPr>
        <p:txBody>
          <a:bodyPr wrap="none">
            <a:spAutoFit/>
          </a:bodyPr>
          <a:lstStyle/>
          <a:p>
            <a:pPr>
              <a:defRPr sz="1100" b="1">
                <a:solidFill>
                  <a:srgbClr val="D83B01"/>
                </a:solidFill>
              </a:defRPr>
            </a:pPr>
            <a:r>
              <a:t>4-6 WEEKS</a:t>
            </a:r>
          </a:p>
        </p:txBody>
      </p:sp>
      <p:sp>
        <p:nvSpPr>
          <p:cNvPr id="31" name="TextBox 30"/>
          <p:cNvSpPr txBox="1"/>
          <p:nvPr/>
        </p:nvSpPr>
        <p:spPr>
          <a:xfrm>
            <a:off x="7452360" y="2560320"/>
            <a:ext cx="1783080" cy="320040"/>
          </a:xfrm>
          <a:prstGeom prst="rect">
            <a:avLst/>
          </a:prstGeom>
          <a:noFill/>
        </p:spPr>
        <p:txBody>
          <a:bodyPr wrap="none">
            <a:spAutoFit/>
          </a:bodyPr>
          <a:lstStyle/>
          <a:p>
            <a:pPr>
              <a:defRPr sz="1500" b="1">
                <a:solidFill>
                  <a:srgbClr val="0A192F"/>
                </a:solidFill>
              </a:defRPr>
            </a:pPr>
            <a:r>
              <a:t>40-55 Days</a:t>
            </a:r>
          </a:p>
        </p:txBody>
      </p:sp>
      <p:sp>
        <p:nvSpPr>
          <p:cNvPr id="32" name="TextBox 31"/>
          <p:cNvSpPr txBox="1"/>
          <p:nvPr/>
        </p:nvSpPr>
        <p:spPr>
          <a:xfrm>
            <a:off x="7452360" y="2926080"/>
            <a:ext cx="1783080" cy="320040"/>
          </a:xfrm>
          <a:prstGeom prst="rect">
            <a:avLst/>
          </a:prstGeom>
          <a:noFill/>
        </p:spPr>
        <p:txBody>
          <a:bodyPr wrap="none">
            <a:spAutoFit/>
          </a:bodyPr>
          <a:lstStyle/>
          <a:p>
            <a:pPr>
              <a:defRPr sz="1400" b="1">
                <a:solidFill>
                  <a:srgbClr val="D83B01"/>
                </a:solidFill>
              </a:defRPr>
            </a:pPr>
            <a:r>
              <a:t>$40k-$55k</a:t>
            </a:r>
          </a:p>
        </p:txBody>
      </p:sp>
      <p:sp>
        <p:nvSpPr>
          <p:cNvPr id="33" name="TextBox 32"/>
          <p:cNvSpPr txBox="1"/>
          <p:nvPr/>
        </p:nvSpPr>
        <p:spPr>
          <a:xfrm>
            <a:off x="7452360" y="3337560"/>
            <a:ext cx="1783080" cy="1920240"/>
          </a:xfrm>
          <a:prstGeom prst="rect">
            <a:avLst/>
          </a:prstGeom>
          <a:noFill/>
        </p:spPr>
        <p:txBody>
          <a:bodyPr wrap="square">
            <a:spAutoFit/>
          </a:bodyPr>
          <a:lstStyle/>
          <a:p>
            <a:pPr>
              <a:defRPr sz="1000">
                <a:solidFill>
                  <a:srgbClr val="0F172A"/>
                </a:solidFill>
              </a:defRPr>
            </a:pPr>
            <a:r>
              <a:t>4-layer containment orchestrator tested on 2 target runtimes.</a:t>
            </a:r>
          </a:p>
        </p:txBody>
      </p:sp>
      <p:sp>
        <p:nvSpPr>
          <p:cNvPr id="34" name="Rounded Rectangle 33"/>
          <p:cNvSpPr/>
          <p:nvPr/>
        </p:nvSpPr>
        <p:spPr>
          <a:xfrm>
            <a:off x="9509760" y="1371600"/>
            <a:ext cx="2057400" cy="40233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9760" y="1371600"/>
            <a:ext cx="205740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46920" y="1600200"/>
            <a:ext cx="1783080" cy="548640"/>
          </a:xfrm>
          <a:prstGeom prst="rect">
            <a:avLst/>
          </a:prstGeom>
          <a:noFill/>
        </p:spPr>
        <p:txBody>
          <a:bodyPr wrap="square">
            <a:spAutoFit/>
          </a:bodyPr>
          <a:lstStyle/>
          <a:p>
            <a:pPr>
              <a:defRPr sz="1200" b="1">
                <a:solidFill>
                  <a:srgbClr val="0A192F"/>
                </a:solidFill>
              </a:defRPr>
            </a:pPr>
            <a:r>
              <a:t>5. Enterprise Rollout</a:t>
            </a:r>
          </a:p>
        </p:txBody>
      </p:sp>
      <p:sp>
        <p:nvSpPr>
          <p:cNvPr id="37" name="TextBox 36"/>
          <p:cNvSpPr txBox="1"/>
          <p:nvPr/>
        </p:nvSpPr>
        <p:spPr>
          <a:xfrm>
            <a:off x="9646920" y="2240280"/>
            <a:ext cx="1783080" cy="274320"/>
          </a:xfrm>
          <a:prstGeom prst="rect">
            <a:avLst/>
          </a:prstGeom>
          <a:noFill/>
        </p:spPr>
        <p:txBody>
          <a:bodyPr wrap="none">
            <a:spAutoFit/>
          </a:bodyPr>
          <a:lstStyle/>
          <a:p>
            <a:pPr>
              <a:defRPr sz="1100" b="1">
                <a:solidFill>
                  <a:srgbClr val="0078D4"/>
                </a:solidFill>
              </a:defRPr>
            </a:pPr>
            <a:r>
              <a:t>10-16 WEEKS</a:t>
            </a:r>
          </a:p>
        </p:txBody>
      </p:sp>
      <p:sp>
        <p:nvSpPr>
          <p:cNvPr id="38" name="TextBox 37"/>
          <p:cNvSpPr txBox="1"/>
          <p:nvPr/>
        </p:nvSpPr>
        <p:spPr>
          <a:xfrm>
            <a:off x="9646920" y="2560320"/>
            <a:ext cx="1783080" cy="320040"/>
          </a:xfrm>
          <a:prstGeom prst="rect">
            <a:avLst/>
          </a:prstGeom>
          <a:noFill/>
        </p:spPr>
        <p:txBody>
          <a:bodyPr wrap="none">
            <a:spAutoFit/>
          </a:bodyPr>
          <a:lstStyle/>
          <a:p>
            <a:pPr>
              <a:defRPr sz="1500" b="1">
                <a:solidFill>
                  <a:srgbClr val="0A192F"/>
                </a:solidFill>
              </a:defRPr>
            </a:pPr>
            <a:r>
              <a:t>110-150 Days</a:t>
            </a:r>
          </a:p>
        </p:txBody>
      </p:sp>
      <p:sp>
        <p:nvSpPr>
          <p:cNvPr id="39" name="TextBox 38"/>
          <p:cNvSpPr txBox="1"/>
          <p:nvPr/>
        </p:nvSpPr>
        <p:spPr>
          <a:xfrm>
            <a:off x="9646920" y="2926080"/>
            <a:ext cx="1783080" cy="320040"/>
          </a:xfrm>
          <a:prstGeom prst="rect">
            <a:avLst/>
          </a:prstGeom>
          <a:noFill/>
        </p:spPr>
        <p:txBody>
          <a:bodyPr wrap="none">
            <a:spAutoFit/>
          </a:bodyPr>
          <a:lstStyle/>
          <a:p>
            <a:pPr>
              <a:defRPr sz="1400" b="1">
                <a:solidFill>
                  <a:srgbClr val="0078D4"/>
                </a:solidFill>
              </a:defRPr>
            </a:pPr>
            <a:r>
              <a:t>$110k-$150k</a:t>
            </a:r>
          </a:p>
        </p:txBody>
      </p:sp>
      <p:sp>
        <p:nvSpPr>
          <p:cNvPr id="40" name="TextBox 39"/>
          <p:cNvSpPr txBox="1"/>
          <p:nvPr/>
        </p:nvSpPr>
        <p:spPr>
          <a:xfrm>
            <a:off x="9646920" y="3337560"/>
            <a:ext cx="1783080" cy="1920240"/>
          </a:xfrm>
          <a:prstGeom prst="rect">
            <a:avLst/>
          </a:prstGeom>
          <a:noFill/>
        </p:spPr>
        <p:txBody>
          <a:bodyPr wrap="square">
            <a:spAutoFit/>
          </a:bodyPr>
          <a:lstStyle/>
          <a:p>
            <a:pPr>
              <a:defRPr sz="1000">
                <a:solidFill>
                  <a:srgbClr val="0F172A"/>
                </a:solidFill>
              </a:defRPr>
            </a:pPr>
            <a:r>
              <a:t>Full estate governance, automated workflows, and operational handoff.</a:t>
            </a:r>
          </a:p>
        </p:txBody>
      </p:sp>
      <p:sp>
        <p:nvSpPr>
          <p:cNvPr id="41" name="Rounded Rectangle 40"/>
          <p:cNvSpPr/>
          <p:nvPr/>
        </p:nvSpPr>
        <p:spPr>
          <a:xfrm>
            <a:off x="731520" y="5532120"/>
            <a:ext cx="10698480" cy="685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623560"/>
            <a:ext cx="10332720" cy="502920"/>
          </a:xfrm>
          <a:prstGeom prst="rect">
            <a:avLst/>
          </a:prstGeom>
          <a:noFill/>
        </p:spPr>
        <p:txBody>
          <a:bodyPr wrap="square">
            <a:spAutoFit/>
          </a:bodyPr>
          <a:lstStyle/>
          <a:p>
            <a:pPr>
              <a:defRPr sz="1050">
                <a:solidFill>
                  <a:srgbClr val="64748B"/>
                </a:solidFill>
              </a:defRPr>
            </a:pPr>
            <a:r>
              <a:t>EFFORT DRIVERS: Multi-cloud runtimes, missing Agent 365 licenses, legacy custom hosts without telemetry, and multi-tenant CISO approval gates. Fee bands illustrative at $1,000/day blended rate.</a:t>
            </a:r>
          </a:p>
        </p:txBody>
      </p:sp>
      <p:sp>
        <p:nvSpPr>
          <p:cNvPr id="43" name="TextBox 42"/>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Agent Governance and Operations · Working proposal for senior leadership review · Slide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9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RISK CONTROLS &amp; LIMITS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09</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Unlicensed agents and unmanaged endpoints decide risk</a:t>
            </a:r>
          </a:p>
        </p:txBody>
      </p:sp>
      <p:sp>
        <p:nvSpPr>
          <p:cNvPr id="6" name="Rounded Rectangle 5"/>
          <p:cNvSpPr/>
          <p:nvPr/>
        </p:nvSpPr>
        <p:spPr>
          <a:xfrm>
            <a:off x="731520" y="1371600"/>
            <a:ext cx="2468880" cy="4023360"/>
          </a:xfrm>
          <a:prstGeom prst="roundRect">
            <a:avLst/>
          </a:prstGeom>
          <a:solidFill>
            <a:srgbClr val="FFFFFF"/>
          </a:solidFill>
          <a:ln w="19050">
            <a:solidFill>
              <a:srgbClr val="D83B0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24688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2103120" cy="457200"/>
          </a:xfrm>
          <a:prstGeom prst="rect">
            <a:avLst/>
          </a:prstGeom>
          <a:noFill/>
        </p:spPr>
        <p:txBody>
          <a:bodyPr wrap="none">
            <a:spAutoFit/>
          </a:bodyPr>
          <a:lstStyle/>
          <a:p>
            <a:pPr>
              <a:defRPr sz="1500" b="1">
                <a:solidFill>
                  <a:srgbClr val="0A192F"/>
                </a:solidFill>
              </a:defRPr>
            </a:pPr>
            <a:r>
              <a:t>Proxy Bypass Risk</a:t>
            </a:r>
          </a:p>
        </p:txBody>
      </p:sp>
      <p:sp>
        <p:nvSpPr>
          <p:cNvPr id="9" name="TextBox 8"/>
          <p:cNvSpPr txBox="1"/>
          <p:nvPr/>
        </p:nvSpPr>
        <p:spPr>
          <a:xfrm>
            <a:off x="914400" y="2148840"/>
            <a:ext cx="2103120" cy="1188720"/>
          </a:xfrm>
          <a:prstGeom prst="rect">
            <a:avLst/>
          </a:prstGeom>
          <a:noFill/>
        </p:spPr>
        <p:txBody>
          <a:bodyPr wrap="square">
            <a:spAutoFit/>
          </a:bodyPr>
          <a:lstStyle/>
          <a:p>
            <a:pPr>
              <a:defRPr sz="1000" b="1">
                <a:solidFill>
                  <a:srgbClr val="D83B01"/>
                </a:solidFill>
              </a:defRPr>
            </a:pPr>
            <a:r>
              <a:t>RISK EFFECT:</a:t>
            </a:r>
          </a:p>
          <a:p>
            <a:pPr>
              <a:defRPr sz="1100">
                <a:solidFill>
                  <a:srgbClr val="0F172A"/>
                </a:solidFill>
              </a:defRPr>
            </a:pPr>
            <a:r>
              <a:t>Rogue agents bypass APIM gateway and execute direct model/tool calls.</a:t>
            </a:r>
          </a:p>
        </p:txBody>
      </p:sp>
      <p:sp>
        <p:nvSpPr>
          <p:cNvPr id="10" name="TextBox 9"/>
          <p:cNvSpPr txBox="1"/>
          <p:nvPr/>
        </p:nvSpPr>
        <p:spPr>
          <a:xfrm>
            <a:off x="9144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Enforce strict VNet private endpoints and Azure Firewall egress filtering.</a:t>
            </a:r>
          </a:p>
        </p:txBody>
      </p:sp>
      <p:sp>
        <p:nvSpPr>
          <p:cNvPr id="11" name="Rounded Rectangle 10"/>
          <p:cNvSpPr/>
          <p:nvPr/>
        </p:nvSpPr>
        <p:spPr>
          <a:xfrm>
            <a:off x="3474720" y="1371600"/>
            <a:ext cx="2468880" cy="40233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371600"/>
            <a:ext cx="246888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1600200"/>
            <a:ext cx="2103120" cy="457200"/>
          </a:xfrm>
          <a:prstGeom prst="rect">
            <a:avLst/>
          </a:prstGeom>
          <a:noFill/>
        </p:spPr>
        <p:txBody>
          <a:bodyPr wrap="none">
            <a:spAutoFit/>
          </a:bodyPr>
          <a:lstStyle/>
          <a:p>
            <a:pPr>
              <a:defRPr sz="1500" b="1">
                <a:solidFill>
                  <a:srgbClr val="0A192F"/>
                </a:solidFill>
              </a:defRPr>
            </a:pPr>
            <a:r>
              <a:t>Token Latency</a:t>
            </a:r>
          </a:p>
        </p:txBody>
      </p:sp>
      <p:sp>
        <p:nvSpPr>
          <p:cNvPr id="14" name="TextBox 13"/>
          <p:cNvSpPr txBox="1"/>
          <p:nvPr/>
        </p:nvSpPr>
        <p:spPr>
          <a:xfrm>
            <a:off x="3657600" y="2148840"/>
            <a:ext cx="2103120" cy="1188720"/>
          </a:xfrm>
          <a:prstGeom prst="rect">
            <a:avLst/>
          </a:prstGeom>
          <a:noFill/>
        </p:spPr>
        <p:txBody>
          <a:bodyPr wrap="square">
            <a:spAutoFit/>
          </a:bodyPr>
          <a:lstStyle/>
          <a:p>
            <a:pPr>
              <a:defRPr sz="1000" b="1">
                <a:solidFill>
                  <a:srgbClr val="D97706"/>
                </a:solidFill>
              </a:defRPr>
            </a:pPr>
            <a:r>
              <a:t>RISK EFFECT:</a:t>
            </a:r>
          </a:p>
          <a:p>
            <a:pPr>
              <a:defRPr sz="1100">
                <a:solidFill>
                  <a:srgbClr val="0F172A"/>
                </a:solidFill>
              </a:defRPr>
            </a:pPr>
            <a:r>
              <a:t>Entra token suspension takes up to 15-60 min to expire active tokens.</a:t>
            </a:r>
          </a:p>
        </p:txBody>
      </p:sp>
      <p:sp>
        <p:nvSpPr>
          <p:cNvPr id="15" name="TextBox 14"/>
          <p:cNvSpPr txBox="1"/>
          <p:nvPr/>
        </p:nvSpPr>
        <p:spPr>
          <a:xfrm>
            <a:off x="36576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Multi-layer containment drops traffic at APIM and pauses compute in &lt;60s.</a:t>
            </a:r>
          </a:p>
        </p:txBody>
      </p:sp>
      <p:sp>
        <p:nvSpPr>
          <p:cNvPr id="16" name="Rounded Rectangle 15"/>
          <p:cNvSpPr/>
          <p:nvPr/>
        </p:nvSpPr>
        <p:spPr>
          <a:xfrm>
            <a:off x="6217920" y="1371600"/>
            <a:ext cx="2468880" cy="40233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1371600"/>
            <a:ext cx="24688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600200"/>
            <a:ext cx="2103120" cy="457200"/>
          </a:xfrm>
          <a:prstGeom prst="rect">
            <a:avLst/>
          </a:prstGeom>
          <a:noFill/>
        </p:spPr>
        <p:txBody>
          <a:bodyPr wrap="none">
            <a:spAutoFit/>
          </a:bodyPr>
          <a:lstStyle/>
          <a:p>
            <a:pPr>
              <a:defRPr sz="1500" b="1">
                <a:solidFill>
                  <a:srgbClr val="0A192F"/>
                </a:solidFill>
              </a:defRPr>
            </a:pPr>
            <a:r>
              <a:t>Licensing Gaps</a:t>
            </a:r>
          </a:p>
        </p:txBody>
      </p:sp>
      <p:sp>
        <p:nvSpPr>
          <p:cNvPr id="19" name="TextBox 18"/>
          <p:cNvSpPr txBox="1"/>
          <p:nvPr/>
        </p:nvSpPr>
        <p:spPr>
          <a:xfrm>
            <a:off x="6400800" y="2148840"/>
            <a:ext cx="2103120" cy="1188720"/>
          </a:xfrm>
          <a:prstGeom prst="rect">
            <a:avLst/>
          </a:prstGeom>
          <a:noFill/>
        </p:spPr>
        <p:txBody>
          <a:bodyPr wrap="square">
            <a:spAutoFit/>
          </a:bodyPr>
          <a:lstStyle/>
          <a:p>
            <a:pPr>
              <a:defRPr sz="1000" b="1">
                <a:solidFill>
                  <a:srgbClr val="0078D4"/>
                </a:solidFill>
              </a:defRPr>
            </a:pPr>
            <a:r>
              <a:t>RISK EFFECT:</a:t>
            </a:r>
          </a:p>
          <a:p>
            <a:pPr>
              <a:defRPr sz="1100">
                <a:solidFill>
                  <a:srgbClr val="0F172A"/>
                </a:solidFill>
              </a:defRPr>
            </a:pPr>
            <a:r>
              <a:t>Missing Agent 365 requires custom inventory tooling and higher effort.</a:t>
            </a:r>
          </a:p>
        </p:txBody>
      </p:sp>
      <p:sp>
        <p:nvSpPr>
          <p:cNvPr id="20" name="TextBox 19"/>
          <p:cNvSpPr txBox="1"/>
          <p:nvPr/>
        </p:nvSpPr>
        <p:spPr>
          <a:xfrm>
            <a:off x="64008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Enforce license readiness audit in Phase 1; provide transparent custom fee tiers.</a:t>
            </a:r>
          </a:p>
        </p:txBody>
      </p:sp>
      <p:sp>
        <p:nvSpPr>
          <p:cNvPr id="21" name="Rounded Rectangle 20"/>
          <p:cNvSpPr/>
          <p:nvPr/>
        </p:nvSpPr>
        <p:spPr>
          <a:xfrm>
            <a:off x="8961120" y="1371600"/>
            <a:ext cx="2468880" cy="402336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61120" y="1371600"/>
            <a:ext cx="24688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0" y="1600200"/>
            <a:ext cx="2103120" cy="457200"/>
          </a:xfrm>
          <a:prstGeom prst="rect">
            <a:avLst/>
          </a:prstGeom>
          <a:noFill/>
        </p:spPr>
        <p:txBody>
          <a:bodyPr wrap="none">
            <a:spAutoFit/>
          </a:bodyPr>
          <a:lstStyle/>
          <a:p>
            <a:pPr>
              <a:defRPr sz="1500" b="1">
                <a:solidFill>
                  <a:srgbClr val="0A192F"/>
                </a:solidFill>
              </a:defRPr>
            </a:pPr>
            <a:r>
              <a:t>Containment Authority</a:t>
            </a:r>
          </a:p>
        </p:txBody>
      </p:sp>
      <p:sp>
        <p:nvSpPr>
          <p:cNvPr id="24" name="TextBox 23"/>
          <p:cNvSpPr txBox="1"/>
          <p:nvPr/>
        </p:nvSpPr>
        <p:spPr>
          <a:xfrm>
            <a:off x="9144000" y="2148840"/>
            <a:ext cx="2103120" cy="1188720"/>
          </a:xfrm>
          <a:prstGeom prst="rect">
            <a:avLst/>
          </a:prstGeom>
          <a:noFill/>
        </p:spPr>
        <p:txBody>
          <a:bodyPr wrap="square">
            <a:spAutoFit/>
          </a:bodyPr>
          <a:lstStyle/>
          <a:p>
            <a:pPr>
              <a:defRPr sz="1000" b="1">
                <a:solidFill>
                  <a:srgbClr val="00A389"/>
                </a:solidFill>
              </a:defRPr>
            </a:pPr>
            <a:r>
              <a:t>RISK EFFECT:</a:t>
            </a:r>
          </a:p>
          <a:p>
            <a:pPr>
              <a:defRPr sz="1100">
                <a:solidFill>
                  <a:srgbClr val="0F172A"/>
                </a:solidFill>
              </a:defRPr>
            </a:pPr>
            <a:r>
              <a:t>Unclear ownership delays emergency shutdown during an active incident.</a:t>
            </a:r>
          </a:p>
        </p:txBody>
      </p:sp>
      <p:sp>
        <p:nvSpPr>
          <p:cNvPr id="25" name="TextBox 24"/>
          <p:cNvSpPr txBox="1"/>
          <p:nvPr/>
        </p:nvSpPr>
        <p:spPr>
          <a:xfrm>
            <a:off x="9144000" y="3474720"/>
            <a:ext cx="2103120" cy="1737360"/>
          </a:xfrm>
          <a:prstGeom prst="rect">
            <a:avLst/>
          </a:prstGeom>
          <a:noFill/>
        </p:spPr>
        <p:txBody>
          <a:bodyPr wrap="square">
            <a:spAutoFit/>
          </a:bodyPr>
          <a:lstStyle/>
          <a:p>
            <a:pPr>
              <a:defRPr sz="1000" b="1">
                <a:solidFill>
                  <a:srgbClr val="0A192F"/>
                </a:solidFill>
              </a:defRPr>
            </a:pPr>
            <a:r>
              <a:t>MITIGATION CONTROL:</a:t>
            </a:r>
          </a:p>
          <a:p>
            <a:pPr>
              <a:defRPr sz="1100">
                <a:solidFill>
                  <a:srgbClr val="0F172A"/>
                </a:solidFill>
              </a:defRPr>
            </a:pPr>
            <a:r>
              <a:t>Define pre-authorized CISO emergency role and PIM approval workflow.</a:t>
            </a:r>
          </a:p>
        </p:txBody>
      </p:sp>
      <p:sp>
        <p:nvSpPr>
          <p:cNvPr id="26" name="Rounded Rectangle 25"/>
          <p:cNvSpPr/>
          <p:nvPr/>
        </p:nvSpPr>
        <p:spPr>
          <a:xfrm>
            <a:off x="731520" y="5532120"/>
            <a:ext cx="10698480" cy="685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623560"/>
            <a:ext cx="10332720" cy="502920"/>
          </a:xfrm>
          <a:prstGeom prst="rect">
            <a:avLst/>
          </a:prstGeom>
          <a:noFill/>
        </p:spPr>
        <p:txBody>
          <a:bodyPr wrap="none">
            <a:spAutoFit/>
          </a:bodyPr>
          <a:lstStyle/>
          <a:p>
            <a:pPr>
              <a:defRPr sz="1050" b="1">
                <a:solidFill>
                  <a:srgbClr val="64748B"/>
                </a:solidFill>
              </a:defRPr>
            </a:pPr>
            <a:r>
              <a:t>COMPLIANCE LINKAGE: Threat model and EU AI Act regulatory mappings detailed in Technical Appendix SEC1 and SEC2.</a:t>
            </a:r>
          </a:p>
        </p:txBody>
      </p:sp>
      <p:sp>
        <p:nvSpPr>
          <p:cNvPr id="28" name="TextBox 27"/>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Agent Governance and Operations · Working proposal for senior leadership review · Slide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56032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10 OF 10</a:t>
            </a:r>
          </a:p>
        </p:txBody>
      </p:sp>
      <p:sp>
        <p:nvSpPr>
          <p:cNvPr id="3" name="Rounded Rectangle 2"/>
          <p:cNvSpPr/>
          <p:nvPr/>
        </p:nvSpPr>
        <p:spPr>
          <a:xfrm>
            <a:off x="338328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DECISION REQUESTED</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10</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Audit findings closed and rogue agents stopped define success</a:t>
            </a:r>
          </a:p>
        </p:txBody>
      </p:sp>
      <p:sp>
        <p:nvSpPr>
          <p:cNvPr id="6" name="Rounded Rectangle 5"/>
          <p:cNvSpPr/>
          <p:nvPr/>
        </p:nvSpPr>
        <p:spPr>
          <a:xfrm>
            <a:off x="731520" y="1325880"/>
            <a:ext cx="1069848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10332720" cy="274320"/>
          </a:xfrm>
          <a:prstGeom prst="rect">
            <a:avLst/>
          </a:prstGeom>
          <a:noFill/>
        </p:spPr>
        <p:txBody>
          <a:bodyPr wrap="none">
            <a:spAutoFit/>
          </a:bodyPr>
          <a:lstStyle/>
          <a:p>
            <a:pPr>
              <a:defRPr sz="1100" b="1">
                <a:solidFill>
                  <a:srgbClr val="0A192F"/>
                </a:solidFill>
              </a:defRPr>
            </a:pPr>
            <a:r>
              <a:t>MEASURABLE SUCCESS CRITERIA</a:t>
            </a:r>
          </a:p>
        </p:txBody>
      </p:sp>
      <p:sp>
        <p:nvSpPr>
          <p:cNvPr id="8" name="TextBox 7"/>
          <p:cNvSpPr txBox="1"/>
          <p:nvPr/>
        </p:nvSpPr>
        <p:spPr>
          <a:xfrm>
            <a:off x="914400" y="1691640"/>
            <a:ext cx="1097280" cy="502920"/>
          </a:xfrm>
          <a:prstGeom prst="rect">
            <a:avLst/>
          </a:prstGeom>
          <a:noFill/>
        </p:spPr>
        <p:txBody>
          <a:bodyPr wrap="none">
            <a:spAutoFit/>
          </a:bodyPr>
          <a:lstStyle/>
          <a:p>
            <a:pPr>
              <a:defRPr sz="2800" b="1">
                <a:solidFill>
                  <a:srgbClr val="0078D4"/>
                </a:solidFill>
              </a:defRPr>
            </a:pPr>
            <a:r>
              <a:t>100%</a:t>
            </a:r>
          </a:p>
        </p:txBody>
      </p:sp>
      <p:sp>
        <p:nvSpPr>
          <p:cNvPr id="9" name="TextBox 8"/>
          <p:cNvSpPr txBox="1"/>
          <p:nvPr/>
        </p:nvSpPr>
        <p:spPr>
          <a:xfrm>
            <a:off x="2057400" y="1691640"/>
            <a:ext cx="2194560" cy="228600"/>
          </a:xfrm>
          <a:prstGeom prst="rect">
            <a:avLst/>
          </a:prstGeom>
          <a:noFill/>
        </p:spPr>
        <p:txBody>
          <a:bodyPr wrap="none">
            <a:spAutoFit/>
          </a:bodyPr>
          <a:lstStyle/>
          <a:p>
            <a:pPr>
              <a:defRPr sz="1200" b="1">
                <a:solidFill>
                  <a:srgbClr val="0A192F"/>
                </a:solidFill>
              </a:defRPr>
            </a:pPr>
            <a:r>
              <a:t>Estate Reconciled</a:t>
            </a:r>
          </a:p>
        </p:txBody>
      </p:sp>
      <p:sp>
        <p:nvSpPr>
          <p:cNvPr id="10" name="TextBox 9"/>
          <p:cNvSpPr txBox="1"/>
          <p:nvPr/>
        </p:nvSpPr>
        <p:spPr>
          <a:xfrm>
            <a:off x="2057400" y="1965960"/>
            <a:ext cx="2194560" cy="822960"/>
          </a:xfrm>
          <a:prstGeom prst="rect">
            <a:avLst/>
          </a:prstGeom>
          <a:noFill/>
        </p:spPr>
        <p:txBody>
          <a:bodyPr wrap="square">
            <a:spAutoFit/>
          </a:bodyPr>
          <a:lstStyle/>
          <a:p>
            <a:pPr>
              <a:defRPr sz="1000">
                <a:solidFill>
                  <a:srgbClr val="0F172A"/>
                </a:solidFill>
              </a:defRPr>
            </a:pPr>
            <a:r>
              <a:t>All active agent runtimes mapped to valid business and technical owners.</a:t>
            </a:r>
          </a:p>
        </p:txBody>
      </p:sp>
      <p:sp>
        <p:nvSpPr>
          <p:cNvPr id="11" name="TextBox 10"/>
          <p:cNvSpPr txBox="1"/>
          <p:nvPr/>
        </p:nvSpPr>
        <p:spPr>
          <a:xfrm>
            <a:off x="4389120" y="1691640"/>
            <a:ext cx="1097280" cy="502920"/>
          </a:xfrm>
          <a:prstGeom prst="rect">
            <a:avLst/>
          </a:prstGeom>
          <a:noFill/>
        </p:spPr>
        <p:txBody>
          <a:bodyPr wrap="none">
            <a:spAutoFit/>
          </a:bodyPr>
          <a:lstStyle/>
          <a:p>
            <a:pPr>
              <a:defRPr sz="2800" b="1">
                <a:solidFill>
                  <a:srgbClr val="D83B01"/>
                </a:solidFill>
              </a:defRPr>
            </a:pPr>
            <a:r>
              <a:t>&lt;60s</a:t>
            </a:r>
          </a:p>
        </p:txBody>
      </p:sp>
      <p:sp>
        <p:nvSpPr>
          <p:cNvPr id="12" name="TextBox 11"/>
          <p:cNvSpPr txBox="1"/>
          <p:nvPr/>
        </p:nvSpPr>
        <p:spPr>
          <a:xfrm>
            <a:off x="5532120" y="1691640"/>
            <a:ext cx="2194560" cy="228600"/>
          </a:xfrm>
          <a:prstGeom prst="rect">
            <a:avLst/>
          </a:prstGeom>
          <a:noFill/>
        </p:spPr>
        <p:txBody>
          <a:bodyPr wrap="none">
            <a:spAutoFit/>
          </a:bodyPr>
          <a:lstStyle/>
          <a:p>
            <a:pPr>
              <a:defRPr sz="1200" b="1">
                <a:solidFill>
                  <a:srgbClr val="0A192F"/>
                </a:solidFill>
              </a:defRPr>
            </a:pPr>
            <a:r>
              <a:t>Verified Stop Time</a:t>
            </a:r>
          </a:p>
        </p:txBody>
      </p:sp>
      <p:sp>
        <p:nvSpPr>
          <p:cNvPr id="13" name="TextBox 12"/>
          <p:cNvSpPr txBox="1"/>
          <p:nvPr/>
        </p:nvSpPr>
        <p:spPr>
          <a:xfrm>
            <a:off x="5532120" y="1965960"/>
            <a:ext cx="2194560" cy="822960"/>
          </a:xfrm>
          <a:prstGeom prst="rect">
            <a:avLst/>
          </a:prstGeom>
          <a:noFill/>
        </p:spPr>
        <p:txBody>
          <a:bodyPr wrap="square">
            <a:spAutoFit/>
          </a:bodyPr>
          <a:lstStyle/>
          <a:p>
            <a:pPr>
              <a:defRPr sz="1000">
                <a:solidFill>
                  <a:srgbClr val="0F172A"/>
                </a:solidFill>
              </a:defRPr>
            </a:pPr>
            <a:r>
              <a:t>Measured containment drill proving immediate cessation of tool calls.</a:t>
            </a:r>
          </a:p>
        </p:txBody>
      </p:sp>
      <p:sp>
        <p:nvSpPr>
          <p:cNvPr id="14" name="TextBox 13"/>
          <p:cNvSpPr txBox="1"/>
          <p:nvPr/>
        </p:nvSpPr>
        <p:spPr>
          <a:xfrm>
            <a:off x="7863840" y="1691640"/>
            <a:ext cx="1097280" cy="502920"/>
          </a:xfrm>
          <a:prstGeom prst="rect">
            <a:avLst/>
          </a:prstGeom>
          <a:noFill/>
        </p:spPr>
        <p:txBody>
          <a:bodyPr wrap="none">
            <a:spAutoFit/>
          </a:bodyPr>
          <a:lstStyle/>
          <a:p>
            <a:pPr>
              <a:defRPr sz="2800" b="1">
                <a:solidFill>
                  <a:srgbClr val="00A389"/>
                </a:solidFill>
              </a:defRPr>
            </a:pPr>
            <a:r>
              <a:t>100%</a:t>
            </a:r>
          </a:p>
        </p:txBody>
      </p:sp>
      <p:sp>
        <p:nvSpPr>
          <p:cNvPr id="15" name="TextBox 14"/>
          <p:cNvSpPr txBox="1"/>
          <p:nvPr/>
        </p:nvSpPr>
        <p:spPr>
          <a:xfrm>
            <a:off x="9006840" y="1691640"/>
            <a:ext cx="2194560" cy="228600"/>
          </a:xfrm>
          <a:prstGeom prst="rect">
            <a:avLst/>
          </a:prstGeom>
          <a:noFill/>
        </p:spPr>
        <p:txBody>
          <a:bodyPr wrap="none">
            <a:spAutoFit/>
          </a:bodyPr>
          <a:lstStyle/>
          <a:p>
            <a:pPr>
              <a:defRPr sz="1200" b="1">
                <a:solidFill>
                  <a:srgbClr val="0A192F"/>
                </a:solidFill>
              </a:defRPr>
            </a:pPr>
            <a:r>
              <a:t>Audit Compliance</a:t>
            </a:r>
          </a:p>
        </p:txBody>
      </p:sp>
      <p:sp>
        <p:nvSpPr>
          <p:cNvPr id="16" name="TextBox 15"/>
          <p:cNvSpPr txBox="1"/>
          <p:nvPr/>
        </p:nvSpPr>
        <p:spPr>
          <a:xfrm>
            <a:off x="9006840" y="1965960"/>
            <a:ext cx="2194560" cy="822960"/>
          </a:xfrm>
          <a:prstGeom prst="rect">
            <a:avLst/>
          </a:prstGeom>
          <a:noFill/>
        </p:spPr>
        <p:txBody>
          <a:bodyPr wrap="square">
            <a:spAutoFit/>
          </a:bodyPr>
          <a:lstStyle/>
          <a:p>
            <a:pPr>
              <a:defRPr sz="1000">
                <a:solidFill>
                  <a:srgbClr val="0F172A"/>
                </a:solidFill>
              </a:defRPr>
            </a:pPr>
            <a:r>
              <a:t>Zero critical non-conformities across EU AI Act and corporate risk policies.</a:t>
            </a:r>
          </a:p>
        </p:txBody>
      </p:sp>
      <p:sp>
        <p:nvSpPr>
          <p:cNvPr id="17" name="Rounded Rectangle 16"/>
          <p:cNvSpPr/>
          <p:nvPr/>
        </p:nvSpPr>
        <p:spPr>
          <a:xfrm>
            <a:off x="731520" y="3154680"/>
            <a:ext cx="5212080" cy="310896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154680"/>
            <a:ext cx="52120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383280"/>
            <a:ext cx="4663440" cy="365760"/>
          </a:xfrm>
          <a:prstGeom prst="rect">
            <a:avLst/>
          </a:prstGeom>
          <a:noFill/>
        </p:spPr>
        <p:txBody>
          <a:bodyPr wrap="none">
            <a:spAutoFit/>
          </a:bodyPr>
          <a:lstStyle/>
          <a:p>
            <a:pPr>
              <a:defRPr sz="1300" b="1">
                <a:solidFill>
                  <a:srgbClr val="0A192F"/>
                </a:solidFill>
              </a:defRPr>
            </a:pPr>
            <a:r>
              <a:t>DECISIONS REQUESTED TODAY</a:t>
            </a:r>
          </a:p>
        </p:txBody>
      </p:sp>
      <p:sp>
        <p:nvSpPr>
          <p:cNvPr id="20" name="TextBox 19"/>
          <p:cNvSpPr txBox="1"/>
          <p:nvPr/>
        </p:nvSpPr>
        <p:spPr>
          <a:xfrm>
            <a:off x="1005840" y="3840480"/>
            <a:ext cx="4663440" cy="2194560"/>
          </a:xfrm>
          <a:prstGeom prst="rect">
            <a:avLst/>
          </a:prstGeom>
          <a:noFill/>
        </p:spPr>
        <p:txBody>
          <a:bodyPr wrap="square">
            <a:spAutoFit/>
          </a:bodyPr>
          <a:lstStyle/>
          <a:p>
            <a:pPr>
              <a:spcAft>
                <a:spcPts val="1000"/>
              </a:spcAft>
              <a:defRPr sz="1150">
                <a:solidFill>
                  <a:srgbClr val="0F172A"/>
                </a:solidFill>
              </a:defRPr>
            </a:pPr>
            <a:r>
              <a:t>• Adopt configure-before-build as the mandatory portfolio design principle.</a:t>
            </a:r>
          </a:p>
          <a:p>
            <a:pPr>
              <a:spcAft>
                <a:spcPts val="1000"/>
              </a:spcAft>
              <a:defRPr sz="1150">
                <a:solidFill>
                  <a:srgbClr val="0F172A"/>
                </a:solidFill>
              </a:defRPr>
            </a:pPr>
            <a:r>
              <a:t>• Approve funding for a 4-to-6 week Kill-Switch PoC ($40k-$55k lab budget).</a:t>
            </a:r>
          </a:p>
          <a:p>
            <a:pPr>
              <a:spcAft>
                <a:spcPts val="1000"/>
              </a:spcAft>
              <a:defRPr sz="1150">
                <a:solidFill>
                  <a:srgbClr val="0F172A"/>
                </a:solidFill>
              </a:defRPr>
            </a:pPr>
            <a:r>
              <a:t>• Designate CISO Containment Authority and named operational restart approvers.</a:t>
            </a:r>
          </a:p>
        </p:txBody>
      </p:sp>
      <p:sp>
        <p:nvSpPr>
          <p:cNvPr id="21" name="Rounded Rectangle 20"/>
          <p:cNvSpPr/>
          <p:nvPr/>
        </p:nvSpPr>
        <p:spPr>
          <a:xfrm>
            <a:off x="6217920" y="3154680"/>
            <a:ext cx="5212080" cy="3108960"/>
          </a:xfrm>
          <a:prstGeom prst="roundRect">
            <a:avLst/>
          </a:prstGeom>
          <a:solidFill>
            <a:srgbClr val="FFFFFF"/>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154680"/>
            <a:ext cx="52120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383280"/>
            <a:ext cx="4663440" cy="365760"/>
          </a:xfrm>
          <a:prstGeom prst="rect">
            <a:avLst/>
          </a:prstGeom>
          <a:noFill/>
        </p:spPr>
        <p:txBody>
          <a:bodyPr wrap="none">
            <a:spAutoFit/>
          </a:bodyPr>
          <a:lstStyle/>
          <a:p>
            <a:pPr>
              <a:defRPr sz="1300" b="1">
                <a:solidFill>
                  <a:srgbClr val="0A192F"/>
                </a:solidFill>
              </a:defRPr>
            </a:pPr>
            <a:r>
              <a:t>DECISIONS POST-VALIDATION</a:t>
            </a:r>
          </a:p>
        </p:txBody>
      </p:sp>
      <p:sp>
        <p:nvSpPr>
          <p:cNvPr id="24" name="TextBox 23"/>
          <p:cNvSpPr txBox="1"/>
          <p:nvPr/>
        </p:nvSpPr>
        <p:spPr>
          <a:xfrm>
            <a:off x="6492240" y="3840480"/>
            <a:ext cx="4663440" cy="2194560"/>
          </a:xfrm>
          <a:prstGeom prst="rect">
            <a:avLst/>
          </a:prstGeom>
          <a:noFill/>
        </p:spPr>
        <p:txBody>
          <a:bodyPr wrap="square">
            <a:spAutoFit/>
          </a:bodyPr>
          <a:lstStyle/>
          <a:p>
            <a:pPr>
              <a:spcAft>
                <a:spcPts val="1000"/>
              </a:spcAft>
              <a:defRPr sz="1150">
                <a:solidFill>
                  <a:srgbClr val="0F172A"/>
                </a:solidFill>
              </a:defRPr>
            </a:pPr>
            <a:r>
              <a:t>• Formalize enterprise-wide multi-runtime stop time SLAs based on PoC benchmark data.</a:t>
            </a:r>
          </a:p>
          <a:p>
            <a:pPr>
              <a:spcAft>
                <a:spcPts val="1000"/>
              </a:spcAft>
              <a:defRPr sz="1150">
                <a:solidFill>
                  <a:srgbClr val="0F172A"/>
                </a:solidFill>
              </a:defRPr>
            </a:pPr>
            <a:r>
              <a:t>• Replace illustrative $1,000/day blended rate cards with Finance-approved market rates.</a:t>
            </a:r>
          </a:p>
          <a:p>
            <a:pPr>
              <a:spcAft>
                <a:spcPts val="1000"/>
              </a:spcAft>
              <a:defRPr sz="1150">
                <a:solidFill>
                  <a:srgbClr val="0F172A"/>
                </a:solidFill>
              </a:defRPr>
            </a:pPr>
            <a:r>
              <a:t>• Integrate agent containment runbooks into Offering 05 Managed Operations service desk.</a:t>
            </a:r>
          </a:p>
        </p:txBody>
      </p:sp>
      <p:sp>
        <p:nvSpPr>
          <p:cNvPr id="25" name="TextBox 24"/>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Agent Governance and Operations · Working proposal for senior leadership review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Catalogue design, coverage, classification, kill-switch architecture, runtime controls, original references, RACI, revenue attribution, cost layers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50256"/>
          </a:xfrm>
          <a:prstGeom prst="rect">
            <a:avLst/>
          </a:prstGeom>
          <a:noFill/>
        </p:spPr>
        <p:txBody>
          <a:bodyPr wrap="square" lIns="0" rIns="0" tIns="0" bIns="0" anchor="t">
            <a:noAutofit/>
          </a:bodyPr>
          <a:lstStyle/>
          <a:p>
            <a:pPr algn="l"/>
            <a:r>
              <a:rPr sz="1100" b="1" i="0">
                <a:solidFill>
                  <a:srgbClr val="2F78C4"/>
                </a:solidFill>
                <a:latin typeface="Arial"/>
              </a:rPr>
              <a:t>13  </a:t>
            </a:r>
            <a:r>
              <a:rPr sz="1100" b="1" i="0">
                <a:solidFill>
                  <a:srgbClr val="000048"/>
                </a:solidFill>
                <a:latin typeface="Arial"/>
              </a:rPr>
              <a:t>A0  </a:t>
            </a:r>
            <a:r>
              <a:rPr sz="1100" b="0" i="0">
                <a:solidFill>
                  <a:srgbClr val="1E1E2E"/>
                </a:solidFill>
                <a:latin typeface="Arial"/>
              </a:rPr>
              <a:t>Usage states: no telemetry is not no usage</a:t>
            </a:r>
          </a:p>
        </p:txBody>
      </p:sp>
      <p:sp>
        <p:nvSpPr>
          <p:cNvPr id="8" name="TextBox 7">
            <a:hlinkClick action="ppaction://hlinksldjump" r:id="rId5"/>
          </p:cNvPr>
          <p:cNvSpPr txBox="1"/>
          <p:nvPr/>
        </p:nvSpPr>
        <p:spPr>
          <a:xfrm>
            <a:off x="548640" y="1667576"/>
            <a:ext cx="5486400" cy="250256"/>
          </a:xfrm>
          <a:prstGeom prst="rect">
            <a:avLst/>
          </a:prstGeom>
          <a:noFill/>
        </p:spPr>
        <p:txBody>
          <a:bodyPr wrap="square" lIns="0" rIns="0" tIns="0" bIns="0" anchor="t">
            <a:noAutofit/>
          </a:bodyPr>
          <a:lstStyle/>
          <a:p>
            <a:pPr algn="l"/>
            <a:r>
              <a:rPr sz="1100" b="1" i="0">
                <a:solidFill>
                  <a:srgbClr val="2F78C4"/>
                </a:solidFill>
                <a:latin typeface="Arial"/>
              </a:rPr>
              <a:t>14  </a:t>
            </a:r>
            <a:r>
              <a:rPr sz="1100" b="1" i="0">
                <a:solidFill>
                  <a:srgbClr val="000048"/>
                </a:solidFill>
                <a:latin typeface="Arial"/>
              </a:rPr>
              <a:t>A1  </a:t>
            </a:r>
            <a:r>
              <a:rPr sz="1100" b="0" i="0">
                <a:solidFill>
                  <a:srgbClr val="1E1E2E"/>
                </a:solidFill>
                <a:latin typeface="Arial"/>
              </a:rPr>
              <a:t>Catalogue architecture (detailed)</a:t>
            </a:r>
          </a:p>
        </p:txBody>
      </p:sp>
      <p:sp>
        <p:nvSpPr>
          <p:cNvPr id="9" name="TextBox 8">
            <a:hlinkClick action="ppaction://hlinksldjump" r:id="rId6"/>
          </p:cNvPr>
          <p:cNvSpPr txBox="1"/>
          <p:nvPr/>
        </p:nvSpPr>
        <p:spPr>
          <a:xfrm>
            <a:off x="548640" y="1917833"/>
            <a:ext cx="5486400" cy="250256"/>
          </a:xfrm>
          <a:prstGeom prst="rect">
            <a:avLst/>
          </a:prstGeom>
          <a:noFill/>
        </p:spPr>
        <p:txBody>
          <a:bodyPr wrap="square" lIns="0" rIns="0" tIns="0" bIns="0" anchor="t">
            <a:noAutofit/>
          </a:bodyPr>
          <a:lstStyle/>
          <a:p>
            <a:pPr algn="l"/>
            <a:r>
              <a:rPr sz="1100" b="1" i="0">
                <a:solidFill>
                  <a:srgbClr val="2F78C4"/>
                </a:solidFill>
                <a:latin typeface="Arial"/>
              </a:rPr>
              <a:t>15  </a:t>
            </a:r>
            <a:r>
              <a:rPr sz="1100" b="1" i="0">
                <a:solidFill>
                  <a:srgbClr val="000048"/>
                </a:solidFill>
                <a:latin typeface="Arial"/>
              </a:rPr>
              <a:t>A2  </a:t>
            </a:r>
            <a:r>
              <a:rPr sz="1100" b="0" i="0">
                <a:solidFill>
                  <a:srgbClr val="1E1E2E"/>
                </a:solidFill>
                <a:latin typeface="Arial"/>
              </a:rPr>
              <a:t>Native versus custom capabilities</a:t>
            </a:r>
          </a:p>
        </p:txBody>
      </p:sp>
      <p:sp>
        <p:nvSpPr>
          <p:cNvPr id="10" name="TextBox 9">
            <a:hlinkClick action="ppaction://hlinksldjump" r:id="rId7"/>
          </p:cNvPr>
          <p:cNvSpPr txBox="1"/>
          <p:nvPr/>
        </p:nvSpPr>
        <p:spPr>
          <a:xfrm>
            <a:off x="548640" y="2168090"/>
            <a:ext cx="5486400" cy="250256"/>
          </a:xfrm>
          <a:prstGeom prst="rect">
            <a:avLst/>
          </a:prstGeom>
          <a:noFill/>
        </p:spPr>
        <p:txBody>
          <a:bodyPr wrap="square" lIns="0" rIns="0" tIns="0" bIns="0" anchor="t">
            <a:noAutofit/>
          </a:bodyPr>
          <a:lstStyle/>
          <a:p>
            <a:pPr algn="l"/>
            <a:r>
              <a:rPr sz="1100" b="1" i="0">
                <a:solidFill>
                  <a:srgbClr val="2F78C4"/>
                </a:solidFill>
                <a:latin typeface="Arial"/>
              </a:rPr>
              <a:t>16  </a:t>
            </a:r>
            <a:r>
              <a:rPr sz="1100" b="1" i="0">
                <a:solidFill>
                  <a:srgbClr val="000048"/>
                </a:solidFill>
                <a:latin typeface="Arial"/>
              </a:rPr>
              <a:t>A3  </a:t>
            </a:r>
            <a:r>
              <a:rPr sz="1100" b="0" i="0">
                <a:solidFill>
                  <a:srgbClr val="1E1E2E"/>
                </a:solidFill>
                <a:latin typeface="Arial"/>
              </a:rPr>
              <a:t>Minimum catalogue record</a:t>
            </a:r>
          </a:p>
        </p:txBody>
      </p:sp>
      <p:sp>
        <p:nvSpPr>
          <p:cNvPr id="11" name="TextBox 10">
            <a:hlinkClick action="ppaction://hlinksldjump" r:id="rId8"/>
          </p:cNvPr>
          <p:cNvSpPr txBox="1"/>
          <p:nvPr/>
        </p:nvSpPr>
        <p:spPr>
          <a:xfrm>
            <a:off x="548640" y="2418347"/>
            <a:ext cx="5486400" cy="250256"/>
          </a:xfrm>
          <a:prstGeom prst="rect">
            <a:avLst/>
          </a:prstGeom>
          <a:noFill/>
        </p:spPr>
        <p:txBody>
          <a:bodyPr wrap="square" lIns="0" rIns="0" tIns="0" bIns="0" anchor="t">
            <a:noAutofit/>
          </a:bodyPr>
          <a:lstStyle/>
          <a:p>
            <a:pPr algn="l"/>
            <a:r>
              <a:rPr sz="1100" b="1" i="0">
                <a:solidFill>
                  <a:srgbClr val="2F78C4"/>
                </a:solidFill>
                <a:latin typeface="Arial"/>
              </a:rPr>
              <a:t>17  </a:t>
            </a:r>
            <a:r>
              <a:rPr sz="1100" b="1" i="0">
                <a:solidFill>
                  <a:srgbClr val="000048"/>
                </a:solidFill>
                <a:latin typeface="Arial"/>
              </a:rPr>
              <a:t>A4  </a:t>
            </a:r>
            <a:r>
              <a:rPr sz="1100" b="0" i="0">
                <a:solidFill>
                  <a:srgbClr val="1E1E2E"/>
                </a:solidFill>
                <a:latin typeface="Arial"/>
              </a:rPr>
              <a:t>Inventory versus runtime evidence</a:t>
            </a:r>
          </a:p>
        </p:txBody>
      </p:sp>
      <p:sp>
        <p:nvSpPr>
          <p:cNvPr id="12" name="TextBox 11">
            <a:hlinkClick action="ppaction://hlinksldjump" r:id="rId9"/>
          </p:cNvPr>
          <p:cNvSpPr txBox="1"/>
          <p:nvPr/>
        </p:nvSpPr>
        <p:spPr>
          <a:xfrm>
            <a:off x="548640" y="2668604"/>
            <a:ext cx="5486400" cy="250256"/>
          </a:xfrm>
          <a:prstGeom prst="rect">
            <a:avLst/>
          </a:prstGeom>
          <a:noFill/>
        </p:spPr>
        <p:txBody>
          <a:bodyPr wrap="square" lIns="0" rIns="0" tIns="0" bIns="0" anchor="t">
            <a:noAutofit/>
          </a:bodyPr>
          <a:lstStyle/>
          <a:p>
            <a:pPr algn="l"/>
            <a:r>
              <a:rPr sz="1100" b="1" i="0">
                <a:solidFill>
                  <a:srgbClr val="2F78C4"/>
                </a:solidFill>
                <a:latin typeface="Arial"/>
              </a:rPr>
              <a:t>18  </a:t>
            </a:r>
            <a:r>
              <a:rPr sz="1100" b="1" i="0">
                <a:solidFill>
                  <a:srgbClr val="000048"/>
                </a:solidFill>
                <a:latin typeface="Arial"/>
              </a:rPr>
              <a:t>A5  </a:t>
            </a:r>
            <a:r>
              <a:rPr sz="1100" b="0" i="0">
                <a:solidFill>
                  <a:srgbClr val="1E1E2E"/>
                </a:solidFill>
                <a:latin typeface="Arial"/>
              </a:rPr>
              <a:t>Usage classification rules</a:t>
            </a:r>
          </a:p>
        </p:txBody>
      </p:sp>
      <p:sp>
        <p:nvSpPr>
          <p:cNvPr id="13" name="TextBox 12">
            <a:hlinkClick action="ppaction://hlinksldjump" r:id="rId10"/>
          </p:cNvPr>
          <p:cNvSpPr txBox="1"/>
          <p:nvPr/>
        </p:nvSpPr>
        <p:spPr>
          <a:xfrm>
            <a:off x="548640" y="2918861"/>
            <a:ext cx="5486400" cy="250256"/>
          </a:xfrm>
          <a:prstGeom prst="rect">
            <a:avLst/>
          </a:prstGeom>
          <a:noFill/>
        </p:spPr>
        <p:txBody>
          <a:bodyPr wrap="square" lIns="0" rIns="0" tIns="0" bIns="0" anchor="t">
            <a:noAutofit/>
          </a:bodyPr>
          <a:lstStyle/>
          <a:p>
            <a:pPr algn="l"/>
            <a:r>
              <a:rPr sz="1100" b="1" i="0">
                <a:solidFill>
                  <a:srgbClr val="2F78C4"/>
                </a:solidFill>
                <a:latin typeface="Arial"/>
              </a:rPr>
              <a:t>19  </a:t>
            </a:r>
            <a:r>
              <a:rPr sz="1100" b="1" i="0">
                <a:solidFill>
                  <a:srgbClr val="000048"/>
                </a:solidFill>
                <a:latin typeface="Arial"/>
              </a:rPr>
              <a:t>A6  </a:t>
            </a:r>
            <a:r>
              <a:rPr sz="1100" b="0" i="0">
                <a:solidFill>
                  <a:srgbClr val="1E1E2E"/>
                </a:solidFill>
                <a:latin typeface="Arial"/>
              </a:rPr>
              <a:t>Coverage: native, custom, outside</a:t>
            </a:r>
          </a:p>
        </p:txBody>
      </p:sp>
      <p:sp>
        <p:nvSpPr>
          <p:cNvPr id="14" name="TextBox 13">
            <a:hlinkClick action="ppaction://hlinksldjump" r:id="rId11"/>
          </p:cNvPr>
          <p:cNvSpPr txBox="1"/>
          <p:nvPr/>
        </p:nvSpPr>
        <p:spPr>
          <a:xfrm>
            <a:off x="548640" y="3169117"/>
            <a:ext cx="5486400" cy="250256"/>
          </a:xfrm>
          <a:prstGeom prst="rect">
            <a:avLst/>
          </a:prstGeom>
          <a:noFill/>
        </p:spPr>
        <p:txBody>
          <a:bodyPr wrap="square" lIns="0" rIns="0" tIns="0" bIns="0" anchor="t">
            <a:noAutofit/>
          </a:bodyPr>
          <a:lstStyle/>
          <a:p>
            <a:pPr algn="l"/>
            <a:r>
              <a:rPr sz="1100" b="1" i="0">
                <a:solidFill>
                  <a:srgbClr val="2F78C4"/>
                </a:solidFill>
                <a:latin typeface="Arial"/>
              </a:rPr>
              <a:t>20  </a:t>
            </a:r>
            <a:r>
              <a:rPr sz="1100" b="1" i="0">
                <a:solidFill>
                  <a:srgbClr val="000048"/>
                </a:solidFill>
                <a:latin typeface="Arial"/>
              </a:rPr>
              <a:t>A7  </a:t>
            </a:r>
            <a:r>
              <a:rPr sz="1100" b="0" i="0">
                <a:solidFill>
                  <a:srgbClr val="1E1E2E"/>
                </a:solidFill>
                <a:latin typeface="Arial"/>
              </a:rPr>
              <a:t>Illustrative catalogue dashboard</a:t>
            </a:r>
          </a:p>
        </p:txBody>
      </p:sp>
      <p:sp>
        <p:nvSpPr>
          <p:cNvPr id="15" name="TextBox 14">
            <a:hlinkClick action="ppaction://hlinksldjump" r:id="rId12"/>
          </p:cNvPr>
          <p:cNvSpPr txBox="1"/>
          <p:nvPr/>
        </p:nvSpPr>
        <p:spPr>
          <a:xfrm>
            <a:off x="548640" y="3419374"/>
            <a:ext cx="5486400" cy="250256"/>
          </a:xfrm>
          <a:prstGeom prst="rect">
            <a:avLst/>
          </a:prstGeom>
          <a:noFill/>
        </p:spPr>
        <p:txBody>
          <a:bodyPr wrap="square" lIns="0" rIns="0" tIns="0" bIns="0" anchor="t">
            <a:noAutofit/>
          </a:bodyPr>
          <a:lstStyle/>
          <a:p>
            <a:pPr algn="l"/>
            <a:r>
              <a:rPr sz="1100" b="1" i="0">
                <a:solidFill>
                  <a:srgbClr val="2F78C4"/>
                </a:solidFill>
                <a:latin typeface="Arial"/>
              </a:rPr>
              <a:t>21  </a:t>
            </a:r>
            <a:r>
              <a:rPr sz="1100" b="1" i="0">
                <a:solidFill>
                  <a:srgbClr val="000048"/>
                </a:solidFill>
                <a:latin typeface="Arial"/>
              </a:rPr>
              <a:t>K1  </a:t>
            </a:r>
            <a:r>
              <a:rPr sz="1100" b="0" i="0">
                <a:solidFill>
                  <a:srgbClr val="1E1E2E"/>
                </a:solidFill>
                <a:latin typeface="Arial"/>
              </a:rPr>
              <a:t>Kill-switch reference architecture</a:t>
            </a:r>
          </a:p>
        </p:txBody>
      </p:sp>
      <p:sp>
        <p:nvSpPr>
          <p:cNvPr id="16" name="TextBox 15">
            <a:hlinkClick action="ppaction://hlinksldjump" r:id="rId13"/>
          </p:cNvPr>
          <p:cNvSpPr txBox="1"/>
          <p:nvPr/>
        </p:nvSpPr>
        <p:spPr>
          <a:xfrm>
            <a:off x="548640" y="3669631"/>
            <a:ext cx="5486400" cy="250256"/>
          </a:xfrm>
          <a:prstGeom prst="rect">
            <a:avLst/>
          </a:prstGeom>
          <a:noFill/>
        </p:spPr>
        <p:txBody>
          <a:bodyPr wrap="square" lIns="0" rIns="0" tIns="0" bIns="0" anchor="t">
            <a:noAutofit/>
          </a:bodyPr>
          <a:lstStyle/>
          <a:p>
            <a:pPr algn="l"/>
            <a:r>
              <a:rPr sz="1100" b="1" i="0">
                <a:solidFill>
                  <a:srgbClr val="2F78C4"/>
                </a:solidFill>
                <a:latin typeface="Arial"/>
              </a:rPr>
              <a:t>22  </a:t>
            </a:r>
            <a:r>
              <a:rPr sz="1100" b="1" i="0">
                <a:solidFill>
                  <a:srgbClr val="000048"/>
                </a:solidFill>
                <a:latin typeface="Arial"/>
              </a:rPr>
              <a:t>K2  </a:t>
            </a:r>
            <a:r>
              <a:rPr sz="1100" b="0" i="0">
                <a:solidFill>
                  <a:srgbClr val="1E1E2E"/>
                </a:solidFill>
                <a:latin typeface="Arial"/>
              </a:rPr>
              <a:t>Block, cancel, deny: what each layer does</a:t>
            </a:r>
          </a:p>
        </p:txBody>
      </p:sp>
      <p:sp>
        <p:nvSpPr>
          <p:cNvPr id="17" name="TextBox 16">
            <a:hlinkClick action="ppaction://hlinksldjump" r:id="rId14"/>
          </p:cNvPr>
          <p:cNvSpPr txBox="1"/>
          <p:nvPr/>
        </p:nvSpPr>
        <p:spPr>
          <a:xfrm>
            <a:off x="548640" y="3919888"/>
            <a:ext cx="5486400" cy="250256"/>
          </a:xfrm>
          <a:prstGeom prst="rect">
            <a:avLst/>
          </a:prstGeom>
          <a:noFill/>
        </p:spPr>
        <p:txBody>
          <a:bodyPr wrap="square" lIns="0" rIns="0" tIns="0" bIns="0" anchor="t">
            <a:noAutofit/>
          </a:bodyPr>
          <a:lstStyle/>
          <a:p>
            <a:pPr algn="l"/>
            <a:r>
              <a:rPr sz="1100" b="1" i="0">
                <a:solidFill>
                  <a:srgbClr val="2F78C4"/>
                </a:solidFill>
                <a:latin typeface="Arial"/>
              </a:rPr>
              <a:t>23  </a:t>
            </a:r>
            <a:r>
              <a:rPr sz="1100" b="1" i="0">
                <a:solidFill>
                  <a:srgbClr val="000048"/>
                </a:solidFill>
                <a:latin typeface="Arial"/>
              </a:rPr>
              <a:t>K3  </a:t>
            </a:r>
            <a:r>
              <a:rPr sz="1100" b="0" i="0">
                <a:solidFill>
                  <a:srgbClr val="1E1E2E"/>
                </a:solidFill>
                <a:latin typeface="Arial"/>
              </a:rPr>
              <a:t>Containment limits</a:t>
            </a:r>
          </a:p>
        </p:txBody>
      </p:sp>
      <p:sp>
        <p:nvSpPr>
          <p:cNvPr id="18" name="TextBox 17">
            <a:hlinkClick action="ppaction://hlinksldjump" r:id="rId15"/>
          </p:cNvPr>
          <p:cNvSpPr txBox="1"/>
          <p:nvPr/>
        </p:nvSpPr>
        <p:spPr>
          <a:xfrm>
            <a:off x="548640" y="4170145"/>
            <a:ext cx="5486400" cy="250256"/>
          </a:xfrm>
          <a:prstGeom prst="rect">
            <a:avLst/>
          </a:prstGeom>
          <a:noFill/>
        </p:spPr>
        <p:txBody>
          <a:bodyPr wrap="square" lIns="0" rIns="0" tIns="0" bIns="0" anchor="t">
            <a:noAutofit/>
          </a:bodyPr>
          <a:lstStyle/>
          <a:p>
            <a:pPr algn="l"/>
            <a:r>
              <a:rPr sz="1100" b="1" i="0">
                <a:solidFill>
                  <a:srgbClr val="2F78C4"/>
                </a:solidFill>
                <a:latin typeface="Arial"/>
              </a:rPr>
              <a:t>24  </a:t>
            </a:r>
            <a:r>
              <a:rPr sz="1100" b="1" i="0">
                <a:solidFill>
                  <a:srgbClr val="000048"/>
                </a:solidFill>
                <a:latin typeface="Arial"/>
              </a:rPr>
              <a:t>K4  </a:t>
            </a:r>
            <a:r>
              <a:rPr sz="1100" b="0" i="0">
                <a:solidFill>
                  <a:srgbClr val="1E1E2E"/>
                </a:solidFill>
                <a:latin typeface="Arial"/>
              </a:rPr>
              <a:t>Containment test scenarios</a:t>
            </a:r>
          </a:p>
        </p:txBody>
      </p:sp>
      <p:sp>
        <p:nvSpPr>
          <p:cNvPr id="19" name="TextBox 18">
            <a:hlinkClick action="ppaction://hlinksldjump" r:id="rId16"/>
          </p:cNvPr>
          <p:cNvSpPr txBox="1"/>
          <p:nvPr/>
        </p:nvSpPr>
        <p:spPr>
          <a:xfrm>
            <a:off x="548640" y="4420402"/>
            <a:ext cx="5486400" cy="250256"/>
          </a:xfrm>
          <a:prstGeom prst="rect">
            <a:avLst/>
          </a:prstGeom>
          <a:noFill/>
        </p:spPr>
        <p:txBody>
          <a:bodyPr wrap="square" lIns="0" rIns="0" tIns="0" bIns="0" anchor="t">
            <a:noAutofit/>
          </a:bodyPr>
          <a:lstStyle/>
          <a:p>
            <a:pPr algn="l"/>
            <a:r>
              <a:rPr sz="1100" b="1" i="0">
                <a:solidFill>
                  <a:srgbClr val="2F78C4"/>
                </a:solidFill>
                <a:latin typeface="Arial"/>
              </a:rPr>
              <a:t>25  </a:t>
            </a:r>
            <a:r>
              <a:rPr sz="1100" b="1" i="0">
                <a:solidFill>
                  <a:srgbClr val="000048"/>
                </a:solidFill>
                <a:latin typeface="Arial"/>
              </a:rPr>
              <a:t>K5  </a:t>
            </a:r>
            <a:r>
              <a:rPr sz="1100" b="0" i="0">
                <a:solidFill>
                  <a:srgbClr val="1E1E2E"/>
                </a:solidFill>
                <a:latin typeface="Arial"/>
              </a:rPr>
              <a:t>Kill-switch proof-of-concept plan</a:t>
            </a:r>
          </a:p>
        </p:txBody>
      </p:sp>
      <p:sp>
        <p:nvSpPr>
          <p:cNvPr id="20" name="TextBox 19">
            <a:hlinkClick action="ppaction://hlinksldjump" r:id="rId17"/>
          </p:cNvPr>
          <p:cNvSpPr txBox="1"/>
          <p:nvPr/>
        </p:nvSpPr>
        <p:spPr>
          <a:xfrm>
            <a:off x="548640" y="4670658"/>
            <a:ext cx="5486400" cy="250256"/>
          </a:xfrm>
          <a:prstGeom prst="rect">
            <a:avLst/>
          </a:prstGeom>
          <a:noFill/>
        </p:spPr>
        <p:txBody>
          <a:bodyPr wrap="square" lIns="0" rIns="0" tIns="0" bIns="0" anchor="t">
            <a:noAutofit/>
          </a:bodyPr>
          <a:lstStyle/>
          <a:p>
            <a:pPr algn="l"/>
            <a:r>
              <a:rPr sz="1100" b="1" i="0">
                <a:solidFill>
                  <a:srgbClr val="2F78C4"/>
                </a:solidFill>
                <a:latin typeface="Arial"/>
              </a:rPr>
              <a:t>26  </a:t>
            </a:r>
            <a:r>
              <a:rPr sz="1100" b="1" i="0">
                <a:solidFill>
                  <a:srgbClr val="000048"/>
                </a:solidFill>
                <a:latin typeface="Arial"/>
              </a:rPr>
              <a:t>A8  </a:t>
            </a:r>
            <a:r>
              <a:rPr sz="1100" b="0" i="0">
                <a:solidFill>
                  <a:srgbClr val="1E1E2E"/>
                </a:solidFill>
                <a:latin typeface="Arial"/>
              </a:rPr>
              <a:t>Foundry lifecycle actions by agent type</a:t>
            </a:r>
          </a:p>
        </p:txBody>
      </p:sp>
      <p:sp>
        <p:nvSpPr>
          <p:cNvPr id="21" name="TextBox 20">
            <a:hlinkClick action="ppaction://hlinksldjump" r:id="rId18"/>
          </p:cNvPr>
          <p:cNvSpPr txBox="1"/>
          <p:nvPr/>
        </p:nvSpPr>
        <p:spPr>
          <a:xfrm>
            <a:off x="548640" y="4920915"/>
            <a:ext cx="5486400" cy="250256"/>
          </a:xfrm>
          <a:prstGeom prst="rect">
            <a:avLst/>
          </a:prstGeom>
          <a:noFill/>
        </p:spPr>
        <p:txBody>
          <a:bodyPr wrap="square" lIns="0" rIns="0" tIns="0" bIns="0" anchor="t">
            <a:noAutofit/>
          </a:bodyPr>
          <a:lstStyle/>
          <a:p>
            <a:pPr algn="l"/>
            <a:r>
              <a:rPr sz="1100" b="1" i="0">
                <a:solidFill>
                  <a:srgbClr val="2F78C4"/>
                </a:solidFill>
                <a:latin typeface="Arial"/>
              </a:rPr>
              <a:t>27  </a:t>
            </a:r>
            <a:r>
              <a:rPr sz="1100" b="1" i="0">
                <a:solidFill>
                  <a:srgbClr val="000048"/>
                </a:solidFill>
                <a:latin typeface="Arial"/>
              </a:rPr>
              <a:t>A9  </a:t>
            </a:r>
            <a:r>
              <a:rPr sz="1100" b="0" i="0">
                <a:solidFill>
                  <a:srgbClr val="1E1E2E"/>
                </a:solidFill>
                <a:latin typeface="Arial"/>
              </a:rPr>
              <a:t>Runtime limits and approvals</a:t>
            </a:r>
          </a:p>
        </p:txBody>
      </p:sp>
      <p:sp>
        <p:nvSpPr>
          <p:cNvPr id="22" name="TextBox 21">
            <a:hlinkClick action="ppaction://hlinksldjump" r:id="rId19"/>
          </p:cNvPr>
          <p:cNvSpPr txBox="1"/>
          <p:nvPr/>
        </p:nvSpPr>
        <p:spPr>
          <a:xfrm>
            <a:off x="548640" y="5171172"/>
            <a:ext cx="5486400" cy="250256"/>
          </a:xfrm>
          <a:prstGeom prst="rect">
            <a:avLst/>
          </a:prstGeom>
          <a:noFill/>
        </p:spPr>
        <p:txBody>
          <a:bodyPr wrap="square" lIns="0" rIns="0" tIns="0" bIns="0" anchor="t">
            <a:noAutofit/>
          </a:bodyPr>
          <a:lstStyle/>
          <a:p>
            <a:pPr algn="l"/>
            <a:r>
              <a:rPr sz="1100" b="1" i="0">
                <a:solidFill>
                  <a:srgbClr val="2F78C4"/>
                </a:solidFill>
                <a:latin typeface="Arial"/>
              </a:rPr>
              <a:t>28  </a:t>
            </a:r>
            <a:r>
              <a:rPr sz="1100" b="1" i="0">
                <a:solidFill>
                  <a:srgbClr val="000048"/>
                </a:solidFill>
                <a:latin typeface="Arial"/>
              </a:rPr>
              <a:t>A10  </a:t>
            </a:r>
            <a:r>
              <a:rPr sz="1100" b="0" i="0">
                <a:solidFill>
                  <a:srgbClr val="1E1E2E"/>
                </a:solidFill>
                <a:latin typeface="Arial"/>
              </a:rPr>
              <a:t>Agentic retrieval loop (adapted)</a:t>
            </a:r>
          </a:p>
        </p:txBody>
      </p:sp>
      <p:sp>
        <p:nvSpPr>
          <p:cNvPr id="23" name="TextBox 22">
            <a:hlinkClick action="ppaction://hlinksldjump" r:id="rId20"/>
          </p:cNvPr>
          <p:cNvSpPr txBox="1"/>
          <p:nvPr/>
        </p:nvSpPr>
        <p:spPr>
          <a:xfrm>
            <a:off x="548640" y="5421429"/>
            <a:ext cx="5486400" cy="250256"/>
          </a:xfrm>
          <a:prstGeom prst="rect">
            <a:avLst/>
          </a:prstGeom>
          <a:noFill/>
        </p:spPr>
        <p:txBody>
          <a:bodyPr wrap="square" lIns="0" rIns="0" tIns="0" bIns="0" anchor="t">
            <a:noAutofit/>
          </a:bodyPr>
          <a:lstStyle/>
          <a:p>
            <a:pPr algn="l"/>
            <a:r>
              <a:rPr sz="1100" b="1" i="0">
                <a:solidFill>
                  <a:srgbClr val="2F78C4"/>
                </a:solidFill>
                <a:latin typeface="Arial"/>
              </a:rPr>
              <a:t>29  </a:t>
            </a:r>
            <a:r>
              <a:rPr sz="1100" b="1" i="0">
                <a:solidFill>
                  <a:srgbClr val="000048"/>
                </a:solidFill>
                <a:latin typeface="Arial"/>
              </a:rPr>
              <a:t>A11  </a:t>
            </a:r>
            <a:r>
              <a:rPr sz="1100" b="0" i="0">
                <a:solidFill>
                  <a:srgbClr val="1E1E2E"/>
                </a:solidFill>
                <a:latin typeface="Arial"/>
              </a:rPr>
              <a:t>Multi-agent workload (adapted)</a:t>
            </a:r>
          </a:p>
        </p:txBody>
      </p:sp>
      <p:sp>
        <p:nvSpPr>
          <p:cNvPr id="24" name="TextBox 23">
            <a:hlinkClick action="ppaction://hlinksldjump" r:id="rId21"/>
          </p:cNvPr>
          <p:cNvSpPr txBox="1"/>
          <p:nvPr/>
        </p:nvSpPr>
        <p:spPr>
          <a:xfrm>
            <a:off x="548640" y="5671686"/>
            <a:ext cx="5486400" cy="250256"/>
          </a:xfrm>
          <a:prstGeom prst="rect">
            <a:avLst/>
          </a:prstGeom>
          <a:noFill/>
        </p:spPr>
        <p:txBody>
          <a:bodyPr wrap="square" lIns="0" rIns="0" tIns="0" bIns="0" anchor="t">
            <a:noAutofit/>
          </a:bodyPr>
          <a:lstStyle/>
          <a:p>
            <a:pPr algn="l"/>
            <a:r>
              <a:rPr sz="1100" b="1" i="0">
                <a:solidFill>
                  <a:srgbClr val="2F78C4"/>
                </a:solidFill>
                <a:latin typeface="Arial"/>
              </a:rPr>
              <a:t>30  </a:t>
            </a:r>
            <a:r>
              <a:rPr sz="1100" b="1" i="0">
                <a:solidFill>
                  <a:srgbClr val="000048"/>
                </a:solidFill>
                <a:latin typeface="Arial"/>
              </a:rPr>
              <a:t>A12  </a:t>
            </a:r>
            <a:r>
              <a:rPr sz="1100" b="0" i="0">
                <a:solidFill>
                  <a:srgbClr val="1E1E2E"/>
                </a:solidFill>
                <a:latin typeface="Arial"/>
              </a:rPr>
              <a:t>Operations, quality and economics signals</a:t>
            </a:r>
          </a:p>
        </p:txBody>
      </p:sp>
      <p:sp>
        <p:nvSpPr>
          <p:cNvPr id="25" name="TextBox 24">
            <a:hlinkClick action="ppaction://hlinksldjump" r:id="rId22"/>
          </p:cNvPr>
          <p:cNvSpPr txBox="1"/>
          <p:nvPr/>
        </p:nvSpPr>
        <p:spPr>
          <a:xfrm>
            <a:off x="548640" y="5921943"/>
            <a:ext cx="5486400" cy="250256"/>
          </a:xfrm>
          <a:prstGeom prst="rect">
            <a:avLst/>
          </a:prstGeom>
          <a:noFill/>
        </p:spPr>
        <p:txBody>
          <a:bodyPr wrap="square" lIns="0" rIns="0" tIns="0" bIns="0" anchor="t">
            <a:noAutofit/>
          </a:bodyPr>
          <a:lstStyle/>
          <a:p>
            <a:pPr algn="l"/>
            <a:r>
              <a:rPr sz="1100" b="1" i="0">
                <a:solidFill>
                  <a:srgbClr val="2F78C4"/>
                </a:solidFill>
                <a:latin typeface="Arial"/>
              </a:rPr>
              <a:t>31  </a:t>
            </a:r>
            <a:r>
              <a:rPr sz="1100" b="1" i="0">
                <a:solidFill>
                  <a:srgbClr val="000048"/>
                </a:solidFill>
                <a:latin typeface="Arial"/>
              </a:rPr>
              <a:t>A13  </a:t>
            </a:r>
            <a:r>
              <a:rPr sz="1100" b="0" i="0">
                <a:solidFill>
                  <a:srgbClr val="1E1E2E"/>
                </a:solidFill>
                <a:latin typeface="Arial"/>
              </a:rPr>
              <a:t>Containment runbook</a:t>
            </a:r>
          </a:p>
        </p:txBody>
      </p:sp>
      <p:sp>
        <p:nvSpPr>
          <p:cNvPr id="26" name="TextBox 25">
            <a:hlinkClick action="ppaction://hlinksldjump" r:id="rId23"/>
          </p:cNvPr>
          <p:cNvSpPr txBox="1"/>
          <p:nvPr/>
        </p:nvSpPr>
        <p:spPr>
          <a:xfrm>
            <a:off x="6217920" y="1417320"/>
            <a:ext cx="5486400" cy="250256"/>
          </a:xfrm>
          <a:prstGeom prst="rect">
            <a:avLst/>
          </a:prstGeom>
          <a:noFill/>
        </p:spPr>
        <p:txBody>
          <a:bodyPr wrap="square" lIns="0" rIns="0" tIns="0" bIns="0" anchor="t">
            <a:noAutofit/>
          </a:bodyPr>
          <a:lstStyle/>
          <a:p>
            <a:pPr algn="l"/>
            <a:r>
              <a:rPr sz="1100" b="1" i="0">
                <a:solidFill>
                  <a:srgbClr val="2F78C4"/>
                </a:solidFill>
                <a:latin typeface="Arial"/>
              </a:rPr>
              <a:t>32  </a:t>
            </a:r>
            <a:r>
              <a:rPr sz="1100" b="1" i="0">
                <a:solidFill>
                  <a:srgbClr val="000048"/>
                </a:solidFill>
                <a:latin typeface="Arial"/>
              </a:rPr>
              <a:t>A14  </a:t>
            </a:r>
            <a:r>
              <a:rPr sz="1100" b="0" i="0">
                <a:solidFill>
                  <a:srgbClr val="1E1E2E"/>
                </a:solidFill>
                <a:latin typeface="Arial"/>
              </a:rPr>
              <a:t>Delivery gates and acceptance</a:t>
            </a:r>
          </a:p>
        </p:txBody>
      </p:sp>
      <p:sp>
        <p:nvSpPr>
          <p:cNvPr id="27" name="TextBox 26">
            <a:hlinkClick action="ppaction://hlinksldjump" r:id="rId24"/>
          </p:cNvPr>
          <p:cNvSpPr txBox="1"/>
          <p:nvPr/>
        </p:nvSpPr>
        <p:spPr>
          <a:xfrm>
            <a:off x="6217920" y="1667576"/>
            <a:ext cx="5486400" cy="250256"/>
          </a:xfrm>
          <a:prstGeom prst="rect">
            <a:avLst/>
          </a:prstGeom>
          <a:noFill/>
        </p:spPr>
        <p:txBody>
          <a:bodyPr wrap="square" lIns="0" rIns="0" tIns="0" bIns="0" anchor="t">
            <a:noAutofit/>
          </a:bodyPr>
          <a:lstStyle/>
          <a:p>
            <a:pPr algn="l"/>
            <a:r>
              <a:rPr sz="1100" b="1" i="0">
                <a:solidFill>
                  <a:srgbClr val="2F78C4"/>
                </a:solidFill>
                <a:latin typeface="Arial"/>
              </a:rPr>
              <a:t>33  </a:t>
            </a:r>
            <a:r>
              <a:rPr sz="1100" b="1" i="0">
                <a:solidFill>
                  <a:srgbClr val="000048"/>
                </a:solidFill>
                <a:latin typeface="Arial"/>
              </a:rPr>
              <a:t>A15  </a:t>
            </a:r>
            <a:r>
              <a:rPr sz="1100" b="0" i="0">
                <a:solidFill>
                  <a:srgbClr val="1E1E2E"/>
                </a:solidFill>
                <a:latin typeface="Arial"/>
              </a:rPr>
              <a:t>Dormant review and retirement</a:t>
            </a:r>
          </a:p>
        </p:txBody>
      </p:sp>
      <p:sp>
        <p:nvSpPr>
          <p:cNvPr id="28" name="TextBox 27">
            <a:hlinkClick action="ppaction://hlinksldjump" r:id="rId25"/>
          </p:cNvPr>
          <p:cNvSpPr txBox="1"/>
          <p:nvPr/>
        </p:nvSpPr>
        <p:spPr>
          <a:xfrm>
            <a:off x="6217920" y="1917833"/>
            <a:ext cx="5486400" cy="250256"/>
          </a:xfrm>
          <a:prstGeom prst="rect">
            <a:avLst/>
          </a:prstGeom>
          <a:noFill/>
        </p:spPr>
        <p:txBody>
          <a:bodyPr wrap="square" lIns="0" rIns="0" tIns="0" bIns="0" anchor="t">
            <a:noAutofit/>
          </a:bodyPr>
          <a:lstStyle/>
          <a:p>
            <a:pPr algn="l"/>
            <a:r>
              <a:rPr sz="1100" b="1" i="0">
                <a:solidFill>
                  <a:srgbClr val="2F78C4"/>
                </a:solidFill>
                <a:latin typeface="Arial"/>
              </a:rPr>
              <a:t>34  </a:t>
            </a:r>
            <a:r>
              <a:rPr sz="1100" b="1" i="0">
                <a:solidFill>
                  <a:srgbClr val="000048"/>
                </a:solidFill>
                <a:latin typeface="Arial"/>
              </a:rPr>
              <a:t>A16  </a:t>
            </a:r>
            <a:r>
              <a:rPr sz="1100" b="0" i="0">
                <a:solidFill>
                  <a:srgbClr val="1E1E2E"/>
                </a:solidFill>
                <a:latin typeface="Arial"/>
              </a:rPr>
              <a:t>Build versus buy detail</a:t>
            </a:r>
          </a:p>
        </p:txBody>
      </p:sp>
      <p:sp>
        <p:nvSpPr>
          <p:cNvPr id="29" name="TextBox 28">
            <a:hlinkClick action="ppaction://hlinksldjump" r:id="rId26"/>
          </p:cNvPr>
          <p:cNvSpPr txBox="1"/>
          <p:nvPr/>
        </p:nvSpPr>
        <p:spPr>
          <a:xfrm>
            <a:off x="6217920" y="2168090"/>
            <a:ext cx="5486400" cy="250256"/>
          </a:xfrm>
          <a:prstGeom prst="rect">
            <a:avLst/>
          </a:prstGeom>
          <a:noFill/>
        </p:spPr>
        <p:txBody>
          <a:bodyPr wrap="square" lIns="0" rIns="0" tIns="0" bIns="0" anchor="t">
            <a:noAutofit/>
          </a:bodyPr>
          <a:lstStyle/>
          <a:p>
            <a:pPr algn="l"/>
            <a:r>
              <a:rPr sz="1100" b="1" i="0">
                <a:solidFill>
                  <a:srgbClr val="2F78C4"/>
                </a:solidFill>
                <a:latin typeface="Arial"/>
              </a:rPr>
              <a:t>35  </a:t>
            </a:r>
            <a:r>
              <a:rPr sz="1100" b="1" i="0">
                <a:solidFill>
                  <a:srgbClr val="000048"/>
                </a:solidFill>
                <a:latin typeface="Arial"/>
              </a:rPr>
              <a:t>A17  </a:t>
            </a:r>
            <a:r>
              <a:rPr sz="1100" b="0" i="0">
                <a:solidFill>
                  <a:srgbClr val="1E1E2E"/>
                </a:solidFill>
                <a:latin typeface="Arial"/>
              </a:rPr>
              <a:t>Licence prerequisites</a:t>
            </a:r>
          </a:p>
        </p:txBody>
      </p:sp>
      <p:sp>
        <p:nvSpPr>
          <p:cNvPr id="30" name="TextBox 29">
            <a:hlinkClick action="ppaction://hlinksldjump" r:id="rId27"/>
          </p:cNvPr>
          <p:cNvSpPr txBox="1"/>
          <p:nvPr/>
        </p:nvSpPr>
        <p:spPr>
          <a:xfrm>
            <a:off x="6217920" y="2418347"/>
            <a:ext cx="5486400" cy="250256"/>
          </a:xfrm>
          <a:prstGeom prst="rect">
            <a:avLst/>
          </a:prstGeom>
          <a:noFill/>
        </p:spPr>
        <p:txBody>
          <a:bodyPr wrap="square" lIns="0" rIns="0" tIns="0" bIns="0" anchor="t">
            <a:noAutofit/>
          </a:bodyPr>
          <a:lstStyle/>
          <a:p>
            <a:pPr algn="l"/>
            <a:r>
              <a:rPr sz="1100" b="1" i="0">
                <a:solidFill>
                  <a:srgbClr val="2F78C4"/>
                </a:solidFill>
                <a:latin typeface="Arial"/>
              </a:rPr>
              <a:t>36  </a:t>
            </a:r>
            <a:r>
              <a:rPr sz="1100" b="1" i="0">
                <a:solidFill>
                  <a:srgbClr val="000048"/>
                </a:solidFill>
                <a:latin typeface="Arial"/>
              </a:rPr>
              <a:t>A18  </a:t>
            </a:r>
            <a:r>
              <a:rPr sz="1100" b="0" i="0">
                <a:solidFill>
                  <a:srgbClr val="1E1E2E"/>
                </a:solidFill>
                <a:latin typeface="Arial"/>
              </a:rPr>
              <a:t>Copilot Studio governance roles</a:t>
            </a:r>
          </a:p>
        </p:txBody>
      </p:sp>
      <p:sp>
        <p:nvSpPr>
          <p:cNvPr id="31" name="TextBox 30">
            <a:hlinkClick action="ppaction://hlinksldjump" r:id="rId28"/>
          </p:cNvPr>
          <p:cNvSpPr txBox="1"/>
          <p:nvPr/>
        </p:nvSpPr>
        <p:spPr>
          <a:xfrm>
            <a:off x="6217920" y="2668604"/>
            <a:ext cx="5486400" cy="250256"/>
          </a:xfrm>
          <a:prstGeom prst="rect">
            <a:avLst/>
          </a:prstGeom>
          <a:noFill/>
        </p:spPr>
        <p:txBody>
          <a:bodyPr wrap="square" lIns="0" rIns="0" tIns="0" bIns="0" anchor="t">
            <a:noAutofit/>
          </a:bodyPr>
          <a:lstStyle/>
          <a:p>
            <a:pPr algn="l"/>
            <a:r>
              <a:rPr sz="1100" b="1" i="0">
                <a:solidFill>
                  <a:srgbClr val="2F78C4"/>
                </a:solidFill>
                <a:latin typeface="Arial"/>
              </a:rPr>
              <a:t>37  </a:t>
            </a:r>
            <a:r>
              <a:rPr sz="1100" b="1" i="0">
                <a:solidFill>
                  <a:srgbClr val="000048"/>
                </a:solidFill>
                <a:latin typeface="Arial"/>
              </a:rPr>
              <a:t>Q1  </a:t>
            </a:r>
            <a:r>
              <a:rPr sz="1100" b="0" i="0">
                <a:solidFill>
                  <a:srgbClr val="1E1E2E"/>
                </a:solidFill>
                <a:latin typeface="Arial"/>
              </a:rPr>
              <a:t>Qualification scorecard and account shortlist</a:t>
            </a:r>
          </a:p>
        </p:txBody>
      </p:sp>
      <p:sp>
        <p:nvSpPr>
          <p:cNvPr id="32" name="TextBox 31">
            <a:hlinkClick action="ppaction://hlinksldjump" r:id="rId29"/>
          </p:cNvPr>
          <p:cNvSpPr txBox="1"/>
          <p:nvPr/>
        </p:nvSpPr>
        <p:spPr>
          <a:xfrm>
            <a:off x="6217920" y="2918861"/>
            <a:ext cx="5486400" cy="250256"/>
          </a:xfrm>
          <a:prstGeom prst="rect">
            <a:avLst/>
          </a:prstGeom>
          <a:noFill/>
        </p:spPr>
        <p:txBody>
          <a:bodyPr wrap="square" lIns="0" rIns="0" tIns="0" bIns="0" anchor="t">
            <a:noAutofit/>
          </a:bodyPr>
          <a:lstStyle/>
          <a:p>
            <a:pPr algn="l"/>
            <a:r>
              <a:rPr sz="1100" b="1" i="0">
                <a:solidFill>
                  <a:srgbClr val="2F78C4"/>
                </a:solidFill>
                <a:latin typeface="Arial"/>
              </a:rPr>
              <a:t>38  </a:t>
            </a:r>
            <a:r>
              <a:rPr sz="1100" b="1" i="0">
                <a:solidFill>
                  <a:srgbClr val="000048"/>
                </a:solidFill>
                <a:latin typeface="Arial"/>
              </a:rPr>
              <a:t>E1  </a:t>
            </a:r>
            <a:r>
              <a:rPr sz="1100" b="0" i="0">
                <a:solidFill>
                  <a:srgbClr val="1E1E2E"/>
                </a:solidFill>
                <a:latin typeface="Arial"/>
              </a:rPr>
              <a:t>Estimate assumptions</a:t>
            </a:r>
          </a:p>
        </p:txBody>
      </p:sp>
      <p:sp>
        <p:nvSpPr>
          <p:cNvPr id="33" name="TextBox 32">
            <a:hlinkClick action="ppaction://hlinksldjump" r:id="rId30"/>
          </p:cNvPr>
          <p:cNvSpPr txBox="1"/>
          <p:nvPr/>
        </p:nvSpPr>
        <p:spPr>
          <a:xfrm>
            <a:off x="6217920" y="3169117"/>
            <a:ext cx="5486400" cy="250256"/>
          </a:xfrm>
          <a:prstGeom prst="rect">
            <a:avLst/>
          </a:prstGeom>
          <a:noFill/>
        </p:spPr>
        <p:txBody>
          <a:bodyPr wrap="square" lIns="0" rIns="0" tIns="0" bIns="0" anchor="t">
            <a:noAutofit/>
          </a:bodyPr>
          <a:lstStyle/>
          <a:p>
            <a:pPr algn="l"/>
            <a:r>
              <a:rPr sz="1100" b="1" i="0">
                <a:solidFill>
                  <a:srgbClr val="2F78C4"/>
                </a:solidFill>
                <a:latin typeface="Arial"/>
              </a:rPr>
              <a:t>39  </a:t>
            </a:r>
            <a:r>
              <a:rPr sz="1100" b="1" i="0">
                <a:solidFill>
                  <a:srgbClr val="000048"/>
                </a:solidFill>
                <a:latin typeface="Arial"/>
              </a:rPr>
              <a:t>SEC1  </a:t>
            </a:r>
            <a:r>
              <a:rPr sz="1100" b="0" i="0">
                <a:solidFill>
                  <a:srgbClr val="1E1E2E"/>
                </a:solidFill>
                <a:latin typeface="Arial"/>
              </a:rPr>
              <a:t>AI threat model and controls</a:t>
            </a:r>
          </a:p>
        </p:txBody>
      </p:sp>
      <p:sp>
        <p:nvSpPr>
          <p:cNvPr id="34" name="TextBox 33">
            <a:hlinkClick action="ppaction://hlinksldjump" r:id="rId31"/>
          </p:cNvPr>
          <p:cNvSpPr txBox="1"/>
          <p:nvPr/>
        </p:nvSpPr>
        <p:spPr>
          <a:xfrm>
            <a:off x="6217920" y="3419374"/>
            <a:ext cx="5486400" cy="250256"/>
          </a:xfrm>
          <a:prstGeom prst="rect">
            <a:avLst/>
          </a:prstGeom>
          <a:noFill/>
        </p:spPr>
        <p:txBody>
          <a:bodyPr wrap="square" lIns="0" rIns="0" tIns="0" bIns="0" anchor="t">
            <a:noAutofit/>
          </a:bodyPr>
          <a:lstStyle/>
          <a:p>
            <a:pPr algn="l"/>
            <a:r>
              <a:rPr sz="1100" b="1" i="0">
                <a:solidFill>
                  <a:srgbClr val="2F78C4"/>
                </a:solidFill>
                <a:latin typeface="Arial"/>
              </a:rPr>
              <a:t>40  </a:t>
            </a:r>
            <a:r>
              <a:rPr sz="1100" b="1" i="0">
                <a:solidFill>
                  <a:srgbClr val="000048"/>
                </a:solidFill>
                <a:latin typeface="Arial"/>
              </a:rPr>
              <a:t>SEC2  </a:t>
            </a:r>
            <a:r>
              <a:rPr sz="1100" b="0" i="0">
                <a:solidFill>
                  <a:srgbClr val="1E1E2E"/>
                </a:solidFill>
                <a:latin typeface="Arial"/>
              </a:rPr>
              <a:t>Security services and regulation</a:t>
            </a:r>
          </a:p>
        </p:txBody>
      </p:sp>
      <p:sp>
        <p:nvSpPr>
          <p:cNvPr id="35" name="TextBox 34">
            <a:hlinkClick action="ppaction://hlinksldjump" r:id="rId32"/>
          </p:cNvPr>
          <p:cNvSpPr txBox="1"/>
          <p:nvPr/>
        </p:nvSpPr>
        <p:spPr>
          <a:xfrm>
            <a:off x="6217920" y="3669631"/>
            <a:ext cx="5486400" cy="250256"/>
          </a:xfrm>
          <a:prstGeom prst="rect">
            <a:avLst/>
          </a:prstGeom>
          <a:noFill/>
        </p:spPr>
        <p:txBody>
          <a:bodyPr wrap="square" lIns="0" rIns="0" tIns="0" bIns="0" anchor="t">
            <a:noAutofit/>
          </a:bodyPr>
          <a:lstStyle/>
          <a:p>
            <a:pPr algn="l"/>
            <a:r>
              <a:rPr sz="1100" b="1" i="0">
                <a:solidFill>
                  <a:srgbClr val="2F78C4"/>
                </a:solidFill>
                <a:latin typeface="Arial"/>
              </a:rPr>
              <a:t>41  </a:t>
            </a:r>
            <a:r>
              <a:rPr sz="1100" b="1" i="0">
                <a:solidFill>
                  <a:srgbClr val="000048"/>
                </a:solidFill>
                <a:latin typeface="Arial"/>
              </a:rPr>
              <a:t>G1  </a:t>
            </a:r>
            <a:r>
              <a:rPr sz="1100" b="0" i="0">
                <a:solidFill>
                  <a:srgbClr val="1E1E2E"/>
                </a:solidFill>
                <a:latin typeface="Arial"/>
              </a:rPr>
              <a:t>Glossary</a:t>
            </a:r>
          </a:p>
        </p:txBody>
      </p:sp>
      <p:sp>
        <p:nvSpPr>
          <p:cNvPr id="36" name="TextBox 35">
            <a:hlinkClick action="ppaction://hlinksldjump" r:id="rId33"/>
          </p:cNvPr>
          <p:cNvSpPr txBox="1"/>
          <p:nvPr/>
        </p:nvSpPr>
        <p:spPr>
          <a:xfrm>
            <a:off x="6217920" y="3919888"/>
            <a:ext cx="5486400" cy="250256"/>
          </a:xfrm>
          <a:prstGeom prst="rect">
            <a:avLst/>
          </a:prstGeom>
          <a:noFill/>
        </p:spPr>
        <p:txBody>
          <a:bodyPr wrap="square" lIns="0" rIns="0" tIns="0" bIns="0" anchor="t">
            <a:noAutofit/>
          </a:bodyPr>
          <a:lstStyle/>
          <a:p>
            <a:pPr algn="l"/>
            <a:r>
              <a:rPr sz="1100" b="1" i="0">
                <a:solidFill>
                  <a:srgbClr val="2F78C4"/>
                </a:solidFill>
                <a:latin typeface="Arial"/>
              </a:rPr>
              <a:t>42  </a:t>
            </a:r>
            <a:r>
              <a:rPr sz="1100" b="1" i="0">
                <a:solidFill>
                  <a:srgbClr val="000048"/>
                </a:solidFill>
                <a:latin typeface="Arial"/>
              </a:rPr>
              <a:t>C1  </a:t>
            </a:r>
            <a:r>
              <a:rPr sz="1100" b="0" i="0">
                <a:solidFill>
                  <a:srgbClr val="1E1E2E"/>
                </a:solidFill>
                <a:latin typeface="Arial"/>
              </a:rPr>
              <a:t>Cost layers and pricing formula</a:t>
            </a:r>
          </a:p>
        </p:txBody>
      </p:sp>
      <p:sp>
        <p:nvSpPr>
          <p:cNvPr id="37" name="TextBox 36">
            <a:hlinkClick action="ppaction://hlinksldjump" r:id="rId34"/>
          </p:cNvPr>
          <p:cNvSpPr txBox="1"/>
          <p:nvPr/>
        </p:nvSpPr>
        <p:spPr>
          <a:xfrm>
            <a:off x="6217920" y="4170145"/>
            <a:ext cx="5486400" cy="250256"/>
          </a:xfrm>
          <a:prstGeom prst="rect">
            <a:avLst/>
          </a:prstGeom>
          <a:noFill/>
        </p:spPr>
        <p:txBody>
          <a:bodyPr wrap="square" lIns="0" rIns="0" tIns="0" bIns="0" anchor="t">
            <a:noAutofit/>
          </a:bodyPr>
          <a:lstStyle/>
          <a:p>
            <a:pPr algn="l"/>
            <a:r>
              <a:rPr sz="1100" b="1" i="0">
                <a:solidFill>
                  <a:srgbClr val="2F78C4"/>
                </a:solidFill>
                <a:latin typeface="Arial"/>
              </a:rPr>
              <a:t>43  </a:t>
            </a:r>
            <a:r>
              <a:rPr sz="1100" b="1" i="0">
                <a:solidFill>
                  <a:srgbClr val="000048"/>
                </a:solidFill>
                <a:latin typeface="Arial"/>
              </a:rPr>
              <a:t>R1  </a:t>
            </a:r>
            <a:r>
              <a:rPr sz="1100" b="0" i="0">
                <a:solidFill>
                  <a:srgbClr val="1E1E2E"/>
                </a:solidFill>
                <a:latin typeface="Arial"/>
              </a:rPr>
              <a:t>RACI matrix</a:t>
            </a:r>
          </a:p>
        </p:txBody>
      </p:sp>
      <p:sp>
        <p:nvSpPr>
          <p:cNvPr id="38" name="TextBox 37">
            <a:hlinkClick action="ppaction://hlinksldjump" r:id="rId35"/>
          </p:cNvPr>
          <p:cNvSpPr txBox="1"/>
          <p:nvPr/>
        </p:nvSpPr>
        <p:spPr>
          <a:xfrm>
            <a:off x="6217920" y="4420402"/>
            <a:ext cx="5486400" cy="250256"/>
          </a:xfrm>
          <a:prstGeom prst="rect">
            <a:avLst/>
          </a:prstGeom>
          <a:noFill/>
        </p:spPr>
        <p:txBody>
          <a:bodyPr wrap="square" lIns="0" rIns="0" tIns="0" bIns="0" anchor="t">
            <a:noAutofit/>
          </a:bodyPr>
          <a:lstStyle/>
          <a:p>
            <a:pPr algn="l"/>
            <a:r>
              <a:rPr sz="1100" b="1" i="0">
                <a:solidFill>
                  <a:srgbClr val="2F78C4"/>
                </a:solidFill>
                <a:latin typeface="Arial"/>
              </a:rPr>
              <a:t>44  </a:t>
            </a:r>
            <a:r>
              <a:rPr sz="1100" b="1" i="0">
                <a:solidFill>
                  <a:srgbClr val="000048"/>
                </a:solidFill>
                <a:latin typeface="Arial"/>
              </a:rPr>
              <a:t>R2  </a:t>
            </a:r>
            <a:r>
              <a:rPr sz="1100" b="0" i="0">
                <a:solidFill>
                  <a:srgbClr val="1E1E2E"/>
                </a:solidFill>
                <a:latin typeface="Arial"/>
              </a:rPr>
              <a:t>Revenue attribution framework</a:t>
            </a:r>
          </a:p>
        </p:txBody>
      </p:sp>
      <p:sp>
        <p:nvSpPr>
          <p:cNvPr id="39" name="TextBox 38">
            <a:hlinkClick action="ppaction://hlinksldjump" r:id="rId36"/>
          </p:cNvPr>
          <p:cNvSpPr txBox="1"/>
          <p:nvPr/>
        </p:nvSpPr>
        <p:spPr>
          <a:xfrm>
            <a:off x="6217920" y="4670658"/>
            <a:ext cx="5486400" cy="250256"/>
          </a:xfrm>
          <a:prstGeom prst="rect">
            <a:avLst/>
          </a:prstGeom>
          <a:noFill/>
        </p:spPr>
        <p:txBody>
          <a:bodyPr wrap="square" lIns="0" rIns="0" tIns="0" bIns="0" anchor="t">
            <a:noAutofit/>
          </a:bodyPr>
          <a:lstStyle/>
          <a:p>
            <a:pPr algn="l"/>
            <a:r>
              <a:rPr sz="1100" b="1" i="0">
                <a:solidFill>
                  <a:srgbClr val="2F78C4"/>
                </a:solidFill>
                <a:latin typeface="Arial"/>
              </a:rPr>
              <a:t>45  </a:t>
            </a:r>
            <a:r>
              <a:rPr sz="1100" b="1" i="0">
                <a:solidFill>
                  <a:srgbClr val="000048"/>
                </a:solidFill>
                <a:latin typeface="Arial"/>
              </a:rPr>
              <a:t>R3  </a:t>
            </a:r>
            <a:r>
              <a:rPr sz="1100" b="0" i="0">
                <a:solidFill>
                  <a:srgbClr val="1E1E2E"/>
                </a:solidFill>
                <a:latin typeface="Arial"/>
              </a:rPr>
              <a:t>Delivery and commercial readiness</a:t>
            </a:r>
          </a:p>
        </p:txBody>
      </p:sp>
      <p:sp>
        <p:nvSpPr>
          <p:cNvPr id="40" name="TextBox 39">
            <a:hlinkClick action="ppaction://hlinksldjump" r:id="rId37"/>
          </p:cNvPr>
          <p:cNvSpPr txBox="1"/>
          <p:nvPr/>
        </p:nvSpPr>
        <p:spPr>
          <a:xfrm>
            <a:off x="6217920" y="4920915"/>
            <a:ext cx="5486400" cy="250256"/>
          </a:xfrm>
          <a:prstGeom prst="rect">
            <a:avLst/>
          </a:prstGeom>
          <a:noFill/>
        </p:spPr>
        <p:txBody>
          <a:bodyPr wrap="square" lIns="0" rIns="0" tIns="0" bIns="0" anchor="t">
            <a:noAutofit/>
          </a:bodyPr>
          <a:lstStyle/>
          <a:p>
            <a:pPr algn="l"/>
            <a:r>
              <a:rPr sz="1100" b="1" i="0">
                <a:solidFill>
                  <a:srgbClr val="2F78C4"/>
                </a:solidFill>
                <a:latin typeface="Arial"/>
              </a:rPr>
              <a:t>46  </a:t>
            </a:r>
            <a:r>
              <a:rPr sz="1100" b="1" i="0">
                <a:solidFill>
                  <a:srgbClr val="000048"/>
                </a:solidFill>
                <a:latin typeface="Arial"/>
              </a:rPr>
              <a:t>D1  </a:t>
            </a:r>
            <a:r>
              <a:rPr sz="1100" b="0" i="0">
                <a:solidFill>
                  <a:srgbClr val="1E1E2E"/>
                </a:solidFill>
                <a:latin typeface="Arial"/>
              </a:rPr>
              <a:t>Decision and approval register</a:t>
            </a:r>
          </a:p>
        </p:txBody>
      </p:sp>
      <p:sp>
        <p:nvSpPr>
          <p:cNvPr id="41" name="TextBox 40">
            <a:hlinkClick action="ppaction://hlinksldjump" r:id="rId38"/>
          </p:cNvPr>
          <p:cNvSpPr txBox="1"/>
          <p:nvPr/>
        </p:nvSpPr>
        <p:spPr>
          <a:xfrm>
            <a:off x="6217920" y="5171172"/>
            <a:ext cx="5486400" cy="250256"/>
          </a:xfrm>
          <a:prstGeom prst="rect">
            <a:avLst/>
          </a:prstGeom>
          <a:noFill/>
        </p:spPr>
        <p:txBody>
          <a:bodyPr wrap="square" lIns="0" rIns="0" tIns="0" bIns="0" anchor="t">
            <a:noAutofit/>
          </a:bodyPr>
          <a:lstStyle/>
          <a:p>
            <a:pPr algn="l"/>
            <a:r>
              <a:rPr sz="1100" b="1" i="0">
                <a:solidFill>
                  <a:srgbClr val="2F78C4"/>
                </a:solidFill>
                <a:latin typeface="Arial"/>
              </a:rPr>
              <a:t>47  </a:t>
            </a:r>
            <a:r>
              <a:rPr sz="1100" b="1" i="0">
                <a:solidFill>
                  <a:srgbClr val="000048"/>
                </a:solidFill>
                <a:latin typeface="Arial"/>
              </a:rPr>
              <a:t>O1  </a:t>
            </a:r>
            <a:r>
              <a:rPr sz="1100" b="0" i="0">
                <a:solidFill>
                  <a:srgbClr val="1E1E2E"/>
                </a:solidFill>
                <a:latin typeface="Arial"/>
              </a:rPr>
              <a:t>Original: multiple-agent workflow</a:t>
            </a:r>
          </a:p>
        </p:txBody>
      </p:sp>
      <p:sp>
        <p:nvSpPr>
          <p:cNvPr id="42" name="TextBox 41">
            <a:hlinkClick action="ppaction://hlinksldjump" r:id="rId39"/>
          </p:cNvPr>
          <p:cNvSpPr txBox="1"/>
          <p:nvPr/>
        </p:nvSpPr>
        <p:spPr>
          <a:xfrm>
            <a:off x="6217920" y="5421429"/>
            <a:ext cx="5486400" cy="250256"/>
          </a:xfrm>
          <a:prstGeom prst="rect">
            <a:avLst/>
          </a:prstGeom>
          <a:noFill/>
        </p:spPr>
        <p:txBody>
          <a:bodyPr wrap="square" lIns="0" rIns="0" tIns="0" bIns="0" anchor="t">
            <a:noAutofit/>
          </a:bodyPr>
          <a:lstStyle/>
          <a:p>
            <a:pPr algn="l"/>
            <a:r>
              <a:rPr sz="1100" b="1" i="0">
                <a:solidFill>
                  <a:srgbClr val="2F78C4"/>
                </a:solidFill>
                <a:latin typeface="Arial"/>
              </a:rPr>
              <a:t>48  </a:t>
            </a:r>
            <a:r>
              <a:rPr sz="1100" b="1" i="0">
                <a:solidFill>
                  <a:srgbClr val="000048"/>
                </a:solidFill>
                <a:latin typeface="Arial"/>
              </a:rPr>
              <a:t>O2  </a:t>
            </a:r>
            <a:r>
              <a:rPr sz="1100" b="0" i="0">
                <a:solidFill>
                  <a:srgbClr val="1E1E2E"/>
                </a:solidFill>
                <a:latin typeface="Arial"/>
              </a:rPr>
              <a:t>Original: agentic RAG loop</a:t>
            </a:r>
          </a:p>
        </p:txBody>
      </p:sp>
      <p:sp>
        <p:nvSpPr>
          <p:cNvPr id="43" name="TextBox 42">
            <a:hlinkClick action="ppaction://hlinksldjump" r:id="rId40"/>
          </p:cNvPr>
          <p:cNvSpPr txBox="1"/>
          <p:nvPr/>
        </p:nvSpPr>
        <p:spPr>
          <a:xfrm>
            <a:off x="6217920" y="5671686"/>
            <a:ext cx="5486400" cy="250256"/>
          </a:xfrm>
          <a:prstGeom prst="rect">
            <a:avLst/>
          </a:prstGeom>
          <a:noFill/>
        </p:spPr>
        <p:txBody>
          <a:bodyPr wrap="square" lIns="0" rIns="0" tIns="0" bIns="0" anchor="t">
            <a:noAutofit/>
          </a:bodyPr>
          <a:lstStyle/>
          <a:p>
            <a:pPr algn="l"/>
            <a:r>
              <a:rPr sz="1100" b="1" i="0">
                <a:solidFill>
                  <a:srgbClr val="2F78C4"/>
                </a:solidFill>
                <a:latin typeface="Arial"/>
              </a:rPr>
              <a:t>49  </a:t>
            </a:r>
            <a:r>
              <a:rPr sz="1100" b="1" i="0">
                <a:solidFill>
                  <a:srgbClr val="000048"/>
                </a:solidFill>
                <a:latin typeface="Arial"/>
              </a:rPr>
              <a:t>O3  </a:t>
            </a:r>
            <a:r>
              <a:rPr sz="1100" b="0" i="0">
                <a:solidFill>
                  <a:srgbClr val="1E1E2E"/>
                </a:solidFill>
                <a:latin typeface="Arial"/>
              </a:rPr>
              <a:t>Original: Foundry baseline</a:t>
            </a:r>
          </a:p>
        </p:txBody>
      </p:sp>
      <p:sp>
        <p:nvSpPr>
          <p:cNvPr id="44" name="TextBox 43">
            <a:hlinkClick action="ppaction://hlinksldjump" r:id="rId41"/>
          </p:cNvPr>
          <p:cNvSpPr txBox="1"/>
          <p:nvPr/>
        </p:nvSpPr>
        <p:spPr>
          <a:xfrm>
            <a:off x="6217920" y="5921943"/>
            <a:ext cx="5486400" cy="250256"/>
          </a:xfrm>
          <a:prstGeom prst="rect">
            <a:avLst/>
          </a:prstGeom>
          <a:noFill/>
        </p:spPr>
        <p:txBody>
          <a:bodyPr wrap="square" lIns="0" rIns="0" tIns="0" bIns="0" anchor="t">
            <a:noAutofit/>
          </a:bodyPr>
          <a:lstStyle/>
          <a:p>
            <a:pPr algn="l"/>
            <a:r>
              <a:rPr sz="1100" b="1" i="0">
                <a:solidFill>
                  <a:srgbClr val="2F78C4"/>
                </a:solidFill>
                <a:latin typeface="Arial"/>
              </a:rPr>
              <a:t>50  </a:t>
            </a:r>
            <a:r>
              <a:rPr sz="1100" b="1" i="0">
                <a:solidFill>
                  <a:srgbClr val="000048"/>
                </a:solidFill>
                <a:latin typeface="Arial"/>
              </a:rPr>
              <a:t>S1  </a:t>
            </a:r>
            <a:r>
              <a:rPr sz="11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No telemetry is not proof of no usage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A0</a:t>
            </a:r>
          </a:p>
        </p:txBody>
      </p:sp>
      <p:sp>
        <p:nvSpPr>
          <p:cNvPr id="5" name="Status chip: PROPOSED RULE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RULES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sp>
        <p:nvSpPr>
          <p:cNvPr id="9" name="Rounded Rectangle 8"/>
          <p:cNvSpPr/>
          <p:nvPr/>
        </p:nvSpPr>
        <p:spPr>
          <a:xfrm>
            <a:off x="548640" y="1371600"/>
            <a:ext cx="2743200" cy="603504"/>
          </a:xfrm>
          <a:prstGeom prst="roundRect">
            <a:avLst>
              <a:gd name="adj" fmla="val 12121"/>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1D6B3A"/>
                </a:solidFill>
                <a:latin typeface="Arial"/>
              </a:rPr>
              <a:t>Active</a:t>
            </a:r>
          </a:p>
        </p:txBody>
      </p:sp>
      <p:sp>
        <p:nvSpPr>
          <p:cNvPr id="10" name="TextBox 9"/>
          <p:cNvSpPr txBox="1"/>
          <p:nvPr/>
        </p:nvSpPr>
        <p:spPr>
          <a:xfrm>
            <a:off x="3520440" y="1481328"/>
            <a:ext cx="5120640" cy="457200"/>
          </a:xfrm>
          <a:prstGeom prst="rect">
            <a:avLst/>
          </a:prstGeom>
          <a:noFill/>
        </p:spPr>
        <p:txBody>
          <a:bodyPr wrap="square" lIns="0" rIns="0" tIns="0" bIns="0" anchor="t">
            <a:noAutofit/>
          </a:bodyPr>
          <a:lstStyle/>
          <a:p>
            <a:pPr algn="l"/>
            <a:r>
              <a:rPr sz="1700" b="0" i="0">
                <a:solidFill>
                  <a:srgbClr val="1E1E2E"/>
                </a:solidFill>
                <a:latin typeface="Arial"/>
              </a:rPr>
              <a:t>Qualifying runs in the last 30 days</a:t>
            </a:r>
          </a:p>
        </p:txBody>
      </p:sp>
      <p:sp>
        <p:nvSpPr>
          <p:cNvPr id="11" name="TextBox 10"/>
          <p:cNvSpPr txBox="1"/>
          <p:nvPr/>
        </p:nvSpPr>
        <p:spPr>
          <a:xfrm>
            <a:off x="8778240" y="1481328"/>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Monitor outcomes</a:t>
            </a:r>
          </a:p>
        </p:txBody>
      </p:sp>
      <p:sp>
        <p:nvSpPr>
          <p:cNvPr id="12" name="Rounded Rectangle 11"/>
          <p:cNvSpPr/>
          <p:nvPr/>
        </p:nvSpPr>
        <p:spPr>
          <a:xfrm>
            <a:off x="548640" y="2084832"/>
            <a:ext cx="2743200" cy="603504"/>
          </a:xfrm>
          <a:prstGeom prst="roundRect">
            <a:avLst>
              <a:gd name="adj" fmla="val 121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Never observed</a:t>
            </a:r>
          </a:p>
        </p:txBody>
      </p:sp>
      <p:sp>
        <p:nvSpPr>
          <p:cNvPr id="13" name="TextBox 12"/>
          <p:cNvSpPr txBox="1"/>
          <p:nvPr/>
        </p:nvSpPr>
        <p:spPr>
          <a:xfrm>
            <a:off x="3520440" y="2194560"/>
            <a:ext cx="5120640" cy="457200"/>
          </a:xfrm>
          <a:prstGeom prst="rect">
            <a:avLst/>
          </a:prstGeom>
          <a:noFill/>
        </p:spPr>
        <p:txBody>
          <a:bodyPr wrap="square" lIns="0" rIns="0" tIns="0" bIns="0" anchor="t">
            <a:noAutofit/>
          </a:bodyPr>
          <a:lstStyle/>
          <a:p>
            <a:pPr algn="l"/>
            <a:r>
              <a:rPr sz="1700" b="0" i="0">
                <a:solidFill>
                  <a:srgbClr val="1E1E2E"/>
                </a:solidFill>
                <a:latin typeface="Arial"/>
              </a:rPr>
              <a:t>Deployed; no run recorded since onboarding</a:t>
            </a:r>
          </a:p>
        </p:txBody>
      </p:sp>
      <p:sp>
        <p:nvSpPr>
          <p:cNvPr id="14" name="TextBox 13"/>
          <p:cNvSpPr txBox="1"/>
          <p:nvPr/>
        </p:nvSpPr>
        <p:spPr>
          <a:xfrm>
            <a:off x="8778240" y="2194560"/>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Validate onboarding</a:t>
            </a:r>
          </a:p>
        </p:txBody>
      </p:sp>
      <p:sp>
        <p:nvSpPr>
          <p:cNvPr id="15" name="Rounded Rectangle 14"/>
          <p:cNvSpPr/>
          <p:nvPr/>
        </p:nvSpPr>
        <p:spPr>
          <a:xfrm>
            <a:off x="548640" y="2798064"/>
            <a:ext cx="2743200" cy="603504"/>
          </a:xfrm>
          <a:prstGeom prst="roundRect">
            <a:avLst>
              <a:gd name="adj" fmla="val 1212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8A4B08"/>
                </a:solidFill>
                <a:latin typeface="Arial"/>
              </a:rPr>
              <a:t>Dormant candidate</a:t>
            </a:r>
          </a:p>
        </p:txBody>
      </p:sp>
      <p:sp>
        <p:nvSpPr>
          <p:cNvPr id="16" name="TextBox 15"/>
          <p:cNvSpPr txBox="1"/>
          <p:nvPr/>
        </p:nvSpPr>
        <p:spPr>
          <a:xfrm>
            <a:off x="3520440" y="2907792"/>
            <a:ext cx="5120640" cy="457200"/>
          </a:xfrm>
          <a:prstGeom prst="rect">
            <a:avLst/>
          </a:prstGeom>
          <a:noFill/>
        </p:spPr>
        <p:txBody>
          <a:bodyPr wrap="square" lIns="0" rIns="0" tIns="0" bIns="0" anchor="t">
            <a:noAutofit/>
          </a:bodyPr>
          <a:lstStyle/>
          <a:p>
            <a:pPr algn="l"/>
            <a:r>
              <a:rPr sz="1700" b="0" i="0">
                <a:solidFill>
                  <a:srgbClr val="1E1E2E"/>
                </a:solidFill>
                <a:latin typeface="Arial"/>
              </a:rPr>
              <a:t>No runs for 30 days; telemetry healthy</a:t>
            </a:r>
          </a:p>
        </p:txBody>
      </p:sp>
      <p:sp>
        <p:nvSpPr>
          <p:cNvPr id="17" name="TextBox 16"/>
          <p:cNvSpPr txBox="1"/>
          <p:nvPr/>
        </p:nvSpPr>
        <p:spPr>
          <a:xfrm>
            <a:off x="8778240" y="2907792"/>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Owner review</a:t>
            </a:r>
          </a:p>
        </p:txBody>
      </p:sp>
      <p:sp>
        <p:nvSpPr>
          <p:cNvPr id="18" name="Rounded Rectangle 17"/>
          <p:cNvSpPr/>
          <p:nvPr/>
        </p:nvSpPr>
        <p:spPr>
          <a:xfrm>
            <a:off x="548640" y="3511296"/>
            <a:ext cx="2743200" cy="603504"/>
          </a:xfrm>
          <a:prstGeom prst="roundRect">
            <a:avLst>
              <a:gd name="adj" fmla="val 12121"/>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53565A"/>
                </a:solidFill>
                <a:latin typeface="Arial"/>
              </a:rPr>
              <a:t>Telemetry unknown</a:t>
            </a:r>
          </a:p>
        </p:txBody>
      </p:sp>
      <p:sp>
        <p:nvSpPr>
          <p:cNvPr id="19" name="TextBox 18"/>
          <p:cNvSpPr txBox="1"/>
          <p:nvPr/>
        </p:nvSpPr>
        <p:spPr>
          <a:xfrm>
            <a:off x="3520440" y="3621024"/>
            <a:ext cx="5120640" cy="457200"/>
          </a:xfrm>
          <a:prstGeom prst="rect">
            <a:avLst/>
          </a:prstGeom>
          <a:noFill/>
        </p:spPr>
        <p:txBody>
          <a:bodyPr wrap="square" lIns="0" rIns="0" tIns="0" bIns="0" anchor="t">
            <a:noAutofit/>
          </a:bodyPr>
          <a:lstStyle/>
          <a:p>
            <a:pPr algn="l"/>
            <a:r>
              <a:rPr sz="1700" b="0" i="0">
                <a:solidFill>
                  <a:srgbClr val="1E1E2E"/>
                </a:solidFill>
                <a:latin typeface="Arial"/>
              </a:rPr>
              <a:t>Telemetry missing, stale or unhealthy</a:t>
            </a:r>
          </a:p>
        </p:txBody>
      </p:sp>
      <p:sp>
        <p:nvSpPr>
          <p:cNvPr id="20" name="TextBox 19"/>
          <p:cNvSpPr txBox="1"/>
          <p:nvPr/>
        </p:nvSpPr>
        <p:spPr>
          <a:xfrm>
            <a:off x="8778240" y="3621024"/>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Repair monitoring</a:t>
            </a:r>
          </a:p>
        </p:txBody>
      </p:sp>
      <p:sp>
        <p:nvSpPr>
          <p:cNvPr id="21" name="Rounded Rectangle 20"/>
          <p:cNvSpPr/>
          <p:nvPr/>
        </p:nvSpPr>
        <p:spPr>
          <a:xfrm>
            <a:off x="548640" y="4224528"/>
            <a:ext cx="2743200" cy="603504"/>
          </a:xfrm>
          <a:prstGeom prst="roundRect">
            <a:avLst>
              <a:gd name="adj" fmla="val 12121"/>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A4262C"/>
                </a:solidFill>
                <a:latin typeface="Arial"/>
              </a:rPr>
              <a:t>Orphaned</a:t>
            </a:r>
          </a:p>
        </p:txBody>
      </p:sp>
      <p:sp>
        <p:nvSpPr>
          <p:cNvPr id="22" name="TextBox 21"/>
          <p:cNvSpPr txBox="1"/>
          <p:nvPr/>
        </p:nvSpPr>
        <p:spPr>
          <a:xfrm>
            <a:off x="3520440" y="4334256"/>
            <a:ext cx="5120640" cy="457200"/>
          </a:xfrm>
          <a:prstGeom prst="rect">
            <a:avLst/>
          </a:prstGeom>
          <a:noFill/>
        </p:spPr>
        <p:txBody>
          <a:bodyPr wrap="square" lIns="0" rIns="0" tIns="0" bIns="0" anchor="t">
            <a:noAutofit/>
          </a:bodyPr>
          <a:lstStyle/>
          <a:p>
            <a:pPr algn="l"/>
            <a:r>
              <a:rPr sz="1700" b="0" i="0">
                <a:solidFill>
                  <a:srgbClr val="1E1E2E"/>
                </a:solidFill>
                <a:latin typeface="Arial"/>
              </a:rPr>
              <a:t>No valid owner, or resource without record</a:t>
            </a:r>
          </a:p>
        </p:txBody>
      </p:sp>
      <p:sp>
        <p:nvSpPr>
          <p:cNvPr id="23" name="TextBox 22"/>
          <p:cNvSpPr txBox="1"/>
          <p:nvPr/>
        </p:nvSpPr>
        <p:spPr>
          <a:xfrm>
            <a:off x="8778240" y="4334256"/>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Assign or retire</a:t>
            </a:r>
          </a:p>
        </p:txBody>
      </p:sp>
      <p:sp>
        <p:nvSpPr>
          <p:cNvPr id="24" name="Rounded Rectangle 23"/>
          <p:cNvSpPr/>
          <p:nvPr/>
        </p:nvSpPr>
        <p:spPr>
          <a:xfrm>
            <a:off x="548640" y="4937760"/>
            <a:ext cx="2743200" cy="603504"/>
          </a:xfrm>
          <a:prstGeom prst="roundRect">
            <a:avLst>
              <a:gd name="adj" fmla="val 1212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Blocked or retired</a:t>
            </a:r>
          </a:p>
        </p:txBody>
      </p:sp>
      <p:sp>
        <p:nvSpPr>
          <p:cNvPr id="25" name="TextBox 24"/>
          <p:cNvSpPr txBox="1"/>
          <p:nvPr/>
        </p:nvSpPr>
        <p:spPr>
          <a:xfrm>
            <a:off x="3520440" y="5047488"/>
            <a:ext cx="5120640" cy="457200"/>
          </a:xfrm>
          <a:prstGeom prst="rect">
            <a:avLst/>
          </a:prstGeom>
          <a:noFill/>
        </p:spPr>
        <p:txBody>
          <a:bodyPr wrap="square" lIns="0" rIns="0" tIns="0" bIns="0" anchor="t">
            <a:noAutofit/>
          </a:bodyPr>
          <a:lstStyle/>
          <a:p>
            <a:pPr algn="l"/>
            <a:r>
              <a:rPr sz="1700" b="0" i="0">
                <a:solidFill>
                  <a:srgbClr val="1E1E2E"/>
                </a:solidFill>
                <a:latin typeface="Arial"/>
              </a:rPr>
              <a:t>Recorded lifecycle decision</a:t>
            </a:r>
          </a:p>
        </p:txBody>
      </p:sp>
      <p:sp>
        <p:nvSpPr>
          <p:cNvPr id="26" name="TextBox 25"/>
          <p:cNvSpPr txBox="1"/>
          <p:nvPr/>
        </p:nvSpPr>
        <p:spPr>
          <a:xfrm>
            <a:off x="8778240" y="5047488"/>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Verify residual resources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Custom gap layer: detailed reference architecture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2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sp>
        <p:nvSpPr>
          <p:cNvPr id="9" name="Rounded Rectangle 8"/>
          <p:cNvSpPr/>
          <p:nvPr/>
        </p:nvSpPr>
        <p:spPr>
          <a:xfrm>
            <a:off x="548640" y="160020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zure DevOps" descr="Official Azure icon: Azure DevO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26463" y="1673352"/>
            <a:ext cx="438912" cy="438912"/>
          </a:xfrm>
          <a:prstGeom prst="rect">
            <a:avLst/>
          </a:prstGeom>
        </p:spPr>
      </p:pic>
      <p:sp>
        <p:nvSpPr>
          <p:cNvPr id="11" name="TextBox 10"/>
          <p:cNvSpPr txBox="1"/>
          <p:nvPr/>
        </p:nvSpPr>
        <p:spPr>
          <a:xfrm>
            <a:off x="585216" y="2148840"/>
            <a:ext cx="2121408" cy="512064"/>
          </a:xfrm>
          <a:prstGeom prst="rect">
            <a:avLst/>
          </a:prstGeom>
          <a:noFill/>
        </p:spPr>
        <p:txBody>
          <a:bodyPr wrap="square" lIns="0" rIns="0" tIns="0" bIns="0" anchor="t">
            <a:noAutofit/>
          </a:bodyPr>
          <a:lstStyle/>
          <a:p>
            <a:pPr algn="ctr"/>
            <a:r>
              <a:rPr sz="1300" b="1" i="0">
                <a:solidFill>
                  <a:srgbClr val="000048"/>
                </a:solidFill>
                <a:latin typeface="Arial"/>
              </a:rPr>
              <a:t>Pipelines and Agent 365</a:t>
            </a:r>
          </a:p>
          <a:p>
            <a:pPr algn="ctr"/>
            <a:r>
              <a:rPr sz="1100" b="0" i="0">
                <a:solidFill>
                  <a:srgbClr val="53565A"/>
                </a:solidFill>
                <a:latin typeface="Arial"/>
              </a:rPr>
              <a:t>release record, registry export*</a:t>
            </a:r>
          </a:p>
        </p:txBody>
      </p:sp>
      <p:sp>
        <p:nvSpPr>
          <p:cNvPr id="12" name="Rounded Rectangle 11"/>
          <p:cNvSpPr/>
          <p:nvPr/>
        </p:nvSpPr>
        <p:spPr>
          <a:xfrm>
            <a:off x="548640" y="274320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Foundry Control Plane" descr="Official Azure icon: Foundry Control Plan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26463" y="2816352"/>
            <a:ext cx="438912" cy="438912"/>
          </a:xfrm>
          <a:prstGeom prst="rect">
            <a:avLst/>
          </a:prstGeom>
        </p:spPr>
      </p:pic>
      <p:sp>
        <p:nvSpPr>
          <p:cNvPr id="14" name="TextBox 13"/>
          <p:cNvSpPr txBox="1"/>
          <p:nvPr/>
        </p:nvSpPr>
        <p:spPr>
          <a:xfrm>
            <a:off x="585216" y="3291840"/>
            <a:ext cx="2121408" cy="512064"/>
          </a:xfrm>
          <a:prstGeom prst="rect">
            <a:avLst/>
          </a:prstGeom>
          <a:noFill/>
        </p:spPr>
        <p:txBody>
          <a:bodyPr wrap="square" lIns="0" rIns="0" tIns="0" bIns="0" anchor="t">
            <a:noAutofit/>
          </a:bodyPr>
          <a:lstStyle/>
          <a:p>
            <a:pPr algn="ctr"/>
            <a:r>
              <a:rPr sz="1300" b="1" i="0">
                <a:solidFill>
                  <a:srgbClr val="000048"/>
                </a:solidFill>
                <a:latin typeface="Arial"/>
              </a:rPr>
              <a:t>Foundry Control Plane</a:t>
            </a:r>
          </a:p>
          <a:p>
            <a:pPr algn="ctr"/>
            <a:r>
              <a:rPr sz="1100" b="0" i="0">
                <a:solidFill>
                  <a:srgbClr val="53565A"/>
                </a:solidFill>
                <a:latin typeface="Arial"/>
              </a:rPr>
              <a:t>Foundry, SRE Agent, Logic Apps, custom</a:t>
            </a:r>
          </a:p>
        </p:txBody>
      </p:sp>
      <p:sp>
        <p:nvSpPr>
          <p:cNvPr id="15" name="Rounded Rectangle 14"/>
          <p:cNvSpPr/>
          <p:nvPr/>
        </p:nvSpPr>
        <p:spPr>
          <a:xfrm>
            <a:off x="548640" y="416052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Resource Graph Explorer" descr="Official Azure icon: Resource Graph Explore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26463" y="4233672"/>
            <a:ext cx="438912" cy="438912"/>
          </a:xfrm>
          <a:prstGeom prst="rect">
            <a:avLst/>
          </a:prstGeom>
        </p:spPr>
      </p:pic>
      <p:sp>
        <p:nvSpPr>
          <p:cNvPr id="17" name="TextBox 16"/>
          <p:cNvSpPr txBox="1"/>
          <p:nvPr/>
        </p:nvSpPr>
        <p:spPr>
          <a:xfrm>
            <a:off x="585216" y="4709159"/>
            <a:ext cx="2121408" cy="512064"/>
          </a:xfrm>
          <a:prstGeom prst="rect">
            <a:avLst/>
          </a:prstGeom>
          <a:noFill/>
        </p:spPr>
        <p:txBody>
          <a:bodyPr wrap="square" lIns="0" rIns="0" tIns="0" bIns="0" anchor="t">
            <a:noAutofit/>
          </a:bodyPr>
          <a:lstStyle/>
          <a:p>
            <a:pPr algn="ctr"/>
            <a:r>
              <a:rPr sz="1300" b="1" i="0">
                <a:solidFill>
                  <a:srgbClr val="000048"/>
                </a:solidFill>
                <a:latin typeface="Arial"/>
              </a:rPr>
              <a:t>Resource Graph</a:t>
            </a:r>
          </a:p>
          <a:p>
            <a:pPr algn="ctr"/>
            <a:r>
              <a:rPr sz="1100" b="0" i="0">
                <a:solidFill>
                  <a:srgbClr val="53565A"/>
                </a:solidFill>
                <a:latin typeface="Arial"/>
              </a:rPr>
              <a:t>hosting resources, tags</a:t>
            </a:r>
          </a:p>
        </p:txBody>
      </p:sp>
      <p:sp>
        <p:nvSpPr>
          <p:cNvPr id="18" name="Rounded Rectangle 17"/>
          <p:cNvSpPr/>
          <p:nvPr/>
        </p:nvSpPr>
        <p:spPr>
          <a:xfrm>
            <a:off x="3657600" y="2743200"/>
            <a:ext cx="2377440" cy="1159881"/>
          </a:xfrm>
          <a:prstGeom prst="roundRect">
            <a:avLst>
              <a:gd name="adj" fmla="val 630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Function App" descr="Official Azure icon: Function App"/>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94859" y="2816352"/>
            <a:ext cx="502920" cy="502920"/>
          </a:xfrm>
          <a:prstGeom prst="rect">
            <a:avLst/>
          </a:prstGeom>
        </p:spPr>
      </p:pic>
      <p:sp>
        <p:nvSpPr>
          <p:cNvPr id="20" name="TextBox 19"/>
          <p:cNvSpPr txBox="1"/>
          <p:nvPr/>
        </p:nvSpPr>
        <p:spPr>
          <a:xfrm>
            <a:off x="3694176" y="3355848"/>
            <a:ext cx="2304288" cy="528945"/>
          </a:xfrm>
          <a:prstGeom prst="rect">
            <a:avLst/>
          </a:prstGeom>
          <a:noFill/>
        </p:spPr>
        <p:txBody>
          <a:bodyPr wrap="square" lIns="0" rIns="0" tIns="0" bIns="0" anchor="t">
            <a:noAutofit/>
          </a:bodyPr>
          <a:lstStyle/>
          <a:p>
            <a:pPr algn="ctr"/>
            <a:r>
              <a:rPr sz="1400" b="1" i="0">
                <a:solidFill>
                  <a:srgbClr val="000048"/>
                </a:solidFill>
                <a:latin typeface="Arial"/>
              </a:rPr>
              <a:t>Reconciliation job</a:t>
            </a:r>
          </a:p>
          <a:p>
            <a:pPr algn="ctr"/>
            <a:r>
              <a:rPr sz="1100" b="0" i="0">
                <a:solidFill>
                  <a:srgbClr val="53565A"/>
                </a:solidFill>
                <a:latin typeface="Arial"/>
              </a:rPr>
              <a:t>Function App, managed identity, read-only</a:t>
            </a:r>
          </a:p>
        </p:txBody>
      </p:sp>
      <p:sp>
        <p:nvSpPr>
          <p:cNvPr id="21" name="Rounded Rectangle 20"/>
          <p:cNvSpPr/>
          <p:nvPr/>
        </p:nvSpPr>
        <p:spPr>
          <a:xfrm>
            <a:off x="6675120" y="2743200"/>
            <a:ext cx="2011680" cy="1159881"/>
          </a:xfrm>
          <a:prstGeom prst="roundRect">
            <a:avLst>
              <a:gd name="adj" fmla="val 630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Azure Cosmos DB" descr="Official Azure icon: Azure Cosmos DB"/>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429500" y="2816352"/>
            <a:ext cx="502920" cy="502920"/>
          </a:xfrm>
          <a:prstGeom prst="rect">
            <a:avLst/>
          </a:prstGeom>
        </p:spPr>
      </p:pic>
      <p:sp>
        <p:nvSpPr>
          <p:cNvPr id="23" name="TextBox 22"/>
          <p:cNvSpPr txBox="1"/>
          <p:nvPr/>
        </p:nvSpPr>
        <p:spPr>
          <a:xfrm>
            <a:off x="6711696" y="3355848"/>
            <a:ext cx="1938528" cy="528945"/>
          </a:xfrm>
          <a:prstGeom prst="rect">
            <a:avLst/>
          </a:prstGeom>
          <a:noFill/>
        </p:spPr>
        <p:txBody>
          <a:bodyPr wrap="square" lIns="0" rIns="0" tIns="0" bIns="0" anchor="t">
            <a:noAutofit/>
          </a:bodyPr>
          <a:lstStyle/>
          <a:p>
            <a:pPr algn="ctr"/>
            <a:r>
              <a:rPr sz="1400" b="1" i="0">
                <a:solidFill>
                  <a:srgbClr val="000048"/>
                </a:solidFill>
                <a:latin typeface="Arial"/>
              </a:rPr>
              <a:t>Agent registry</a:t>
            </a:r>
          </a:p>
          <a:p>
            <a:pPr algn="ctr"/>
            <a:r>
              <a:rPr sz="1100" b="0" i="0">
                <a:solidFill>
                  <a:srgbClr val="53565A"/>
                </a:solidFill>
                <a:latin typeface="Arial"/>
              </a:rPr>
              <a:t>Cosmos DB</a:t>
            </a:r>
          </a:p>
        </p:txBody>
      </p:sp>
      <p:sp>
        <p:nvSpPr>
          <p:cNvPr id="24" name="Rounded Rectangle 23"/>
          <p:cNvSpPr/>
          <p:nvPr/>
        </p:nvSpPr>
        <p:spPr>
          <a:xfrm>
            <a:off x="3657600" y="1536192"/>
            <a:ext cx="23774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5" name="Azure icon: Application Insights" descr="Official Azure icon: Application Insight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730752" y="1687067"/>
            <a:ext cx="384048" cy="384048"/>
          </a:xfrm>
          <a:prstGeom prst="rect">
            <a:avLst/>
          </a:prstGeom>
        </p:spPr>
      </p:pic>
      <p:sp>
        <p:nvSpPr>
          <p:cNvPr id="26" name="TextBox 25"/>
          <p:cNvSpPr txBox="1"/>
          <p:nvPr/>
        </p:nvSpPr>
        <p:spPr>
          <a:xfrm>
            <a:off x="4187952" y="1572768"/>
            <a:ext cx="1810512" cy="612648"/>
          </a:xfrm>
          <a:prstGeom prst="rect">
            <a:avLst/>
          </a:prstGeom>
          <a:noFill/>
        </p:spPr>
        <p:txBody>
          <a:bodyPr wrap="square" lIns="0" rIns="0" tIns="0" bIns="0" anchor="ctr">
            <a:noAutofit/>
          </a:bodyPr>
          <a:lstStyle/>
          <a:p>
            <a:pPr algn="l"/>
            <a:r>
              <a:rPr sz="1200" b="1" i="0">
                <a:solidFill>
                  <a:srgbClr val="000048"/>
                </a:solidFill>
                <a:latin typeface="Arial"/>
              </a:rPr>
              <a:t>Application Insights</a:t>
            </a:r>
          </a:p>
          <a:p>
            <a:pPr algn="l"/>
            <a:r>
              <a:rPr sz="1000" b="0" i="0">
                <a:solidFill>
                  <a:srgbClr val="53565A"/>
                </a:solidFill>
                <a:latin typeface="Arial"/>
              </a:rPr>
              <a:t>per Foundry project or app</a:t>
            </a:r>
          </a:p>
        </p:txBody>
      </p:sp>
      <p:sp>
        <p:nvSpPr>
          <p:cNvPr id="27" name="Rounded Rectangle 26"/>
          <p:cNvSpPr/>
          <p:nvPr/>
        </p:nvSpPr>
        <p:spPr>
          <a:xfrm>
            <a:off x="3657600" y="4572000"/>
            <a:ext cx="23774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Log Analytics workspace" descr="Official Azure icon: Log Analytics workspace"/>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730752" y="4722876"/>
            <a:ext cx="384048" cy="384048"/>
          </a:xfrm>
          <a:prstGeom prst="rect">
            <a:avLst/>
          </a:prstGeom>
        </p:spPr>
      </p:pic>
      <p:sp>
        <p:nvSpPr>
          <p:cNvPr id="29" name="TextBox 28"/>
          <p:cNvSpPr txBox="1"/>
          <p:nvPr/>
        </p:nvSpPr>
        <p:spPr>
          <a:xfrm>
            <a:off x="4187952" y="4608576"/>
            <a:ext cx="1810512" cy="612648"/>
          </a:xfrm>
          <a:prstGeom prst="rect">
            <a:avLst/>
          </a:prstGeom>
          <a:noFill/>
        </p:spPr>
        <p:txBody>
          <a:bodyPr wrap="square" lIns="0" rIns="0" tIns="0" bIns="0" anchor="ctr">
            <a:noAutofit/>
          </a:bodyPr>
          <a:lstStyle/>
          <a:p>
            <a:pPr algn="l"/>
            <a:r>
              <a:rPr sz="1200" b="1" i="0">
                <a:solidFill>
                  <a:srgbClr val="000048"/>
                </a:solidFill>
                <a:latin typeface="Arial"/>
              </a:rPr>
              <a:t>Log Analytics</a:t>
            </a:r>
          </a:p>
          <a:p>
            <a:pPr algn="l"/>
            <a:r>
              <a:rPr sz="1000" b="0" i="0">
                <a:solidFill>
                  <a:srgbClr val="53565A"/>
                </a:solidFill>
                <a:latin typeface="Arial"/>
              </a:rPr>
              <a:t>gateway, platform logs</a:t>
            </a:r>
          </a:p>
        </p:txBody>
      </p:sp>
      <p:sp>
        <p:nvSpPr>
          <p:cNvPr id="30" name="Rounded Rectangle 29"/>
          <p:cNvSpPr/>
          <p:nvPr/>
        </p:nvSpPr>
        <p:spPr>
          <a:xfrm>
            <a:off x="9372600" y="1600200"/>
            <a:ext cx="228600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1" name="Azure icon: Azure Workbooks" descr="Official Azure icon: Azure Workbook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296144" y="1673352"/>
            <a:ext cx="438912" cy="438912"/>
          </a:xfrm>
          <a:prstGeom prst="rect">
            <a:avLst/>
          </a:prstGeom>
        </p:spPr>
      </p:pic>
      <p:sp>
        <p:nvSpPr>
          <p:cNvPr id="32" name="TextBox 31"/>
          <p:cNvSpPr txBox="1"/>
          <p:nvPr/>
        </p:nvSpPr>
        <p:spPr>
          <a:xfrm>
            <a:off x="9409176" y="2148840"/>
            <a:ext cx="2212848" cy="512064"/>
          </a:xfrm>
          <a:prstGeom prst="rect">
            <a:avLst/>
          </a:prstGeom>
          <a:noFill/>
        </p:spPr>
        <p:txBody>
          <a:bodyPr wrap="square" lIns="0" rIns="0" tIns="0" bIns="0" anchor="t">
            <a:noAutofit/>
          </a:bodyPr>
          <a:lstStyle/>
          <a:p>
            <a:pPr algn="ctr"/>
            <a:r>
              <a:rPr sz="1300" b="1" i="0">
                <a:solidFill>
                  <a:srgbClr val="000048"/>
                </a:solidFill>
                <a:latin typeface="Arial"/>
              </a:rPr>
              <a:t>Catalogue workbook</a:t>
            </a:r>
          </a:p>
          <a:p>
            <a:pPr algn="ctr"/>
            <a:r>
              <a:rPr sz="1100" b="0" i="0">
                <a:solidFill>
                  <a:srgbClr val="53565A"/>
                </a:solidFill>
                <a:latin typeface="Arial"/>
              </a:rPr>
              <a:t>status, owner, usage, risk</a:t>
            </a:r>
          </a:p>
        </p:txBody>
      </p:sp>
      <p:sp>
        <p:nvSpPr>
          <p:cNvPr id="33" name="Rounded Rectangle 32"/>
          <p:cNvSpPr/>
          <p:nvPr/>
        </p:nvSpPr>
        <p:spPr>
          <a:xfrm>
            <a:off x="9372600" y="4023360"/>
            <a:ext cx="228600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4" name="Azure icon: Alerts" descr="Official Azure icon: Alert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296144" y="4096512"/>
            <a:ext cx="438912" cy="438912"/>
          </a:xfrm>
          <a:prstGeom prst="rect">
            <a:avLst/>
          </a:prstGeom>
        </p:spPr>
      </p:pic>
      <p:sp>
        <p:nvSpPr>
          <p:cNvPr id="35" name="TextBox 34"/>
          <p:cNvSpPr txBox="1"/>
          <p:nvPr/>
        </p:nvSpPr>
        <p:spPr>
          <a:xfrm>
            <a:off x="9409176" y="4572000"/>
            <a:ext cx="2212848" cy="512064"/>
          </a:xfrm>
          <a:prstGeom prst="rect">
            <a:avLst/>
          </a:prstGeom>
          <a:noFill/>
        </p:spPr>
        <p:txBody>
          <a:bodyPr wrap="square" lIns="0" rIns="0" tIns="0" bIns="0" anchor="t">
            <a:noAutofit/>
          </a:bodyPr>
          <a:lstStyle/>
          <a:p>
            <a:pPr algn="ctr"/>
            <a:r>
              <a:rPr sz="1300" b="1" i="0">
                <a:solidFill>
                  <a:srgbClr val="000048"/>
                </a:solidFill>
                <a:latin typeface="Arial"/>
              </a:rPr>
              <a:t>Review alerts</a:t>
            </a:r>
          </a:p>
          <a:p>
            <a:pPr algn="ctr"/>
            <a:r>
              <a:rPr sz="1100" b="0" i="0">
                <a:solidFill>
                  <a:srgbClr val="53565A"/>
                </a:solidFill>
                <a:latin typeface="Arial"/>
              </a:rPr>
              <a:t>dormancy, telemetry health, orphan</a:t>
            </a:r>
          </a:p>
        </p:txBody>
      </p:sp>
      <p:cxnSp>
        <p:nvCxnSpPr>
          <p:cNvPr id="36" name="Connector (flow)"/>
          <p:cNvCxnSpPr/>
          <p:nvPr/>
        </p:nvCxnSpPr>
        <p:spPr>
          <a:xfrm>
            <a:off x="2743200" y="2011680"/>
            <a:ext cx="3657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flipV="1">
            <a:off x="3108960" y="1389888"/>
            <a:ext cx="0" cy="621792"/>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3108960" y="1389888"/>
            <a:ext cx="457200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7680960" y="1389888"/>
            <a:ext cx="0" cy="1353312"/>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3182112" y="16002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1</a:t>
            </a:r>
          </a:p>
        </p:txBody>
      </p:sp>
      <p:cxnSp>
        <p:nvCxnSpPr>
          <p:cNvPr id="41" name="Connector (telemetry)"/>
          <p:cNvCxnSpPr/>
          <p:nvPr/>
        </p:nvCxnSpPr>
        <p:spPr>
          <a:xfrm>
            <a:off x="2743200" y="3200400"/>
            <a:ext cx="91440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telemetry)"/>
          <p:cNvCxnSpPr/>
          <p:nvPr/>
        </p:nvCxnSpPr>
        <p:spPr>
          <a:xfrm flipV="1">
            <a:off x="2743200" y="3520440"/>
            <a:ext cx="914400" cy="96012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3063240" y="361188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2</a:t>
            </a:r>
          </a:p>
        </p:txBody>
      </p:sp>
      <p:cxnSp>
        <p:nvCxnSpPr>
          <p:cNvPr id="44" name="Connector (telemetry)"/>
          <p:cNvCxnSpPr/>
          <p:nvPr/>
        </p:nvCxnSpPr>
        <p:spPr>
          <a:xfrm>
            <a:off x="4846320" y="2221992"/>
            <a:ext cx="0" cy="52120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telemetry)"/>
          <p:cNvCxnSpPr/>
          <p:nvPr/>
        </p:nvCxnSpPr>
        <p:spPr>
          <a:xfrm flipV="1">
            <a:off x="4846320" y="4114800"/>
            <a:ext cx="0" cy="4572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4983480" y="22860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3</a:t>
            </a:r>
          </a:p>
        </p:txBody>
      </p:sp>
      <p:cxnSp>
        <p:nvCxnSpPr>
          <p:cNvPr id="47" name="Connector (flow)"/>
          <p:cNvCxnSpPr/>
          <p:nvPr/>
        </p:nvCxnSpPr>
        <p:spPr>
          <a:xfrm>
            <a:off x="6035040" y="338328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6217920" y="2971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4</a:t>
            </a:r>
          </a:p>
        </p:txBody>
      </p:sp>
      <p:cxnSp>
        <p:nvCxnSpPr>
          <p:cNvPr id="49" name="Connector (flow)"/>
          <p:cNvCxnSpPr/>
          <p:nvPr/>
        </p:nvCxnSpPr>
        <p:spPr>
          <a:xfrm>
            <a:off x="8686800" y="3108960"/>
            <a:ext cx="3200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0" name="Connector (flow)"/>
          <p:cNvCxnSpPr/>
          <p:nvPr/>
        </p:nvCxnSpPr>
        <p:spPr>
          <a:xfrm flipV="1">
            <a:off x="9006840" y="1920240"/>
            <a:ext cx="0" cy="118872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1" name="Connector (flow)"/>
          <p:cNvCxnSpPr/>
          <p:nvPr/>
        </p:nvCxnSpPr>
        <p:spPr>
          <a:xfrm>
            <a:off x="9006840" y="192024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9098280" y="22860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5</a:t>
            </a:r>
          </a:p>
        </p:txBody>
      </p:sp>
      <p:cxnSp>
        <p:nvCxnSpPr>
          <p:cNvPr id="53" name="Connector (flow)"/>
          <p:cNvCxnSpPr/>
          <p:nvPr/>
        </p:nvCxnSpPr>
        <p:spPr>
          <a:xfrm>
            <a:off x="8686800" y="3657600"/>
            <a:ext cx="3200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4" name="Connector (flow)"/>
          <p:cNvCxnSpPr/>
          <p:nvPr/>
        </p:nvCxnSpPr>
        <p:spPr>
          <a:xfrm>
            <a:off x="9006840" y="3657600"/>
            <a:ext cx="0" cy="8686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5" name="Connector (flow)"/>
          <p:cNvCxnSpPr/>
          <p:nvPr/>
        </p:nvCxnSpPr>
        <p:spPr>
          <a:xfrm>
            <a:off x="9006840" y="4526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9098280" y="38862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6</a:t>
            </a:r>
          </a:p>
        </p:txBody>
      </p:sp>
      <p:cxnSp>
        <p:nvCxnSpPr>
          <p:cNvPr id="57" name="Connector (flow)"/>
          <p:cNvCxnSpPr/>
          <p:nvPr/>
        </p:nvCxnSpPr>
        <p:spPr>
          <a:xfrm>
            <a:off x="548640" y="571500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024128" y="5596128"/>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59" name="Connector (telemetry)"/>
          <p:cNvCxnSpPr/>
          <p:nvPr/>
        </p:nvCxnSpPr>
        <p:spPr>
          <a:xfrm>
            <a:off x="2926080" y="5715000"/>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401568" y="5596128"/>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61" name="TextBox 60"/>
          <p:cNvSpPr txBox="1"/>
          <p:nvPr/>
        </p:nvSpPr>
        <p:spPr>
          <a:xfrm>
            <a:off x="5486400" y="5596128"/>
            <a:ext cx="6126480" cy="274320"/>
          </a:xfrm>
          <a:prstGeom prst="rect">
            <a:avLst/>
          </a:prstGeom>
          <a:noFill/>
        </p:spPr>
        <p:txBody>
          <a:bodyPr wrap="square" lIns="0" rIns="0" tIns="0" bIns="0" anchor="t">
            <a:noAutofit/>
          </a:bodyPr>
          <a:lstStyle/>
          <a:p>
            <a:pPr algn="r"/>
            <a:r>
              <a:rPr sz="1100" b="0" i="0">
                <a:solidFill>
                  <a:srgbClr val="7373D8"/>
                </a:solidFill>
                <a:latin typeface="Arial"/>
              </a:rPr>
              <a:t>Purple outline = custom build. Others are native Azure capabilities.</a:t>
            </a:r>
          </a:p>
        </p:txBody>
      </p:sp>
      <p:sp>
        <p:nvSpPr>
          <p:cNvPr id="62" name="TextBox 61"/>
          <p:cNvSpPr txBox="1"/>
          <p:nvPr/>
        </p:nvSpPr>
        <p:spPr>
          <a:xfrm>
            <a:off x="548640" y="5943600"/>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each source contributes, and where it stops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graphicFrame>
        <p:nvGraphicFramePr>
          <p:cNvPr id="9" name="Table"/>
          <p:cNvGraphicFramePr>
            <a:graphicFrameLocks noGrp="1"/>
          </p:cNvGraphicFramePr>
          <p:nvPr/>
        </p:nvGraphicFramePr>
        <p:xfrm>
          <a:off x="548640" y="1371600"/>
          <a:ext cx="11091672" cy="2910840"/>
        </p:xfrm>
        <a:graphic>
          <a:graphicData uri="http://schemas.openxmlformats.org/drawingml/2006/table">
            <a:tbl>
              <a:tblPr firstRow="1" bandRow="0">
                <a:tableStyleId>{5C22544A-7EE6-4342-B048-85BDC9FD1C3A}</a:tableStyleId>
              </a:tblPr>
              <a:tblGrid>
                <a:gridCol w="2194560"/>
                <a:gridCol w="3931920"/>
                <a:gridCol w="2011680"/>
                <a:gridCol w="2953512"/>
              </a:tblGrid>
              <a:tr h="289560">
                <a:tc>
                  <a:txBody>
                    <a:bodyPr wrap="square" anchor="ctr">
                      <a:noAutofit/>
                    </a:bodyPr>
                    <a:lstStyle/>
                    <a:p>
                      <a:pPr algn="l"/>
                      <a:r>
                        <a:rPr sz="1300" b="1" i="0">
                          <a:solidFill>
                            <a:srgbClr val="FFFFFF"/>
                          </a:solidFill>
                          <a:latin typeface="Arial"/>
                        </a:rPr>
                        <a:t>Source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Proves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Native or custom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Stops at</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Registered agents across Microsoft, Copilot Studio, Foundry, partners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Native, licensed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Licence needed; lifecycle actions announced, not all GA</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 Control Plane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Supported agents exist; runs, errors, tokens, estimated cost (last month)</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Native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Classic agents and Azure OpenAI assistants not supported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Azure Resource Graph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Hosting resources and tags exist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Native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Not a logical agent list</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Deployment pipelines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ID, version, owner at release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Custom integration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Agents deployed outside pipelines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Application Insights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Runs, traces, errors per agent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Native, needs instrumentation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Only runs after configuration; sampling</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Log Analytics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Gateway and platform activity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Native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Needs agent ID in logs to join</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Registry and workbook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Reconciled status and ownership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As good as the joins feeding it</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Minimum catalogue record for each agent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SCHEMA"/>
          <p:cNvSpPr/>
          <p:nvPr/>
        </p:nvSpPr>
        <p:spPr>
          <a:xfrm>
            <a:off x="1898650" y="274320"/>
            <a:ext cx="15697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SCHEMA</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sp>
        <p:nvSpPr>
          <p:cNvPr id="9" name="Rounded Rectangle 8"/>
          <p:cNvSpPr/>
          <p:nvPr/>
        </p:nvSpPr>
        <p:spPr>
          <a:xfrm>
            <a:off x="54864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Identity</a:t>
            </a:r>
          </a:p>
        </p:txBody>
      </p:sp>
      <p:sp>
        <p:nvSpPr>
          <p:cNvPr id="10" name="Rounded Rectangle 9"/>
          <p:cNvSpPr/>
          <p:nvPr/>
        </p:nvSpPr>
        <p:spPr>
          <a:xfrm>
            <a:off x="54864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Agent ID and version</a:t>
            </a:r>
          </a:p>
          <a:p>
            <a:pPr algn="l" marL="201168" indent="-201168">
              <a:spcAft>
                <a:spcPts val="800"/>
              </a:spcAft>
              <a:buFont typeface="Arial"/>
              <a:buChar char="•"/>
            </a:pPr>
            <a:r>
              <a:rPr sz="1500" b="0" i="0">
                <a:solidFill>
                  <a:srgbClr val="1E1E2E"/>
                </a:solidFill>
                <a:latin typeface="Arial"/>
              </a:rPr>
              <a:t>Environment and hosting platform</a:t>
            </a:r>
          </a:p>
          <a:p>
            <a:pPr algn="l" marL="201168" indent="-201168">
              <a:spcAft>
                <a:spcPts val="800"/>
              </a:spcAft>
              <a:buFont typeface="Arial"/>
              <a:buChar char="•"/>
            </a:pPr>
            <a:r>
              <a:rPr sz="1500" b="0" i="0">
                <a:solidFill>
                  <a:srgbClr val="1E1E2E"/>
                </a:solidFill>
                <a:latin typeface="Arial"/>
              </a:rPr>
              <a:t>Deployment location and endpoint</a:t>
            </a:r>
          </a:p>
        </p:txBody>
      </p:sp>
      <p:sp>
        <p:nvSpPr>
          <p:cNvPr id="11" name="Rounded Rectangle 10"/>
          <p:cNvSpPr/>
          <p:nvPr/>
        </p:nvSpPr>
        <p:spPr>
          <a:xfrm>
            <a:off x="278892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Accountability</a:t>
            </a:r>
          </a:p>
        </p:txBody>
      </p:sp>
      <p:sp>
        <p:nvSpPr>
          <p:cNvPr id="12" name="Rounded Rectangle 11"/>
          <p:cNvSpPr/>
          <p:nvPr/>
        </p:nvSpPr>
        <p:spPr>
          <a:xfrm>
            <a:off x="278892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Business owner</a:t>
            </a:r>
          </a:p>
          <a:p>
            <a:pPr algn="l" marL="201168" indent="-201168">
              <a:spcAft>
                <a:spcPts val="800"/>
              </a:spcAft>
              <a:buFont typeface="Arial"/>
              <a:buChar char="•"/>
            </a:pPr>
            <a:r>
              <a:rPr sz="1500" b="0" i="0">
                <a:solidFill>
                  <a:srgbClr val="1E1E2E"/>
                </a:solidFill>
                <a:latin typeface="Arial"/>
              </a:rPr>
              <a:t>Technical owner and responder</a:t>
            </a:r>
          </a:p>
          <a:p>
            <a:pPr algn="l" marL="201168" indent="-201168">
              <a:spcAft>
                <a:spcPts val="800"/>
              </a:spcAft>
              <a:buFont typeface="Arial"/>
              <a:buChar char="•"/>
            </a:pPr>
            <a:r>
              <a:rPr sz="1500" b="0" i="0">
                <a:solidFill>
                  <a:srgbClr val="1E1E2E"/>
                </a:solidFill>
                <a:latin typeface="Arial"/>
              </a:rPr>
              <a:t>Review date</a:t>
            </a:r>
          </a:p>
        </p:txBody>
      </p:sp>
      <p:sp>
        <p:nvSpPr>
          <p:cNvPr id="13" name="Rounded Rectangle 12"/>
          <p:cNvSpPr/>
          <p:nvPr/>
        </p:nvSpPr>
        <p:spPr>
          <a:xfrm>
            <a:off x="502920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Exposure</a:t>
            </a:r>
          </a:p>
        </p:txBody>
      </p:sp>
      <p:sp>
        <p:nvSpPr>
          <p:cNvPr id="14" name="Rounded Rectangle 13"/>
          <p:cNvSpPr/>
          <p:nvPr/>
        </p:nvSpPr>
        <p:spPr>
          <a:xfrm>
            <a:off x="502920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Identity and permissions</a:t>
            </a:r>
          </a:p>
          <a:p>
            <a:pPr algn="l" marL="201168" indent="-201168">
              <a:spcAft>
                <a:spcPts val="800"/>
              </a:spcAft>
              <a:buFont typeface="Arial"/>
              <a:buChar char="•"/>
            </a:pPr>
            <a:r>
              <a:rPr sz="1500" b="0" i="0">
                <a:solidFill>
                  <a:srgbClr val="1E1E2E"/>
                </a:solidFill>
                <a:latin typeface="Arial"/>
              </a:rPr>
              <a:t>Models, tools and data dependencies</a:t>
            </a:r>
          </a:p>
          <a:p>
            <a:pPr algn="l" marL="201168" indent="-201168">
              <a:spcAft>
                <a:spcPts val="800"/>
              </a:spcAft>
              <a:buFont typeface="Arial"/>
              <a:buChar char="•"/>
            </a:pPr>
            <a:r>
              <a:rPr sz="1500" b="0" i="0">
                <a:solidFill>
                  <a:srgbClr val="1E1E2E"/>
                </a:solidFill>
                <a:latin typeface="Arial"/>
              </a:rPr>
              <a:t>Risk classification</a:t>
            </a:r>
          </a:p>
        </p:txBody>
      </p:sp>
      <p:sp>
        <p:nvSpPr>
          <p:cNvPr id="15" name="Rounded Rectangle 14"/>
          <p:cNvSpPr/>
          <p:nvPr/>
        </p:nvSpPr>
        <p:spPr>
          <a:xfrm>
            <a:off x="726948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Activity</a:t>
            </a:r>
          </a:p>
        </p:txBody>
      </p:sp>
      <p:sp>
        <p:nvSpPr>
          <p:cNvPr id="16" name="Rounded Rectangle 15"/>
          <p:cNvSpPr/>
          <p:nvPr/>
        </p:nvSpPr>
        <p:spPr>
          <a:xfrm>
            <a:off x="726948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Last observed run</a:t>
            </a:r>
          </a:p>
          <a:p>
            <a:pPr algn="l" marL="201168" indent="-201168">
              <a:spcAft>
                <a:spcPts val="800"/>
              </a:spcAft>
              <a:buFont typeface="Arial"/>
              <a:buChar char="•"/>
            </a:pPr>
            <a:r>
              <a:rPr sz="1500" b="0" i="0">
                <a:solidFill>
                  <a:srgbClr val="1E1E2E"/>
                </a:solidFill>
                <a:latin typeface="Arial"/>
              </a:rPr>
              <a:t>Usage, error and cost indicators</a:t>
            </a:r>
          </a:p>
          <a:p>
            <a:pPr algn="l" marL="201168" indent="-201168">
              <a:spcAft>
                <a:spcPts val="800"/>
              </a:spcAft>
              <a:buFont typeface="Arial"/>
              <a:buChar char="•"/>
            </a:pPr>
            <a:r>
              <a:rPr sz="1500" b="0" i="0">
                <a:solidFill>
                  <a:srgbClr val="1E1E2E"/>
                </a:solidFill>
                <a:latin typeface="Arial"/>
              </a:rPr>
              <a:t>Telemetry health</a:t>
            </a:r>
          </a:p>
        </p:txBody>
      </p:sp>
      <p:sp>
        <p:nvSpPr>
          <p:cNvPr id="17" name="Rounded Rectangle 16"/>
          <p:cNvSpPr/>
          <p:nvPr/>
        </p:nvSpPr>
        <p:spPr>
          <a:xfrm>
            <a:off x="950976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Control</a:t>
            </a:r>
          </a:p>
        </p:txBody>
      </p:sp>
      <p:sp>
        <p:nvSpPr>
          <p:cNvPr id="18" name="Rounded Rectangle 17"/>
          <p:cNvSpPr/>
          <p:nvPr/>
        </p:nvSpPr>
        <p:spPr>
          <a:xfrm>
            <a:off x="950976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Containment mechanism per layer</a:t>
            </a:r>
          </a:p>
          <a:p>
            <a:pPr algn="l" marL="201168" indent="-201168">
              <a:spcAft>
                <a:spcPts val="800"/>
              </a:spcAft>
              <a:buFont typeface="Arial"/>
              <a:buChar char="•"/>
            </a:pPr>
            <a:r>
              <a:rPr sz="1500" b="0" i="0">
                <a:solidFill>
                  <a:srgbClr val="1E1E2E"/>
                </a:solidFill>
                <a:latin typeface="Arial"/>
              </a:rPr>
              <a:t>Lifecycle status</a:t>
            </a:r>
          </a:p>
          <a:p>
            <a:pPr algn="l" marL="201168" indent="-201168">
              <a:spcAft>
                <a:spcPts val="800"/>
              </a:spcAft>
              <a:buFont typeface="Arial"/>
              <a:buChar char="•"/>
            </a:pPr>
            <a:r>
              <a:rPr sz="1500" b="0" i="0">
                <a:solidFill>
                  <a:srgbClr val="1E1E2E"/>
                </a:solidFill>
                <a:latin typeface="Arial"/>
              </a:rPr>
              <a:t>State version (quarantine)</a:t>
            </a:r>
          </a:p>
        </p:txBody>
      </p:sp>
      <p:sp>
        <p:nvSpPr>
          <p:cNvPr id="19" name="Rounded Rectangle 18"/>
          <p:cNvSpPr/>
          <p:nvPr/>
        </p:nvSpPr>
        <p:spPr>
          <a:xfrm>
            <a:off x="548640" y="539496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A record with no owner or no containment mechanism is a finding, not a pass.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Inventory and runtime evidence answer different things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sp>
        <p:nvSpPr>
          <p:cNvPr id="8" name="Rounded Rectangle 7"/>
          <p:cNvSpPr/>
          <p:nvPr/>
        </p:nvSpPr>
        <p:spPr>
          <a:xfrm>
            <a:off x="548640" y="1371600"/>
            <a:ext cx="5394960" cy="548640"/>
          </a:xfrm>
          <a:prstGeom prst="roundRect">
            <a:avLst>
              <a:gd name="adj" fmla="val 1333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Deployment inventory: what exists</a:t>
            </a:r>
          </a:p>
        </p:txBody>
      </p:sp>
      <p:sp>
        <p:nvSpPr>
          <p:cNvPr id="9" name="TextBox 8"/>
          <p:cNvSpPr txBox="1"/>
          <p:nvPr/>
        </p:nvSpPr>
        <p:spPr>
          <a:xfrm>
            <a:off x="548640" y="2057400"/>
            <a:ext cx="5394960" cy="301752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Sources: Foundry Control Plane, Resource Graph, pipelines</a:t>
            </a:r>
          </a:p>
          <a:p>
            <a:pPr algn="l" marL="201168" indent="-201168">
              <a:spcAft>
                <a:spcPts val="800"/>
              </a:spcAft>
              <a:buFont typeface="Arial"/>
              <a:buChar char="•"/>
            </a:pPr>
            <a:r>
              <a:rPr sz="1700" b="0" i="0">
                <a:solidFill>
                  <a:srgbClr val="1E1E2E"/>
                </a:solidFill>
                <a:latin typeface="Arial"/>
              </a:rPr>
              <a:t>Answers: does it exist, where, who owns it</a:t>
            </a:r>
          </a:p>
          <a:p>
            <a:pPr algn="l" marL="201168" indent="-201168">
              <a:spcAft>
                <a:spcPts val="800"/>
              </a:spcAft>
              <a:buFont typeface="Arial"/>
              <a:buChar char="•"/>
            </a:pPr>
            <a:r>
              <a:rPr sz="1700" b="0" i="0">
                <a:solidFill>
                  <a:srgbClr val="1E1E2E"/>
                </a:solidFill>
                <a:latin typeface="Arial"/>
              </a:rPr>
              <a:t>Fails when: deployed outside pipelines or platforms</a:t>
            </a:r>
          </a:p>
          <a:p>
            <a:pPr algn="l" marL="201168" indent="-201168">
              <a:spcAft>
                <a:spcPts val="800"/>
              </a:spcAft>
              <a:buFont typeface="Arial"/>
              <a:buChar char="•"/>
            </a:pPr>
            <a:r>
              <a:rPr sz="1700" b="0" i="0">
                <a:solidFill>
                  <a:srgbClr val="1E1E2E"/>
                </a:solidFill>
                <a:latin typeface="Arial"/>
              </a:rPr>
              <a:t>Freshness: at deployment and on schedule</a:t>
            </a:r>
          </a:p>
        </p:txBody>
      </p:sp>
      <p:sp>
        <p:nvSpPr>
          <p:cNvPr id="10" name="Rounded Rectangle 9"/>
          <p:cNvSpPr/>
          <p:nvPr/>
        </p:nvSpPr>
        <p:spPr>
          <a:xfrm>
            <a:off x="6245352" y="1371600"/>
            <a:ext cx="5394960" cy="548640"/>
          </a:xfrm>
          <a:prstGeom prst="roundRect">
            <a:avLst>
              <a:gd name="adj" fmla="val 1333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Runtime evidence: what runs</a:t>
            </a:r>
          </a:p>
        </p:txBody>
      </p:sp>
      <p:sp>
        <p:nvSpPr>
          <p:cNvPr id="11" name="TextBox 10"/>
          <p:cNvSpPr txBox="1"/>
          <p:nvPr/>
        </p:nvSpPr>
        <p:spPr>
          <a:xfrm>
            <a:off x="6245352" y="2057400"/>
            <a:ext cx="5394960" cy="301752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Sources: Application Insights, Log Analytics, gateway logs</a:t>
            </a:r>
          </a:p>
          <a:p>
            <a:pPr algn="l" marL="201168" indent="-201168">
              <a:spcAft>
                <a:spcPts val="800"/>
              </a:spcAft>
              <a:buFont typeface="Arial"/>
              <a:buChar char="•"/>
            </a:pPr>
            <a:r>
              <a:rPr sz="1700" b="0" i="0">
                <a:solidFill>
                  <a:srgbClr val="1E1E2E"/>
                </a:solidFill>
                <a:latin typeface="Arial"/>
              </a:rPr>
              <a:t>Answers: when it last ran, how often, errors, cost</a:t>
            </a:r>
          </a:p>
          <a:p>
            <a:pPr algn="l" marL="201168" indent="-201168">
              <a:spcAft>
                <a:spcPts val="800"/>
              </a:spcAft>
              <a:buFont typeface="Arial"/>
              <a:buChar char="•"/>
            </a:pPr>
            <a:r>
              <a:rPr sz="1700" b="0" i="0">
                <a:solidFill>
                  <a:srgbClr val="1E1E2E"/>
                </a:solidFill>
                <a:latin typeface="Arial"/>
              </a:rPr>
              <a:t>Fails when: not instrumented, sampled or misconfigured</a:t>
            </a:r>
          </a:p>
          <a:p>
            <a:pPr algn="l" marL="201168" indent="-201168">
              <a:spcAft>
                <a:spcPts val="800"/>
              </a:spcAft>
              <a:buFont typeface="Arial"/>
              <a:buChar char="•"/>
            </a:pPr>
            <a:r>
              <a:rPr sz="1700" b="0" i="0">
                <a:solidFill>
                  <a:srgbClr val="1E1E2E"/>
                </a:solidFill>
                <a:latin typeface="Arial"/>
              </a:rPr>
              <a:t>Freshness: minutes; only after configuration</a:t>
            </a:r>
          </a:p>
        </p:txBody>
      </p:sp>
      <p:sp>
        <p:nvSpPr>
          <p:cNvPr id="12" name="Rounded Rectangle 11"/>
          <p:cNvSpPr/>
          <p:nvPr/>
        </p:nvSpPr>
        <p:spPr>
          <a:xfrm>
            <a:off x="548640" y="530352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Missing telemetry produces "telemetry unknown", never "dormant". Never auto-delete on zero sampled telemetry.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Usage classification rules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PROPOSED POLICY"/>
          <p:cNvSpPr/>
          <p:nvPr/>
        </p:nvSpPr>
        <p:spPr>
          <a:xfrm>
            <a:off x="1898650" y="274320"/>
            <a:ext cx="15697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POLICY</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9" name="Table"/>
          <p:cNvGraphicFramePr>
            <a:graphicFrameLocks noGrp="1"/>
          </p:cNvGraphicFramePr>
          <p:nvPr/>
        </p:nvGraphicFramePr>
        <p:xfrm>
          <a:off x="548640" y="1371600"/>
          <a:ext cx="11091672" cy="3307080"/>
        </p:xfrm>
        <a:graphic>
          <a:graphicData uri="http://schemas.openxmlformats.org/drawingml/2006/table">
            <a:tbl>
              <a:tblPr firstRow="1" bandRow="0">
                <a:tableStyleId>{5C22544A-7EE6-4342-B048-85BDC9FD1C3A}</a:tableStyleId>
              </a:tblPr>
              <a:tblGrid>
                <a:gridCol w="1828800"/>
                <a:gridCol w="3474720"/>
                <a:gridCol w="2834640"/>
                <a:gridCol w="2953512"/>
              </a:tblGrid>
              <a:tr h="289560">
                <a:tc>
                  <a:txBody>
                    <a:bodyPr wrap="square" anchor="ctr">
                      <a:noAutofit/>
                    </a:bodyPr>
                    <a:lstStyle/>
                    <a:p>
                      <a:pPr algn="l"/>
                      <a:r>
                        <a:rPr sz="1300" b="1" i="0">
                          <a:solidFill>
                            <a:srgbClr val="FFFFFF"/>
                          </a:solidFill>
                          <a:latin typeface="Arial"/>
                        </a:rPr>
                        <a:t>State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Rule (proposed)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 used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Action and 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Active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At least one qualifying production run in 30 days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 Insights or Control Plane runs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Monitor; agent owner</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Never observed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Deployed, no run since onboarding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Pipeline record, no runs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Validate onboarding; technical owner</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Dormant candidate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 runs for 30 days and telemetry healthy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Telemetry heartbeat present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Owner review in 14 days; business owner</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Telemetry unknown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Missing, stale or unhealthy telemetry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heartbeat; config drift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Repair monitoring; CIS Infra</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Orphaned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Owner invalid, or resource without record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Directory lookup; Resource Graph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Assign or retire; service owner</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Blocked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Containment or policy decision recorded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Registry state version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Verify enforcement; 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Retired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Lifecycle decision; resources removed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Resource Graph shows none left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Verify residual resources; CIS Infra</a:t>
                      </a:r>
                    </a:p>
                  </a:txBody>
                  <a:tcPr marL="73152" marR="73152" marT="36576" marB="36576"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Inventory coverage by agent type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graphicFrame>
        <p:nvGraphicFramePr>
          <p:cNvPr id="9" name="Table"/>
          <p:cNvGraphicFramePr>
            <a:graphicFrameLocks noGrp="1"/>
          </p:cNvGraphicFramePr>
          <p:nvPr/>
        </p:nvGraphicFramePr>
        <p:xfrm>
          <a:off x="548640" y="1371600"/>
          <a:ext cx="11091672" cy="3002280"/>
        </p:xfrm>
        <a:graphic>
          <a:graphicData uri="http://schemas.openxmlformats.org/drawingml/2006/table">
            <a:tbl>
              <a:tblPr firstRow="1" bandRow="0">
                <a:tableStyleId>{5C22544A-7EE6-4342-B048-85BDC9FD1C3A}</a:tableStyleId>
              </a:tblPr>
              <a:tblGrid>
                <a:gridCol w="3291840"/>
                <a:gridCol w="2377440"/>
                <a:gridCol w="2651760"/>
                <a:gridCol w="2770632"/>
              </a:tblGrid>
              <a:tr h="289560">
                <a:tc>
                  <a:txBody>
                    <a:bodyPr wrap="square" anchor="ctr">
                      <a:noAutofit/>
                    </a:bodyPr>
                    <a:lstStyle/>
                    <a:p>
                      <a:pPr algn="l"/>
                      <a:r>
                        <a:rPr sz="1300" b="1" i="0">
                          <a:solidFill>
                            <a:srgbClr val="FFFFFF"/>
                          </a:solidFill>
                          <a:latin typeface="Arial"/>
                        </a:rPr>
                        <a:t>Agent type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Inventory</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Usage telemetry</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Containment</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Foundry prompt, workflow, hosted</a:t>
                      </a:r>
                    </a:p>
                  </a:txBody>
                  <a:tcPr marL="73152" marR="73152" marT="36576" marB="36576" anchor="ctr">
                    <a:solidFill>
                      <a:srgbClr val="FFFFFF"/>
                    </a:solidFill>
                  </a:tcPr>
                </a:tc>
                <a:tc>
                  <a:txBody>
                    <a:bodyPr wrap="square" anchor="ctr">
                      <a:noAutofit/>
                    </a:bodyPr>
                    <a:lstStyle/>
                    <a:p>
                      <a:pPr algn="l"/>
                      <a:r>
                        <a:rPr sz="1300" b="1" i="0">
                          <a:solidFill>
                            <a:srgbClr val="1D6B3A"/>
                          </a:solidFill>
                          <a:latin typeface="Arial"/>
                        </a:rPr>
                        <a:t>Native</a:t>
                      </a:r>
                    </a:p>
                  </a:txBody>
                  <a:tcPr marL="73152" marR="73152" marT="36576" marB="36576" anchor="ctr">
                    <a:solidFill>
                      <a:srgbClr val="FFFFFF"/>
                    </a:solidFill>
                  </a:tcPr>
                </a:tc>
                <a:tc>
                  <a:txBody>
                    <a:bodyPr wrap="square" anchor="ctr">
                      <a:noAutofit/>
                    </a:bodyPr>
                    <a:lstStyle/>
                    <a:p>
                      <a:pPr algn="l"/>
                      <a:r>
                        <a:rPr sz="1300" b="1" i="0">
                          <a:solidFill>
                            <a:srgbClr val="1D6B3A"/>
                          </a:solidFill>
                          <a:latin typeface="Arial"/>
                        </a:rPr>
                        <a:t>Native once configured</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Stop when published; custom for in-flight</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Azure SRE Agent</a:t>
                      </a:r>
                    </a:p>
                  </a:txBody>
                  <a:tcPr marL="73152" marR="73152" marT="36576" marB="36576" anchor="ctr">
                    <a:solidFill>
                      <a:srgbClr val="F5F5F2"/>
                    </a:solidFill>
                  </a:tcPr>
                </a:tc>
                <a:tc>
                  <a:txBody>
                    <a:bodyPr wrap="square" anchor="ctr">
                      <a:noAutofit/>
                    </a:bodyPr>
                    <a:lstStyle/>
                    <a:p>
                      <a:pPr algn="l"/>
                      <a:r>
                        <a:rPr sz="1300" b="1" i="0">
                          <a:solidFill>
                            <a:srgbClr val="1D6B3A"/>
                          </a:solidFill>
                          <a:latin typeface="Arial"/>
                        </a:rPr>
                        <a:t>Native</a:t>
                      </a:r>
                    </a:p>
                  </a:txBody>
                  <a:tcPr marL="73152" marR="73152" marT="36576" marB="36576" anchor="ctr">
                    <a:solidFill>
                      <a:srgbClr val="F5F5F2"/>
                    </a:solidFill>
                  </a:tcPr>
                </a:tc>
                <a:tc>
                  <a:txBody>
                    <a:bodyPr wrap="square" anchor="ctr">
                      <a:noAutofit/>
                    </a:bodyPr>
                    <a:lstStyle/>
                    <a:p>
                      <a:pPr algn="l"/>
                      <a:r>
                        <a:rPr sz="1300" b="1" i="0">
                          <a:solidFill>
                            <a:srgbClr val="1D6B3A"/>
                          </a:solidFill>
                          <a:latin typeface="Arial"/>
                        </a:rPr>
                        <a:t>Native runs count</a:t>
                      </a:r>
                    </a:p>
                  </a:txBody>
                  <a:tcPr marL="73152" marR="73152" marT="36576" marB="36576" anchor="ctr">
                    <a:solidFill>
                      <a:srgbClr val="F5F5F2"/>
                    </a:solidFill>
                  </a:tcPr>
                </a:tc>
                <a:tc>
                  <a:txBody>
                    <a:bodyPr wrap="square" anchor="ctr">
                      <a:noAutofit/>
                    </a:bodyPr>
                    <a:lstStyle/>
                    <a:p>
                      <a:pPr algn="l"/>
                      <a:r>
                        <a:rPr sz="1300" b="1" i="0">
                          <a:solidFill>
                            <a:srgbClr val="1D6B3A"/>
                          </a:solidFill>
                          <a:latin typeface="Arial"/>
                        </a:rPr>
                        <a:t>Start or stop</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Logic Apps agent loops</a:t>
                      </a:r>
                    </a:p>
                  </a:txBody>
                  <a:tcPr marL="73152" marR="73152" marT="36576" marB="36576" anchor="ctr">
                    <a:solidFill>
                      <a:srgbClr val="FFFFFF"/>
                    </a:solidFill>
                  </a:tcPr>
                </a:tc>
                <a:tc>
                  <a:txBody>
                    <a:bodyPr wrap="square" anchor="ctr">
                      <a:noAutofit/>
                    </a:bodyPr>
                    <a:lstStyle/>
                    <a:p>
                      <a:pPr algn="l"/>
                      <a:r>
                        <a:rPr sz="1300" b="1" i="0">
                          <a:solidFill>
                            <a:srgbClr val="1D6B3A"/>
                          </a:solidFill>
                          <a:latin typeface="Arial"/>
                        </a:rPr>
                        <a:t>Native</a:t>
                      </a:r>
                    </a:p>
                  </a:txBody>
                  <a:tcPr marL="73152" marR="73152" marT="36576" marB="36576" anchor="ctr">
                    <a:solidFill>
                      <a:srgbClr val="FFFFFF"/>
                    </a:solidFill>
                  </a:tcPr>
                </a:tc>
                <a:tc>
                  <a:txBody>
                    <a:bodyPr wrap="square" anchor="ctr">
                      <a:noAutofit/>
                    </a:bodyPr>
                    <a:lstStyle/>
                    <a:p>
                      <a:pPr algn="l"/>
                      <a:r>
                        <a:rPr sz="1300" b="1" i="0">
                          <a:solidFill>
                            <a:srgbClr val="A4262C"/>
                          </a:solidFill>
                          <a:latin typeface="Arial"/>
                        </a:rPr>
                        <a:t>No traces or metrics</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Stop resource: all workflows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Custom agents on Container Apps or AKS</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Register manually</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Custom instrumentation</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Block proxy; custom adapter</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Classic agents, Azure OpenAI assistants</a:t>
                      </a:r>
                    </a:p>
                  </a:txBody>
                  <a:tcPr marL="73152" marR="73152" marT="36576" marB="36576" anchor="ctr">
                    <a:solidFill>
                      <a:srgbClr val="FFFFFF"/>
                    </a:solidFill>
                  </a:tcPr>
                </a:tc>
                <a:tc>
                  <a:txBody>
                    <a:bodyPr wrap="square" anchor="ctr">
                      <a:noAutofit/>
                    </a:bodyPr>
                    <a:lstStyle/>
                    <a:p>
                      <a:pPr algn="l"/>
                      <a:r>
                        <a:rPr sz="1300" b="1" i="0">
                          <a:solidFill>
                            <a:srgbClr val="A4262C"/>
                          </a:solidFill>
                          <a:latin typeface="Arial"/>
                        </a:rPr>
                        <a:t>Not supported</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Custom only</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Custom only</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Copilot Studio agents</a:t>
                      </a:r>
                    </a:p>
                  </a:txBody>
                  <a:tcPr marL="73152" marR="73152" marT="36576" marB="36576" anchor="ctr">
                    <a:solidFill>
                      <a:srgbClr val="F5F5F2"/>
                    </a:solidFill>
                  </a:tcPr>
                </a:tc>
                <a:tc>
                  <a:txBody>
                    <a:bodyPr wrap="square" anchor="ctr">
                      <a:noAutofit/>
                    </a:bodyPr>
                    <a:lstStyle/>
                    <a:p>
                      <a:pPr algn="l"/>
                      <a:r>
                        <a:rPr sz="1300" b="1" i="0">
                          <a:solidFill>
                            <a:srgbClr val="1D6B3A"/>
                          </a:solidFill>
                          <a:latin typeface="Arial"/>
                        </a:rPr>
                        <a:t>Agent 365</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Agent 365 and Purview</a:t>
                      </a:r>
                    </a:p>
                  </a:txBody>
                  <a:tcPr marL="73152" marR="73152" marT="36576" marB="36576" anchor="ctr">
                    <a:solidFill>
                      <a:srgbClr val="F5F5F2"/>
                    </a:solidFill>
                  </a:tcPr>
                </a:tc>
                <a:tc>
                  <a:txBody>
                    <a:bodyPr wrap="square" anchor="ctr">
                      <a:noAutofit/>
                    </a:bodyPr>
                    <a:lstStyle/>
                    <a:p>
                      <a:pPr algn="l"/>
                      <a:r>
                        <a:rPr sz="1300" b="1" i="0">
                          <a:solidFill>
                            <a:srgbClr val="8A4B08"/>
                          </a:solidFill>
                          <a:latin typeface="Arial"/>
                        </a:rPr>
                        <a:t>Entra controls; custom</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AWS Bedrock, Google agents</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Agent 365 sync (preview)</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Custom only</a:t>
                      </a:r>
                    </a:p>
                  </a:txBody>
                  <a:tcPr marL="73152" marR="73152" marT="36576" marB="36576" anchor="ctr">
                    <a:solidFill>
                      <a:srgbClr val="FFFFFF"/>
                    </a:solidFill>
                  </a:tcPr>
                </a:tc>
                <a:tc>
                  <a:txBody>
                    <a:bodyPr wrap="square" anchor="ctr">
                      <a:noAutofit/>
                    </a:bodyPr>
                    <a:lstStyle/>
                    <a:p>
                      <a:pPr algn="l"/>
                      <a:r>
                        <a:rPr sz="1300" b="1" i="0">
                          <a:solidFill>
                            <a:srgbClr val="8A4B08"/>
                          </a:solidFill>
                          <a:latin typeface="Arial"/>
                        </a:rPr>
                        <a:t>Custom only</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Unregistered SaaS or local agents</a:t>
                      </a:r>
                    </a:p>
                  </a:txBody>
                  <a:tcPr marL="73152" marR="73152" marT="36576" marB="36576" anchor="ctr">
                    <a:solidFill>
                      <a:srgbClr val="F5F5F2"/>
                    </a:solidFill>
                  </a:tcPr>
                </a:tc>
                <a:tc>
                  <a:txBody>
                    <a:bodyPr wrap="square" anchor="ctr">
                      <a:noAutofit/>
                    </a:bodyPr>
                    <a:lstStyle/>
                    <a:p>
                      <a:pPr algn="l"/>
                      <a:r>
                        <a:rPr sz="1300" b="1" i="0">
                          <a:solidFill>
                            <a:srgbClr val="A4262C"/>
                          </a:solidFill>
                          <a:latin typeface="Arial"/>
                        </a:rPr>
                        <a:t>Outside coverage</a:t>
                      </a:r>
                    </a:p>
                  </a:txBody>
                  <a:tcPr marL="73152" marR="73152" marT="36576" marB="36576" anchor="ctr">
                    <a:solidFill>
                      <a:srgbClr val="F5F5F2"/>
                    </a:solidFill>
                  </a:tcPr>
                </a:tc>
                <a:tc>
                  <a:txBody>
                    <a:bodyPr wrap="square" anchor="ctr">
                      <a:noAutofit/>
                    </a:bodyPr>
                    <a:lstStyle/>
                    <a:p>
                      <a:pPr algn="l"/>
                      <a:r>
                        <a:rPr sz="1300" b="1" i="0">
                          <a:solidFill>
                            <a:srgbClr val="A4262C"/>
                          </a:solidFill>
                          <a:latin typeface="Arial"/>
                        </a:rPr>
                        <a:t>Outside coverage</a:t>
                      </a:r>
                    </a:p>
                  </a:txBody>
                  <a:tcPr marL="73152" marR="73152" marT="36576" marB="36576" anchor="ctr">
                    <a:solidFill>
                      <a:srgbClr val="F5F5F2"/>
                    </a:solidFill>
                  </a:tcPr>
                </a:tc>
                <a:tc>
                  <a:txBody>
                    <a:bodyPr wrap="square" anchor="ctr">
                      <a:noAutofit/>
                    </a:bodyPr>
                    <a:lstStyle/>
                    <a:p>
                      <a:pPr algn="l"/>
                      <a:r>
                        <a:rPr sz="1300" b="1" i="0">
                          <a:solidFill>
                            <a:srgbClr val="A4262C"/>
                          </a:solidFill>
                          <a:latin typeface="Arial"/>
                        </a:rPr>
                        <a:t>Outside coverage</a:t>
                      </a:r>
                    </a:p>
                  </a:txBody>
                  <a:tcPr marL="73152" marR="73152" marT="36576" marB="36576" anchor="ctr">
                    <a:solidFill>
                      <a:srgbClr val="F5F5F2"/>
                    </a:solidFill>
                  </a:tcPr>
                </a:tc>
              </a:tr>
            </a:tbl>
          </a:graphicData>
        </a:graphic>
      </p:graphicFrame>
      <p:sp>
        <p:nvSpPr>
          <p:cNvPr id="10" name="Rounded Rectangle 9"/>
          <p:cNvSpPr/>
          <p:nvPr/>
        </p:nvSpPr>
        <p:spPr>
          <a:xfrm>
            <a:off x="548640" y="53949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Outside coverage means invisible until onboarded. Report coverage percentage with the denominator stated.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estate view: what the workbook shows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Status chip: ILLUSTRATIVE, NO CUSTOMER DATA"/>
          <p:cNvSpPr/>
          <p:nvPr/>
        </p:nvSpPr>
        <p:spPr>
          <a:xfrm>
            <a:off x="1898650" y="274320"/>
            <a:ext cx="28651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 NO CUSTOMER DATA</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sp>
        <p:nvSpPr>
          <p:cNvPr id="9" name="Rounded Rectangle 8"/>
          <p:cNvSpPr/>
          <p:nvPr/>
        </p:nvSpPr>
        <p:spPr>
          <a:xfrm>
            <a:off x="548640" y="1325880"/>
            <a:ext cx="11091672" cy="457200"/>
          </a:xfrm>
          <a:prstGeom prst="roundRect">
            <a:avLst>
              <a:gd name="adj" fmla="val 16000"/>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1" i="0">
                <a:solidFill>
                  <a:srgbClr val="8A4B08"/>
                </a:solidFill>
                <a:latin typeface="Arial"/>
              </a:rPr>
              <a:t>ILLUSTRATIVE MOCK-UP  ·  invented sample data  ·  not customer evidence</a:t>
            </a:r>
          </a:p>
        </p:txBody>
      </p:sp>
      <p:sp>
        <p:nvSpPr>
          <p:cNvPr id="10" name="Rounded Rectangle 9"/>
          <p:cNvSpPr/>
          <p:nvPr/>
        </p:nvSpPr>
        <p:spPr>
          <a:xfrm>
            <a:off x="54864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24</a:t>
            </a:r>
          </a:p>
          <a:p>
            <a:pPr algn="l"/>
            <a:r>
              <a:rPr sz="1300" b="0" i="0">
                <a:solidFill>
                  <a:srgbClr val="53565A"/>
                </a:solidFill>
                <a:latin typeface="Arial"/>
              </a:rPr>
              <a:t>Registered</a:t>
            </a:r>
          </a:p>
        </p:txBody>
      </p:sp>
      <p:sp>
        <p:nvSpPr>
          <p:cNvPr id="11" name="Rounded Rectangle 10"/>
          <p:cNvSpPr/>
          <p:nvPr/>
        </p:nvSpPr>
        <p:spPr>
          <a:xfrm>
            <a:off x="278892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17</a:t>
            </a:r>
          </a:p>
          <a:p>
            <a:pPr algn="l"/>
            <a:r>
              <a:rPr sz="1300" b="0" i="0">
                <a:solidFill>
                  <a:srgbClr val="53565A"/>
                </a:solidFill>
                <a:latin typeface="Arial"/>
              </a:rPr>
              <a:t>Active, 30 days</a:t>
            </a:r>
          </a:p>
        </p:txBody>
      </p:sp>
      <p:sp>
        <p:nvSpPr>
          <p:cNvPr id="12" name="Rounded Rectangle 11"/>
          <p:cNvSpPr/>
          <p:nvPr/>
        </p:nvSpPr>
        <p:spPr>
          <a:xfrm>
            <a:off x="502920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4</a:t>
            </a:r>
          </a:p>
          <a:p>
            <a:pPr algn="l"/>
            <a:r>
              <a:rPr sz="1300" b="0" i="0">
                <a:solidFill>
                  <a:srgbClr val="53565A"/>
                </a:solidFill>
                <a:latin typeface="Arial"/>
              </a:rPr>
              <a:t>Dormant review</a:t>
            </a:r>
          </a:p>
        </p:txBody>
      </p:sp>
      <p:sp>
        <p:nvSpPr>
          <p:cNvPr id="13" name="Rounded Rectangle 12"/>
          <p:cNvSpPr/>
          <p:nvPr/>
        </p:nvSpPr>
        <p:spPr>
          <a:xfrm>
            <a:off x="726948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3</a:t>
            </a:r>
          </a:p>
          <a:p>
            <a:pPr algn="l"/>
            <a:r>
              <a:rPr sz="1300" b="0" i="0">
                <a:solidFill>
                  <a:srgbClr val="53565A"/>
                </a:solidFill>
                <a:latin typeface="Arial"/>
              </a:rPr>
              <a:t>Telemetry unknown</a:t>
            </a:r>
          </a:p>
        </p:txBody>
      </p:sp>
      <p:sp>
        <p:nvSpPr>
          <p:cNvPr id="14" name="Rounded Rectangle 13"/>
          <p:cNvSpPr/>
          <p:nvPr/>
        </p:nvSpPr>
        <p:spPr>
          <a:xfrm>
            <a:off x="950976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1</a:t>
            </a:r>
          </a:p>
          <a:p>
            <a:pPr algn="l"/>
            <a:r>
              <a:rPr sz="1300" b="0" i="0">
                <a:solidFill>
                  <a:srgbClr val="53565A"/>
                </a:solidFill>
                <a:latin typeface="Arial"/>
              </a:rPr>
              <a:t>Orphaned</a:t>
            </a:r>
          </a:p>
        </p:txBody>
      </p:sp>
      <p:graphicFrame>
        <p:nvGraphicFramePr>
          <p:cNvPr id="15" name="Table"/>
          <p:cNvGraphicFramePr>
            <a:graphicFrameLocks noGrp="1"/>
          </p:cNvGraphicFramePr>
          <p:nvPr/>
        </p:nvGraphicFramePr>
        <p:xfrm>
          <a:off x="548640" y="3291840"/>
          <a:ext cx="11091672" cy="1524000"/>
        </p:xfrm>
        <a:graphic>
          <a:graphicData uri="http://schemas.openxmlformats.org/drawingml/2006/table">
            <a:tbl>
              <a:tblPr firstRow="1" bandRow="0">
                <a:tableStyleId>{5C22544A-7EE6-4342-B048-85BDC9FD1C3A}</a:tableStyleId>
              </a:tblPr>
              <a:tblGrid>
                <a:gridCol w="2926080"/>
                <a:gridCol w="1828800"/>
                <a:gridCol w="2194560"/>
                <a:gridCol w="1463040"/>
                <a:gridCol w="2679192"/>
              </a:tblGrid>
              <a:tr h="304800">
                <a:tc>
                  <a:txBody>
                    <a:bodyPr wrap="square" anchor="ctr">
                      <a:noAutofit/>
                    </a:bodyPr>
                    <a:lstStyle/>
                    <a:p>
                      <a:pPr algn="l"/>
                      <a:r>
                        <a:rPr sz="1400" b="1" i="0">
                          <a:solidFill>
                            <a:srgbClr val="FFFFFF"/>
                          </a:solidFill>
                          <a:latin typeface="Arial"/>
                        </a:rPr>
                        <a:t>Agent (sample)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Last run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Containment</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Knowledge assistant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Workplace</a:t>
                      </a:r>
                    </a:p>
                  </a:txBody>
                  <a:tcPr marL="73152" marR="73152" marT="36576" marB="36576" anchor="ctr">
                    <a:solidFill>
                      <a:srgbClr val="FFFFFF"/>
                    </a:solidFill>
                  </a:tcPr>
                </a:tc>
                <a:tc>
                  <a:txBody>
                    <a:bodyPr wrap="square" anchor="ctr">
                      <a:noAutofit/>
                    </a:bodyPr>
                    <a:lstStyle/>
                    <a:p>
                      <a:pPr algn="l"/>
                      <a:r>
                        <a:rPr sz="1400" b="1" i="0">
                          <a:solidFill>
                            <a:srgbClr val="1D6B3A"/>
                          </a:solidFill>
                          <a:latin typeface="Arial"/>
                        </a:rPr>
                        <a:t>Active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Today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Block, cancel, deny tested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Invoice triage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Dormant review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42 days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Block tested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Ops helper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Platform</a:t>
                      </a:r>
                    </a:p>
                  </a:txBody>
                  <a:tcPr marL="73152" marR="73152" marT="36576" marB="36576" anchor="ctr">
                    <a:solidFill>
                      <a:srgbClr val="FFFFFF"/>
                    </a:solidFill>
                  </a:tcPr>
                </a:tc>
                <a:tc>
                  <a:txBody>
                    <a:bodyPr wrap="square" anchor="ctr">
                      <a:noAutofit/>
                    </a:bodyPr>
                    <a:lstStyle/>
                    <a:p>
                      <a:pPr algn="l"/>
                      <a:r>
                        <a:rPr sz="1400" b="1" i="0">
                          <a:solidFill>
                            <a:srgbClr val="53565A"/>
                          </a:solidFill>
                          <a:latin typeface="Arial"/>
                        </a:rPr>
                        <a:t>Telemetry unknown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Unknown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Not tested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Legacy summariser</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None</a:t>
                      </a:r>
                    </a:p>
                  </a:txBody>
                  <a:tcPr marL="73152" marR="73152" marT="36576" marB="36576" anchor="ctr">
                    <a:solidFill>
                      <a:srgbClr val="F5F5F2"/>
                    </a:solidFill>
                  </a:tcPr>
                </a:tc>
                <a:tc>
                  <a:txBody>
                    <a:bodyPr wrap="square" anchor="ctr">
                      <a:noAutofit/>
                    </a:bodyPr>
                    <a:lstStyle/>
                    <a:p>
                      <a:pPr algn="l"/>
                      <a:r>
                        <a:rPr sz="1400" b="1" i="0">
                          <a:solidFill>
                            <a:srgbClr val="A4262C"/>
                          </a:solidFill>
                          <a:latin typeface="Arial"/>
                        </a:rPr>
                        <a:t>Orphaned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96 days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None recorded</a:t>
                      </a:r>
                    </a:p>
                  </a:txBody>
                  <a:tcPr marL="73152" marR="73152" marT="36576" marB="36576" anchor="ctr">
                    <a:solidFill>
                      <a:srgbClr val="F5F5F2"/>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Rogue-agent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K1</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3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sp>
        <p:nvSpPr>
          <p:cNvPr id="9" name="Rounded Rectangle 8"/>
          <p:cNvSpPr/>
          <p:nvPr/>
        </p:nvSpPr>
        <p:spPr>
          <a:xfrm>
            <a:off x="411480" y="1243584"/>
            <a:ext cx="11384280" cy="2377440"/>
          </a:xfrm>
          <a:prstGeom prst="roundRect">
            <a:avLst>
              <a:gd name="adj" fmla="val 384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298448"/>
            <a:ext cx="11164824" cy="237744"/>
          </a:xfrm>
          <a:prstGeom prst="rect">
            <a:avLst/>
          </a:prstGeom>
          <a:noFill/>
        </p:spPr>
        <p:txBody>
          <a:bodyPr wrap="square" lIns="0" rIns="0" tIns="0" bIns="0" anchor="t">
            <a:noAutofit/>
          </a:bodyPr>
          <a:lstStyle/>
          <a:p>
            <a:pPr algn="l"/>
            <a:r>
              <a:rPr sz="1100" b="1" i="0">
                <a:solidFill>
                  <a:srgbClr val="000048"/>
                </a:solidFill>
                <a:latin typeface="Arial"/>
              </a:rPr>
              <a:t>GOVERNED EXECUTION PATH (WORKLOAD SUBSCRIPTION, PRIVATE NETWORK)</a:t>
            </a:r>
          </a:p>
        </p:txBody>
      </p:sp>
      <p:pic>
        <p:nvPicPr>
          <p:cNvPr id="11"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2124" y="1865376"/>
            <a:ext cx="438912" cy="438912"/>
          </a:xfrm>
          <a:prstGeom prst="rect">
            <a:avLst/>
          </a:prstGeom>
        </p:spPr>
      </p:pic>
      <p:sp>
        <p:nvSpPr>
          <p:cNvPr id="12" name="TextBox 11"/>
          <p:cNvSpPr txBox="1"/>
          <p:nvPr/>
        </p:nvSpPr>
        <p:spPr>
          <a:xfrm>
            <a:off x="539496" y="2340864"/>
            <a:ext cx="1344168" cy="512064"/>
          </a:xfrm>
          <a:prstGeom prst="rect">
            <a:avLst/>
          </a:prstGeom>
          <a:noFill/>
        </p:spPr>
        <p:txBody>
          <a:bodyPr wrap="square" lIns="0" rIns="0" tIns="0" bIns="0" anchor="t">
            <a:noAutofit/>
          </a:bodyPr>
          <a:lstStyle/>
          <a:p>
            <a:pPr algn="ctr"/>
            <a:r>
              <a:rPr sz="1300" b="1" i="0">
                <a:solidFill>
                  <a:srgbClr val="000048"/>
                </a:solidFill>
                <a:latin typeface="Arial"/>
              </a:rPr>
              <a:t>Users and apps</a:t>
            </a:r>
          </a:p>
          <a:p>
            <a:pPr algn="ctr"/>
            <a:r>
              <a:rPr sz="1100" b="0" i="0">
                <a:solidFill>
                  <a:srgbClr val="53565A"/>
                </a:solidFill>
                <a:latin typeface="Arial"/>
              </a:rPr>
              <a:t>Entra-authenticated callers</a:t>
            </a:r>
          </a:p>
        </p:txBody>
      </p:sp>
      <p:sp>
        <p:nvSpPr>
          <p:cNvPr id="13" name="Rounded Rectangle 12"/>
          <p:cNvSpPr/>
          <p:nvPr/>
        </p:nvSpPr>
        <p:spPr>
          <a:xfrm>
            <a:off x="2103120" y="1700784"/>
            <a:ext cx="18288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98064" y="1773936"/>
            <a:ext cx="438912" cy="438912"/>
          </a:xfrm>
          <a:prstGeom prst="rect">
            <a:avLst/>
          </a:prstGeom>
        </p:spPr>
      </p:pic>
      <p:sp>
        <p:nvSpPr>
          <p:cNvPr id="15" name="TextBox 14"/>
          <p:cNvSpPr txBox="1"/>
          <p:nvPr/>
        </p:nvSpPr>
        <p:spPr>
          <a:xfrm>
            <a:off x="2148840" y="2249424"/>
            <a:ext cx="1737360" cy="822960"/>
          </a:xfrm>
          <a:prstGeom prst="rect">
            <a:avLst/>
          </a:prstGeom>
          <a:noFill/>
        </p:spPr>
        <p:txBody>
          <a:bodyPr wrap="square" lIns="0" rIns="0" tIns="0" bIns="0" anchor="t">
            <a:noAutofit/>
          </a:bodyPr>
          <a:lstStyle/>
          <a:p>
            <a:pPr algn="ctr"/>
            <a:r>
              <a:rPr sz="1200" b="1" i="0">
                <a:solidFill>
                  <a:srgbClr val="000048"/>
                </a:solidFill>
                <a:latin typeface="Arial"/>
              </a:rPr>
              <a:t>API Management</a:t>
            </a:r>
          </a:p>
          <a:p>
            <a:pPr algn="ctr"/>
            <a:r>
              <a:rPr sz="1000" b="0" i="0">
                <a:solidFill>
                  <a:srgbClr val="53565A"/>
                </a:solidFill>
                <a:latin typeface="Arial"/>
              </a:rPr>
              <a:t>Ingress: caller identity, agent ID mapping, deny-state check</a:t>
            </a:r>
          </a:p>
        </p:txBody>
      </p:sp>
      <p:sp>
        <p:nvSpPr>
          <p:cNvPr id="16" name="Rounded Rectangle 15"/>
          <p:cNvSpPr/>
          <p:nvPr/>
        </p:nvSpPr>
        <p:spPr>
          <a:xfrm>
            <a:off x="4343400" y="1700784"/>
            <a:ext cx="20574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oundry Agent Service" descr="Official Azure icon: Foundry Agent Servi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01184" y="1773936"/>
            <a:ext cx="438912" cy="438912"/>
          </a:xfrm>
          <a:prstGeom prst="rect">
            <a:avLst/>
          </a:prstGeom>
        </p:spPr>
      </p:pic>
      <p:pic>
        <p:nvPicPr>
          <p:cNvPr id="18" name="Azure icon: Container Apps Environments" descr="Official Azure icon: Container Apps Environme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413248" y="1773936"/>
            <a:ext cx="438912" cy="438912"/>
          </a:xfrm>
          <a:prstGeom prst="rect">
            <a:avLst/>
          </a:prstGeom>
        </p:spPr>
      </p:pic>
      <p:sp>
        <p:nvSpPr>
          <p:cNvPr id="19" name="TextBox 18"/>
          <p:cNvSpPr txBox="1"/>
          <p:nvPr/>
        </p:nvSpPr>
        <p:spPr>
          <a:xfrm>
            <a:off x="4389120" y="2249424"/>
            <a:ext cx="1965960" cy="822960"/>
          </a:xfrm>
          <a:prstGeom prst="rect">
            <a:avLst/>
          </a:prstGeom>
          <a:noFill/>
        </p:spPr>
        <p:txBody>
          <a:bodyPr wrap="square" lIns="0" rIns="0" tIns="0" bIns="0" anchor="t">
            <a:noAutofit/>
          </a:bodyPr>
          <a:lstStyle/>
          <a:p>
            <a:pPr algn="ctr"/>
            <a:r>
              <a:rPr sz="1200" b="1" i="0">
                <a:solidFill>
                  <a:srgbClr val="000048"/>
                </a:solidFill>
                <a:latin typeface="Arial"/>
              </a:rPr>
              <a:t>Agent runtime</a:t>
            </a:r>
          </a:p>
          <a:p>
            <a:pPr algn="ctr"/>
            <a:r>
              <a:rPr sz="1000" b="0" i="0">
                <a:solidFill>
                  <a:srgbClr val="53565A"/>
                </a:solidFill>
                <a:latin typeface="Arial"/>
              </a:rPr>
              <a:t>Foundry Agent Service, or a customer host (Container Apps shown). Guard at each loop checkpoint</a:t>
            </a:r>
          </a:p>
        </p:txBody>
      </p:sp>
      <p:sp>
        <p:nvSpPr>
          <p:cNvPr id="20" name="Rounded Rectangle 19"/>
          <p:cNvSpPr/>
          <p:nvPr/>
        </p:nvSpPr>
        <p:spPr>
          <a:xfrm>
            <a:off x="6812280" y="1700784"/>
            <a:ext cx="192024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52944" y="1773936"/>
            <a:ext cx="438912" cy="438912"/>
          </a:xfrm>
          <a:prstGeom prst="rect">
            <a:avLst/>
          </a:prstGeom>
        </p:spPr>
      </p:pic>
      <p:sp>
        <p:nvSpPr>
          <p:cNvPr id="22" name="TextBox 21"/>
          <p:cNvSpPr txBox="1"/>
          <p:nvPr/>
        </p:nvSpPr>
        <p:spPr>
          <a:xfrm>
            <a:off x="6858000" y="2249424"/>
            <a:ext cx="1828800" cy="822960"/>
          </a:xfrm>
          <a:prstGeom prst="rect">
            <a:avLst/>
          </a:prstGeom>
          <a:noFill/>
        </p:spPr>
        <p:txBody>
          <a:bodyPr wrap="square" lIns="0" rIns="0" tIns="0" bIns="0" anchor="t">
            <a:noAutofit/>
          </a:bodyPr>
          <a:lstStyle/>
          <a:p>
            <a:pPr algn="ctr"/>
            <a:r>
              <a:rPr sz="1200" b="1" i="0">
                <a:solidFill>
                  <a:srgbClr val="000048"/>
                </a:solidFill>
                <a:latin typeface="Arial"/>
              </a:rPr>
              <a:t>Model and tool gateway</a:t>
            </a:r>
          </a:p>
          <a:p>
            <a:pPr algn="ctr"/>
            <a:r>
              <a:rPr sz="1000" b="0" i="0">
                <a:solidFill>
                  <a:srgbClr val="53565A"/>
                </a:solidFill>
                <a:latin typeface="Arial"/>
              </a:rPr>
              <a:t>API Management outbound policies plus tool-side authorisation</a:t>
            </a:r>
          </a:p>
        </p:txBody>
      </p:sp>
      <p:sp>
        <p:nvSpPr>
          <p:cNvPr id="23" name="Rounded Rectangle 22"/>
          <p:cNvSpPr/>
          <p:nvPr/>
        </p:nvSpPr>
        <p:spPr>
          <a:xfrm>
            <a:off x="9144000" y="1591056"/>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17152" y="1682496"/>
            <a:ext cx="329184" cy="329184"/>
          </a:xfrm>
          <a:prstGeom prst="rect">
            <a:avLst/>
          </a:prstGeom>
        </p:spPr>
      </p:pic>
      <p:sp>
        <p:nvSpPr>
          <p:cNvPr id="25" name="TextBox 24"/>
          <p:cNvSpPr txBox="1"/>
          <p:nvPr/>
        </p:nvSpPr>
        <p:spPr>
          <a:xfrm>
            <a:off x="9619488" y="1627632"/>
            <a:ext cx="2002536" cy="438912"/>
          </a:xfrm>
          <a:prstGeom prst="rect">
            <a:avLst/>
          </a:prstGeom>
          <a:noFill/>
        </p:spPr>
        <p:txBody>
          <a:bodyPr wrap="square" lIns="0" rIns="0" tIns="0" bIns="0" anchor="ctr">
            <a:noAutofit/>
          </a:bodyPr>
          <a:lstStyle/>
          <a:p>
            <a:pPr algn="l"/>
            <a:r>
              <a:rPr sz="1200" b="1" i="0">
                <a:solidFill>
                  <a:srgbClr val="000048"/>
                </a:solidFill>
                <a:latin typeface="Arial"/>
              </a:rPr>
              <a:t>Foundry Models</a:t>
            </a:r>
          </a:p>
          <a:p>
            <a:pPr algn="l"/>
            <a:r>
              <a:rPr sz="1000" b="0" i="0">
                <a:solidFill>
                  <a:srgbClr val="53565A"/>
                </a:solidFill>
                <a:latin typeface="Arial"/>
              </a:rPr>
              <a:t>model deployments</a:t>
            </a:r>
          </a:p>
        </p:txBody>
      </p:sp>
      <p:sp>
        <p:nvSpPr>
          <p:cNvPr id="26" name="Rounded Rectangle 25"/>
          <p:cNvSpPr/>
          <p:nvPr/>
        </p:nvSpPr>
        <p:spPr>
          <a:xfrm>
            <a:off x="9144000" y="2157984"/>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7"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217152" y="2249424"/>
            <a:ext cx="329184" cy="329184"/>
          </a:xfrm>
          <a:prstGeom prst="rect">
            <a:avLst/>
          </a:prstGeom>
        </p:spPr>
      </p:pic>
      <p:sp>
        <p:nvSpPr>
          <p:cNvPr id="28" name="TextBox 27"/>
          <p:cNvSpPr txBox="1"/>
          <p:nvPr/>
        </p:nvSpPr>
        <p:spPr>
          <a:xfrm>
            <a:off x="9619488" y="2194560"/>
            <a:ext cx="2002536" cy="438912"/>
          </a:xfrm>
          <a:prstGeom prst="rect">
            <a:avLst/>
          </a:prstGeom>
          <a:noFill/>
        </p:spPr>
        <p:txBody>
          <a:bodyPr wrap="square" lIns="0" rIns="0" tIns="0" bIns="0" anchor="ctr">
            <a:noAutofit/>
          </a:bodyPr>
          <a:lstStyle/>
          <a:p>
            <a:pPr algn="l"/>
            <a:r>
              <a:rPr sz="1200" b="1" i="0">
                <a:solidFill>
                  <a:srgbClr val="000048"/>
                </a:solidFill>
                <a:latin typeface="Arial"/>
              </a:rPr>
              <a:t>Tool APIs (example host)</a:t>
            </a:r>
          </a:p>
          <a:p>
            <a:pPr algn="l"/>
            <a:r>
              <a:rPr sz="1000" b="0" i="0">
                <a:solidFill>
                  <a:srgbClr val="53565A"/>
                </a:solidFill>
                <a:latin typeface="Arial"/>
              </a:rPr>
              <a:t>MCP or REST tools</a:t>
            </a:r>
          </a:p>
        </p:txBody>
      </p:sp>
      <p:sp>
        <p:nvSpPr>
          <p:cNvPr id="29" name="Rounded Rectangle 28"/>
          <p:cNvSpPr/>
          <p:nvPr/>
        </p:nvSpPr>
        <p:spPr>
          <a:xfrm>
            <a:off x="9144000" y="2724912"/>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0" name="Azure icon: AI Search (Cognitive Search icon)" descr="Official Azure icon: AI Search (Cognitive Search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217152" y="2816352"/>
            <a:ext cx="329184" cy="329184"/>
          </a:xfrm>
          <a:prstGeom prst="rect">
            <a:avLst/>
          </a:prstGeom>
        </p:spPr>
      </p:pic>
      <p:sp>
        <p:nvSpPr>
          <p:cNvPr id="31" name="TextBox 30"/>
          <p:cNvSpPr txBox="1"/>
          <p:nvPr/>
        </p:nvSpPr>
        <p:spPr>
          <a:xfrm>
            <a:off x="9619488" y="2761488"/>
            <a:ext cx="2002536" cy="438912"/>
          </a:xfrm>
          <a:prstGeom prst="rect">
            <a:avLst/>
          </a:prstGeom>
          <a:noFill/>
        </p:spPr>
        <p:txBody>
          <a:bodyPr wrap="square" lIns="0" rIns="0" tIns="0" bIns="0" anchor="ctr">
            <a:noAutofit/>
          </a:bodyPr>
          <a:lstStyle/>
          <a:p>
            <a:pPr algn="l"/>
            <a:r>
              <a:rPr sz="1200" b="1" i="0">
                <a:solidFill>
                  <a:srgbClr val="000048"/>
                </a:solidFill>
                <a:latin typeface="Arial"/>
              </a:rPr>
              <a:t>Workload data</a:t>
            </a:r>
          </a:p>
          <a:p>
            <a:pPr algn="l"/>
            <a:r>
              <a:rPr sz="1000" b="0" i="0">
                <a:solidFill>
                  <a:srgbClr val="53565A"/>
                </a:solidFill>
                <a:latin typeface="Arial"/>
              </a:rPr>
              <a:t>AI Search, Storage account</a:t>
            </a:r>
          </a:p>
        </p:txBody>
      </p:sp>
      <p:cxnSp>
        <p:nvCxnSpPr>
          <p:cNvPr id="32" name="Connector (flow)"/>
          <p:cNvCxnSpPr/>
          <p:nvPr/>
        </p:nvCxnSpPr>
        <p:spPr>
          <a:xfrm>
            <a:off x="1920240" y="2414016"/>
            <a:ext cx="1828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flow)"/>
          <p:cNvCxnSpPr/>
          <p:nvPr/>
        </p:nvCxnSpPr>
        <p:spPr>
          <a:xfrm>
            <a:off x="393192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flow)"/>
          <p:cNvCxnSpPr/>
          <p:nvPr/>
        </p:nvCxnSpPr>
        <p:spPr>
          <a:xfrm>
            <a:off x="640080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flipV="1">
            <a:off x="8942832" y="1847088"/>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a:off x="8942832" y="1847088"/>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8942832" y="2414016"/>
            <a:ext cx="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8942832" y="2414016"/>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2" name="Connector (flow)"/>
          <p:cNvCxnSpPr/>
          <p:nvPr/>
        </p:nvCxnSpPr>
        <p:spPr>
          <a:xfrm>
            <a:off x="8942832" y="2414016"/>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3" name="Connector (flow)"/>
          <p:cNvCxnSpPr/>
          <p:nvPr/>
        </p:nvCxnSpPr>
        <p:spPr>
          <a:xfrm>
            <a:off x="8942832" y="2980944"/>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97510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sp>
        <p:nvSpPr>
          <p:cNvPr id="45" name="Oval 44"/>
          <p:cNvSpPr/>
          <p:nvPr/>
        </p:nvSpPr>
        <p:spPr>
          <a:xfrm>
            <a:off x="421538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sp>
        <p:nvSpPr>
          <p:cNvPr id="46" name="Oval 45"/>
          <p:cNvSpPr/>
          <p:nvPr/>
        </p:nvSpPr>
        <p:spPr>
          <a:xfrm>
            <a:off x="668426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47" name="TextBox 46"/>
          <p:cNvSpPr txBox="1"/>
          <p:nvPr/>
        </p:nvSpPr>
        <p:spPr>
          <a:xfrm>
            <a:off x="9144000" y="3273552"/>
            <a:ext cx="2560320" cy="329184"/>
          </a:xfrm>
          <a:prstGeom prst="rect">
            <a:avLst/>
          </a:prstGeom>
          <a:noFill/>
        </p:spPr>
        <p:txBody>
          <a:bodyPr wrap="square" lIns="0" rIns="0" tIns="0" bIns="0" anchor="t">
            <a:noAutofit/>
          </a:bodyPr>
          <a:lstStyle/>
          <a:p>
            <a:pPr algn="l"/>
            <a:r>
              <a:rPr sz="900" b="0" i="0">
                <a:solidFill>
                  <a:srgbClr val="A4262C"/>
                </a:solidFill>
                <a:latin typeface="Arial"/>
              </a:rPr>
              <a:t>Direct calls that bypass the gateway are denied by network and identity design</a:t>
            </a:r>
          </a:p>
        </p:txBody>
      </p:sp>
      <p:sp>
        <p:nvSpPr>
          <p:cNvPr id="48" name="Rounded Rectangle 47"/>
          <p:cNvSpPr/>
          <p:nvPr/>
        </p:nvSpPr>
        <p:spPr>
          <a:xfrm>
            <a:off x="457200" y="2816352"/>
            <a:ext cx="1600200" cy="566928"/>
          </a:xfrm>
          <a:prstGeom prst="roundRect">
            <a:avLst>
              <a:gd name="adj" fmla="val 12903"/>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9" name="Azure icon: Conditional Access" descr="Official Azure icon: Conditional Acces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30352" y="2953512"/>
            <a:ext cx="292608" cy="292608"/>
          </a:xfrm>
          <a:prstGeom prst="rect">
            <a:avLst/>
          </a:prstGeom>
        </p:spPr>
      </p:pic>
      <p:sp>
        <p:nvSpPr>
          <p:cNvPr id="50" name="TextBox 49"/>
          <p:cNvSpPr txBox="1"/>
          <p:nvPr/>
        </p:nvSpPr>
        <p:spPr>
          <a:xfrm>
            <a:off x="896112" y="2852928"/>
            <a:ext cx="1124712" cy="493776"/>
          </a:xfrm>
          <a:prstGeom prst="rect">
            <a:avLst/>
          </a:prstGeom>
          <a:noFill/>
        </p:spPr>
        <p:txBody>
          <a:bodyPr wrap="square" lIns="0" rIns="0" tIns="0" bIns="0" anchor="ctr">
            <a:noAutofit/>
          </a:bodyPr>
          <a:lstStyle/>
          <a:p>
            <a:pPr algn="l"/>
            <a:r>
              <a:rPr sz="1000" b="1" i="0">
                <a:solidFill>
                  <a:srgbClr val="000048"/>
                </a:solidFill>
                <a:latin typeface="Arial"/>
              </a:rPr>
              <a:t>Entra CA for agents</a:t>
            </a:r>
          </a:p>
          <a:p>
            <a:pPr algn="l"/>
            <a:r>
              <a:rPr sz="900" b="0" i="0">
                <a:solidFill>
                  <a:srgbClr val="53565A"/>
                </a:solidFill>
                <a:latin typeface="Arial"/>
              </a:rPr>
              <a:t>identity-layer block</a:t>
            </a:r>
          </a:p>
        </p:txBody>
      </p:sp>
      <p:sp>
        <p:nvSpPr>
          <p:cNvPr id="51" name="Oval 50"/>
          <p:cNvSpPr/>
          <p:nvPr/>
        </p:nvSpPr>
        <p:spPr>
          <a:xfrm>
            <a:off x="1920240" y="2724912"/>
            <a:ext cx="256032" cy="256032"/>
          </a:xfrm>
          <a:prstGeom prst="ellipse">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4</a:t>
            </a:r>
          </a:p>
        </p:txBody>
      </p:sp>
      <p:sp>
        <p:nvSpPr>
          <p:cNvPr id="52" name="Rounded Rectangle 51"/>
          <p:cNvSpPr/>
          <p:nvPr/>
        </p:nvSpPr>
        <p:spPr>
          <a:xfrm>
            <a:off x="411480" y="4032504"/>
            <a:ext cx="11384280" cy="2103120"/>
          </a:xfrm>
          <a:prstGeom prst="roundRect">
            <a:avLst>
              <a:gd name="adj" fmla="val 4347"/>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521207" y="5861304"/>
            <a:ext cx="8229600" cy="237744"/>
          </a:xfrm>
          <a:prstGeom prst="rect">
            <a:avLst/>
          </a:prstGeom>
          <a:noFill/>
        </p:spPr>
        <p:txBody>
          <a:bodyPr wrap="square" lIns="0" rIns="0" tIns="0" bIns="0" anchor="t">
            <a:noAutofit/>
          </a:bodyPr>
          <a:lstStyle/>
          <a:p>
            <a:pPr algn="l"/>
            <a:r>
              <a:rPr sz="1100" b="1" i="0">
                <a:solidFill>
                  <a:srgbClr val="4B4BA8"/>
                </a:solidFill>
                <a:latin typeface="Arial"/>
              </a:rPr>
              <a:t>RESTRICTED CONTAINMENT CONTROL PLANE (SEPARATE SUBSCRIPTION OR MANAGEMENT BOUNDARY)</a:t>
            </a:r>
          </a:p>
        </p:txBody>
      </p:sp>
      <p:sp>
        <p:nvSpPr>
          <p:cNvPr id="54" name="Rounded Rectangle 53"/>
          <p:cNvSpPr/>
          <p:nvPr/>
        </p:nvSpPr>
        <p:spPr>
          <a:xfrm>
            <a:off x="548640" y="421538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5" name="Azure icon: Entra Privileged Identity Management" descr="Official Azure icon: Entra Privileged Identity Management"/>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21792" y="4366260"/>
            <a:ext cx="384048" cy="384048"/>
          </a:xfrm>
          <a:prstGeom prst="rect">
            <a:avLst/>
          </a:prstGeom>
        </p:spPr>
      </p:pic>
      <p:sp>
        <p:nvSpPr>
          <p:cNvPr id="56" name="TextBox 55"/>
          <p:cNvSpPr txBox="1"/>
          <p:nvPr/>
        </p:nvSpPr>
        <p:spPr>
          <a:xfrm>
            <a:off x="1078992" y="4251960"/>
            <a:ext cx="1307592" cy="612648"/>
          </a:xfrm>
          <a:prstGeom prst="rect">
            <a:avLst/>
          </a:prstGeom>
          <a:noFill/>
        </p:spPr>
        <p:txBody>
          <a:bodyPr wrap="square" lIns="0" rIns="0" tIns="0" bIns="0" anchor="ctr">
            <a:noAutofit/>
          </a:bodyPr>
          <a:lstStyle/>
          <a:p>
            <a:pPr algn="l"/>
            <a:r>
              <a:rPr sz="1200" b="1" i="0">
                <a:solidFill>
                  <a:srgbClr val="000048"/>
                </a:solidFill>
                <a:latin typeface="Arial"/>
              </a:rPr>
              <a:t>Authorised operator</a:t>
            </a:r>
          </a:p>
          <a:p>
            <a:pPr algn="l"/>
            <a:r>
              <a:rPr sz="1000" b="0" i="0">
                <a:solidFill>
                  <a:srgbClr val="53565A"/>
                </a:solidFill>
                <a:latin typeface="Arial"/>
              </a:rPr>
              <a:t>Entra PIM, approval</a:t>
            </a:r>
          </a:p>
        </p:txBody>
      </p:sp>
      <p:sp>
        <p:nvSpPr>
          <p:cNvPr id="57" name="Rounded Rectangle 56"/>
          <p:cNvSpPr/>
          <p:nvPr/>
        </p:nvSpPr>
        <p:spPr>
          <a:xfrm>
            <a:off x="548640" y="503834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8" name="Azure icon: Azure Monitor" descr="Official Azure icon: Azure Monito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21792" y="5189220"/>
            <a:ext cx="384048" cy="384048"/>
          </a:xfrm>
          <a:prstGeom prst="rect">
            <a:avLst/>
          </a:prstGeom>
        </p:spPr>
      </p:pic>
      <p:sp>
        <p:nvSpPr>
          <p:cNvPr id="59" name="TextBox 58"/>
          <p:cNvSpPr txBox="1"/>
          <p:nvPr/>
        </p:nvSpPr>
        <p:spPr>
          <a:xfrm>
            <a:off x="1078992" y="5074920"/>
            <a:ext cx="1307592" cy="612648"/>
          </a:xfrm>
          <a:prstGeom prst="rect">
            <a:avLst/>
          </a:prstGeom>
          <a:noFill/>
        </p:spPr>
        <p:txBody>
          <a:bodyPr wrap="square" lIns="0" rIns="0" tIns="0" bIns="0" anchor="ctr">
            <a:noAutofit/>
          </a:bodyPr>
          <a:lstStyle/>
          <a:p>
            <a:pPr algn="l"/>
            <a:r>
              <a:rPr sz="1200" b="1" i="0">
                <a:solidFill>
                  <a:srgbClr val="000048"/>
                </a:solidFill>
                <a:latin typeface="Arial"/>
              </a:rPr>
              <a:t>Automated detection</a:t>
            </a:r>
          </a:p>
          <a:p>
            <a:pPr algn="l"/>
            <a:r>
              <a:rPr sz="1000" b="0" i="0">
                <a:solidFill>
                  <a:srgbClr val="53565A"/>
                </a:solidFill>
                <a:latin typeface="Arial"/>
              </a:rPr>
              <a:t>Monitor alert, action group</a:t>
            </a:r>
          </a:p>
        </p:txBody>
      </p:sp>
      <p:sp>
        <p:nvSpPr>
          <p:cNvPr id="60" name="Rounded Rectangle 59"/>
          <p:cNvSpPr/>
          <p:nvPr/>
        </p:nvSpPr>
        <p:spPr>
          <a:xfrm>
            <a:off x="2788920" y="4489704"/>
            <a:ext cx="2148840" cy="914400"/>
          </a:xfrm>
          <a:prstGeom prst="roundRect">
            <a:avLst>
              <a:gd name="adj" fmla="val 8000"/>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1"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862072" y="4754880"/>
            <a:ext cx="384048" cy="384048"/>
          </a:xfrm>
          <a:prstGeom prst="rect">
            <a:avLst/>
          </a:prstGeom>
        </p:spPr>
      </p:pic>
      <p:sp>
        <p:nvSpPr>
          <p:cNvPr id="62" name="TextBox 61"/>
          <p:cNvSpPr txBox="1"/>
          <p:nvPr/>
        </p:nvSpPr>
        <p:spPr>
          <a:xfrm>
            <a:off x="3319272" y="4526280"/>
            <a:ext cx="1581912" cy="841248"/>
          </a:xfrm>
          <a:prstGeom prst="rect">
            <a:avLst/>
          </a:prstGeom>
          <a:noFill/>
        </p:spPr>
        <p:txBody>
          <a:bodyPr wrap="square" lIns="0" rIns="0" tIns="0" bIns="0" anchor="ctr">
            <a:noAutofit/>
          </a:bodyPr>
          <a:lstStyle/>
          <a:p>
            <a:pPr algn="l"/>
            <a:r>
              <a:rPr sz="1200" b="1" i="0">
                <a:solidFill>
                  <a:srgbClr val="000048"/>
                </a:solidFill>
                <a:latin typeface="Arial"/>
              </a:rPr>
              <a:t>Containment orchestrator</a:t>
            </a:r>
          </a:p>
          <a:p>
            <a:pPr algn="l"/>
            <a:r>
              <a:rPr sz="1000" b="0" i="0">
                <a:solidFill>
                  <a:srgbClr val="53565A"/>
                </a:solidFill>
                <a:latin typeface="Arial"/>
              </a:rPr>
              <a:t>Durable Functions, custom code</a:t>
            </a:r>
          </a:p>
        </p:txBody>
      </p:sp>
      <p:sp>
        <p:nvSpPr>
          <p:cNvPr id="63" name="Rounded Rectangle 62"/>
          <p:cNvSpPr/>
          <p:nvPr/>
        </p:nvSpPr>
        <p:spPr>
          <a:xfrm>
            <a:off x="5440680" y="4197096"/>
            <a:ext cx="2148840" cy="685800"/>
          </a:xfrm>
          <a:prstGeom prst="roundRect">
            <a:avLst>
              <a:gd name="adj" fmla="val 1066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4" name="Azure icon: Azure Cosmos DB" descr="Official Azure icon: Azure Cosmos DB"/>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513832" y="4357116"/>
            <a:ext cx="365760" cy="365760"/>
          </a:xfrm>
          <a:prstGeom prst="rect">
            <a:avLst/>
          </a:prstGeom>
        </p:spPr>
      </p:pic>
      <p:sp>
        <p:nvSpPr>
          <p:cNvPr id="65" name="TextBox 64"/>
          <p:cNvSpPr txBox="1"/>
          <p:nvPr/>
        </p:nvSpPr>
        <p:spPr>
          <a:xfrm>
            <a:off x="5952744" y="4233672"/>
            <a:ext cx="1600200" cy="612648"/>
          </a:xfrm>
          <a:prstGeom prst="rect">
            <a:avLst/>
          </a:prstGeom>
          <a:noFill/>
        </p:spPr>
        <p:txBody>
          <a:bodyPr wrap="square" lIns="0" rIns="0" tIns="0" bIns="0" anchor="ctr">
            <a:noAutofit/>
          </a:bodyPr>
          <a:lstStyle/>
          <a:p>
            <a:pPr algn="l"/>
            <a:r>
              <a:rPr sz="1200" b="1" i="0">
                <a:solidFill>
                  <a:srgbClr val="000048"/>
                </a:solidFill>
                <a:latin typeface="Arial"/>
              </a:rPr>
              <a:t>Quarantine registry</a:t>
            </a:r>
          </a:p>
          <a:p>
            <a:pPr algn="l"/>
            <a:r>
              <a:rPr sz="1000" b="0" i="0">
                <a:solidFill>
                  <a:srgbClr val="53565A"/>
                </a:solidFill>
                <a:latin typeface="Arial"/>
              </a:rPr>
              <a:t>agent ID, version, state version</a:t>
            </a:r>
          </a:p>
        </p:txBody>
      </p:sp>
      <p:sp>
        <p:nvSpPr>
          <p:cNvPr id="66" name="Rounded Rectangle 65"/>
          <p:cNvSpPr/>
          <p:nvPr/>
        </p:nvSpPr>
        <p:spPr>
          <a:xfrm>
            <a:off x="5440680" y="5056632"/>
            <a:ext cx="21488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7" name="Azure icon: Storage account" descr="Official Azure icon: Storage accoun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513832" y="5216652"/>
            <a:ext cx="365760" cy="365760"/>
          </a:xfrm>
          <a:prstGeom prst="rect">
            <a:avLst/>
          </a:prstGeom>
        </p:spPr>
      </p:pic>
      <p:sp>
        <p:nvSpPr>
          <p:cNvPr id="68" name="TextBox 67"/>
          <p:cNvSpPr txBox="1"/>
          <p:nvPr/>
        </p:nvSpPr>
        <p:spPr>
          <a:xfrm>
            <a:off x="5952744" y="5093208"/>
            <a:ext cx="1600200" cy="612648"/>
          </a:xfrm>
          <a:prstGeom prst="rect">
            <a:avLst/>
          </a:prstGeom>
          <a:noFill/>
        </p:spPr>
        <p:txBody>
          <a:bodyPr wrap="square" lIns="0" rIns="0" tIns="0" bIns="0" anchor="ctr">
            <a:noAutofit/>
          </a:bodyPr>
          <a:lstStyle/>
          <a:p>
            <a:pPr algn="l"/>
            <a:r>
              <a:rPr sz="1200" b="1" i="0">
                <a:solidFill>
                  <a:srgbClr val="000048"/>
                </a:solidFill>
                <a:latin typeface="Arial"/>
              </a:rPr>
              <a:t>Incident evidence</a:t>
            </a:r>
          </a:p>
          <a:p>
            <a:pPr algn="l"/>
            <a:r>
              <a:rPr sz="1000" b="0" i="0">
                <a:solidFill>
                  <a:srgbClr val="53565A"/>
                </a:solidFill>
                <a:latin typeface="Arial"/>
              </a:rPr>
              <a:t>Storage account, immutability policy</a:t>
            </a:r>
          </a:p>
        </p:txBody>
      </p:sp>
      <p:sp>
        <p:nvSpPr>
          <p:cNvPr id="69" name="Rounded Rectangle 68"/>
          <p:cNvSpPr/>
          <p:nvPr/>
        </p:nvSpPr>
        <p:spPr>
          <a:xfrm>
            <a:off x="8001000" y="4489704"/>
            <a:ext cx="1828800" cy="914400"/>
          </a:xfrm>
          <a:prstGeom prst="roundRect">
            <a:avLst>
              <a:gd name="adj" fmla="val 8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70" name="Azure icon: Application Insights" descr="Official Azure icon: Application Insights"/>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074152" y="4764024"/>
            <a:ext cx="365760" cy="365760"/>
          </a:xfrm>
          <a:prstGeom prst="rect">
            <a:avLst/>
          </a:prstGeom>
        </p:spPr>
      </p:pic>
      <p:sp>
        <p:nvSpPr>
          <p:cNvPr id="71" name="TextBox 70"/>
          <p:cNvSpPr txBox="1"/>
          <p:nvPr/>
        </p:nvSpPr>
        <p:spPr>
          <a:xfrm>
            <a:off x="8513064" y="4526280"/>
            <a:ext cx="1280160" cy="841248"/>
          </a:xfrm>
          <a:prstGeom prst="rect">
            <a:avLst/>
          </a:prstGeom>
          <a:noFill/>
        </p:spPr>
        <p:txBody>
          <a:bodyPr wrap="square" lIns="0" rIns="0" tIns="0" bIns="0" anchor="ctr">
            <a:noAutofit/>
          </a:bodyPr>
          <a:lstStyle/>
          <a:p>
            <a:pPr algn="l"/>
            <a:r>
              <a:rPr sz="1200" b="1" i="0">
                <a:solidFill>
                  <a:srgbClr val="000048"/>
                </a:solidFill>
                <a:latin typeface="Arial"/>
              </a:rPr>
              <a:t>Containment check</a:t>
            </a:r>
          </a:p>
          <a:p>
            <a:pPr algn="l"/>
            <a:r>
              <a:rPr sz="1000" b="0" i="0">
                <a:solidFill>
                  <a:srgbClr val="53565A"/>
                </a:solidFill>
                <a:latin typeface="Arial"/>
              </a:rPr>
              <a:t>traces confirm no new actions</a:t>
            </a:r>
          </a:p>
        </p:txBody>
      </p:sp>
      <p:sp>
        <p:nvSpPr>
          <p:cNvPr id="72" name="Rounded Rectangle 71"/>
          <p:cNvSpPr/>
          <p:nvPr/>
        </p:nvSpPr>
        <p:spPr>
          <a:xfrm>
            <a:off x="10104120" y="4306824"/>
            <a:ext cx="1554480" cy="1280160"/>
          </a:xfrm>
          <a:prstGeom prst="roundRect">
            <a:avLst>
              <a:gd name="adj" fmla="val 57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Human-approved restart</a:t>
            </a:r>
          </a:p>
          <a:p>
            <a:pPr algn="ctr"/>
            <a:r>
              <a:rPr sz="1000" b="0" i="0">
                <a:solidFill>
                  <a:srgbClr val="53565A"/>
                </a:solidFill>
                <a:latin typeface="Arial"/>
              </a:rPr>
              <a:t>root cause, canary, two-person approval</a:t>
            </a:r>
          </a:p>
        </p:txBody>
      </p:sp>
      <p:cxnSp>
        <p:nvCxnSpPr>
          <p:cNvPr id="73" name="Connector (control)"/>
          <p:cNvCxnSpPr/>
          <p:nvPr/>
        </p:nvCxnSpPr>
        <p:spPr>
          <a:xfrm>
            <a:off x="2423160" y="4562856"/>
            <a:ext cx="36576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control)"/>
          <p:cNvCxnSpPr/>
          <p:nvPr/>
        </p:nvCxnSpPr>
        <p:spPr>
          <a:xfrm flipV="1">
            <a:off x="2423160" y="5129784"/>
            <a:ext cx="365760" cy="246888"/>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control)"/>
          <p:cNvCxnSpPr/>
          <p:nvPr/>
        </p:nvCxnSpPr>
        <p:spPr>
          <a:xfrm flipV="1">
            <a:off x="4937760" y="4544568"/>
            <a:ext cx="502920" cy="17373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control)"/>
          <p:cNvCxnSpPr/>
          <p:nvPr/>
        </p:nvCxnSpPr>
        <p:spPr>
          <a:xfrm>
            <a:off x="4937760" y="5175504"/>
            <a:ext cx="50292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telemetry)"/>
          <p:cNvCxnSpPr/>
          <p:nvPr/>
        </p:nvCxnSpPr>
        <p:spPr>
          <a:xfrm flipH="1">
            <a:off x="4937760" y="4946904"/>
            <a:ext cx="306324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Connector (control)"/>
          <p:cNvCxnSpPr/>
          <p:nvPr/>
        </p:nvCxnSpPr>
        <p:spPr>
          <a:xfrm>
            <a:off x="9829800" y="4946904"/>
            <a:ext cx="27432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Connector (control)"/>
          <p:cNvCxnSpPr/>
          <p:nvPr/>
        </p:nvCxnSpPr>
        <p:spPr>
          <a:xfrm>
            <a:off x="3017520" y="3831336"/>
            <a:ext cx="475488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0" name="Connector (control)"/>
          <p:cNvCxnSpPr/>
          <p:nvPr/>
        </p:nvCxnSpPr>
        <p:spPr>
          <a:xfrm flipV="1">
            <a:off x="301752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Connector (control)"/>
          <p:cNvCxnSpPr/>
          <p:nvPr/>
        </p:nvCxnSpPr>
        <p:spPr>
          <a:xfrm flipV="1">
            <a:off x="53721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or (control)"/>
          <p:cNvCxnSpPr/>
          <p:nvPr/>
        </p:nvCxnSpPr>
        <p:spPr>
          <a:xfrm flipV="1">
            <a:off x="77724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control)"/>
          <p:cNvCxnSpPr/>
          <p:nvPr/>
        </p:nvCxnSpPr>
        <p:spPr>
          <a:xfrm flipV="1">
            <a:off x="3858768" y="3831336"/>
            <a:ext cx="0" cy="658368"/>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4" name="Connector (telemetry)"/>
          <p:cNvCxnSpPr/>
          <p:nvPr/>
        </p:nvCxnSpPr>
        <p:spPr>
          <a:xfrm flipV="1">
            <a:off x="6510528" y="3831336"/>
            <a:ext cx="0" cy="36576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telemetry)"/>
          <p:cNvCxnSpPr/>
          <p:nvPr/>
        </p:nvCxnSpPr>
        <p:spPr>
          <a:xfrm flipV="1">
            <a:off x="8915400" y="3621024"/>
            <a:ext cx="0" cy="86868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8979408" y="3639312"/>
            <a:ext cx="1097280" cy="237744"/>
          </a:xfrm>
          <a:prstGeom prst="rect">
            <a:avLst/>
          </a:prstGeom>
          <a:noFill/>
        </p:spPr>
        <p:txBody>
          <a:bodyPr wrap="square" lIns="0" rIns="0" tIns="0" bIns="0" anchor="t">
            <a:noAutofit/>
          </a:bodyPr>
          <a:lstStyle/>
          <a:p>
            <a:pPr algn="l"/>
            <a:r>
              <a:rPr sz="1000" b="0" i="0">
                <a:solidFill>
                  <a:srgbClr val="53565A"/>
                </a:solidFill>
                <a:latin typeface="Arial"/>
              </a:rPr>
              <a:t>traces</a:t>
            </a:r>
          </a:p>
        </p:txBody>
      </p:sp>
      <p:sp>
        <p:nvSpPr>
          <p:cNvPr id="87" name="TextBox 86"/>
          <p:cNvSpPr txBox="1"/>
          <p:nvPr/>
        </p:nvSpPr>
        <p:spPr>
          <a:xfrm>
            <a:off x="548640" y="3694176"/>
            <a:ext cx="2423160" cy="274320"/>
          </a:xfrm>
          <a:prstGeom prst="rect">
            <a:avLst/>
          </a:prstGeom>
          <a:noFill/>
        </p:spPr>
        <p:txBody>
          <a:bodyPr wrap="square" lIns="0" rIns="0" tIns="0" bIns="0" anchor="t">
            <a:noAutofit/>
          </a:bodyPr>
          <a:lstStyle/>
          <a:p>
            <a:pPr algn="r"/>
            <a:r>
              <a:rPr sz="1000" b="0" i="0">
                <a:solidFill>
                  <a:srgbClr val="6363C9"/>
                </a:solidFill>
                <a:latin typeface="Arial"/>
              </a:rPr>
              <a:t>deny-state checks and runtime adapters</a:t>
            </a:r>
          </a:p>
        </p:txBody>
      </p:sp>
      <p:cxnSp>
        <p:nvCxnSpPr>
          <p:cNvPr id="88" name="Connector (flow)"/>
          <p:cNvCxnSpPr/>
          <p:nvPr/>
        </p:nvCxnSpPr>
        <p:spPr>
          <a:xfrm>
            <a:off x="548640" y="6281928"/>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02412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90" name="Connector (control)"/>
          <p:cNvCxnSpPr/>
          <p:nvPr/>
        </p:nvCxnSpPr>
        <p:spPr>
          <a:xfrm>
            <a:off x="2926080" y="6281928"/>
            <a:ext cx="41148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340156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Control or containment path</a:t>
            </a:r>
          </a:p>
        </p:txBody>
      </p:sp>
      <p:cxnSp>
        <p:nvCxnSpPr>
          <p:cNvPr id="92" name="Connector (telemetry)"/>
          <p:cNvCxnSpPr/>
          <p:nvPr/>
        </p:nvCxnSpPr>
        <p:spPr>
          <a:xfrm>
            <a:off x="5303520" y="6281928"/>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77900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94" name="TextBox 93"/>
          <p:cNvSpPr txBox="1"/>
          <p:nvPr/>
        </p:nvSpPr>
        <p:spPr>
          <a:xfrm>
            <a:off x="6766560" y="6163056"/>
            <a:ext cx="4937760" cy="274320"/>
          </a:xfrm>
          <a:prstGeom prst="rect">
            <a:avLst/>
          </a:prstGeom>
          <a:noFill/>
        </p:spPr>
        <p:txBody>
          <a:bodyPr wrap="square" lIns="0" rIns="0" tIns="0" bIns="0" anchor="t">
            <a:noAutofit/>
          </a:bodyPr>
          <a:lstStyle/>
          <a:p>
            <a:pPr algn="r"/>
            <a:r>
              <a:rPr sz="1100" b="1" i="0">
                <a:solidFill>
                  <a:srgbClr val="A4262C"/>
                </a:solidFill>
                <a:latin typeface="Arial"/>
              </a:rPr>
              <a:t>1</a:t>
            </a:r>
            <a:r>
              <a:rPr sz="1100" b="0" i="0">
                <a:solidFill>
                  <a:srgbClr val="53565A"/>
                </a:solidFill>
                <a:latin typeface="Arial"/>
              </a:rPr>
              <a:t> block new requests  </a:t>
            </a:r>
            <a:r>
              <a:rPr sz="1100" b="1" i="0">
                <a:solidFill>
                  <a:srgbClr val="A4262C"/>
                </a:solidFill>
                <a:latin typeface="Arial"/>
              </a:rPr>
              <a:t>2</a:t>
            </a:r>
            <a:r>
              <a:rPr sz="1100" b="0" i="0">
                <a:solidFill>
                  <a:srgbClr val="53565A"/>
                </a:solidFill>
                <a:latin typeface="Arial"/>
              </a:rPr>
              <a:t> cancel or isolate  </a:t>
            </a:r>
            <a:r>
              <a:rPr sz="1100" b="1" i="0">
                <a:solidFill>
                  <a:srgbClr val="A4262C"/>
                </a:solidFill>
                <a:latin typeface="Arial"/>
              </a:rPr>
              <a:t>3</a:t>
            </a:r>
            <a:r>
              <a:rPr sz="1100" b="0" i="0">
                <a:solidFill>
                  <a:srgbClr val="53565A"/>
                </a:solidFill>
                <a:latin typeface="Arial"/>
              </a:rPr>
              <a:t> deny actions  </a:t>
            </a:r>
            <a:r>
              <a:rPr sz="1100" b="1" i="0">
                <a:solidFill>
                  <a:srgbClr val="7373D8"/>
                </a:solidFill>
                <a:latin typeface="Arial"/>
              </a:rPr>
              <a:t>4</a:t>
            </a:r>
            <a:r>
              <a:rPr sz="1100" b="0" i="0">
                <a:solidFill>
                  <a:srgbClr val="53565A"/>
                </a:solidFill>
                <a:latin typeface="Arial"/>
              </a:rPr>
              <a:t> identity block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containment actions, three different mechanisms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K2</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sp>
        <p:nvSpPr>
          <p:cNvPr id="9" name="Rounded Rectangle 8"/>
          <p:cNvSpPr/>
          <p:nvPr/>
        </p:nvSpPr>
        <p:spPr>
          <a:xfrm>
            <a:off x="548640"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1  Block new requests</a:t>
            </a:r>
          </a:p>
        </p:txBody>
      </p:sp>
      <p:sp>
        <p:nvSpPr>
          <p:cNvPr id="10" name="TextBox 9"/>
          <p:cNvSpPr txBox="1"/>
          <p:nvPr/>
        </p:nvSpPr>
        <p:spPr>
          <a:xfrm>
            <a:off x="548640"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1" name="TextBox 10"/>
          <p:cNvSpPr txBox="1"/>
          <p:nvPr/>
        </p:nvSpPr>
        <p:spPr>
          <a:xfrm>
            <a:off x="548640"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API Management ingress rejects calls for the quarantined agent ID and version. Foundry Stop (published agents) or Block (custom agents) adds a platform-level control.</a:t>
            </a:r>
          </a:p>
        </p:txBody>
      </p:sp>
      <p:sp>
        <p:nvSpPr>
          <p:cNvPr id="12" name="Rounded Rectangle 11"/>
          <p:cNvSpPr/>
          <p:nvPr/>
        </p:nvSpPr>
        <p:spPr>
          <a:xfrm>
            <a:off x="548640"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Does not touch runs already executing. A caller holding a direct endpoint or key bypasses it.</a:t>
            </a:r>
          </a:p>
        </p:txBody>
      </p:sp>
      <p:sp>
        <p:nvSpPr>
          <p:cNvPr id="13" name="Rounded Rectangle 12"/>
          <p:cNvSpPr/>
          <p:nvPr/>
        </p:nvSpPr>
        <p:spPr>
          <a:xfrm>
            <a:off x="429767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2  Cancel or isolate running work</a:t>
            </a:r>
          </a:p>
        </p:txBody>
      </p:sp>
      <p:sp>
        <p:nvSpPr>
          <p:cNvPr id="14" name="TextBox 13"/>
          <p:cNvSpPr txBox="1"/>
          <p:nvPr/>
        </p:nvSpPr>
        <p:spPr>
          <a:xfrm>
            <a:off x="429767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5" name="TextBox 14"/>
          <p:cNvSpPr txBox="1"/>
          <p:nvPr/>
        </p:nvSpPr>
        <p:spPr>
          <a:xfrm>
            <a:off x="429767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Runtime adapter cancels supported runs, disables triggers and queue consumers, or isolates dedicated compute (Container Apps or AKS) where authorised.</a:t>
            </a:r>
          </a:p>
        </p:txBody>
      </p:sp>
      <p:sp>
        <p:nvSpPr>
          <p:cNvPr id="16" name="Rounded Rectangle 15"/>
          <p:cNvSpPr/>
          <p:nvPr/>
        </p:nvSpPr>
        <p:spPr>
          <a:xfrm>
            <a:off x="429767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Cancellation support differs by runtime. Managed Foundry runtimes may not allow process termination. Shared hosts widen the blast radius.</a:t>
            </a:r>
          </a:p>
        </p:txBody>
      </p:sp>
      <p:sp>
        <p:nvSpPr>
          <p:cNvPr id="17" name="Rounded Rectangle 16"/>
          <p:cNvSpPr/>
          <p:nvPr/>
        </p:nvSpPr>
        <p:spPr>
          <a:xfrm>
            <a:off x="804671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3  Deny further model and tool actions</a:t>
            </a:r>
          </a:p>
        </p:txBody>
      </p:sp>
      <p:sp>
        <p:nvSpPr>
          <p:cNvPr id="18" name="TextBox 17"/>
          <p:cNvSpPr txBox="1"/>
          <p:nvPr/>
        </p:nvSpPr>
        <p:spPr>
          <a:xfrm>
            <a:off x="804671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9" name="TextBox 18"/>
          <p:cNvSpPr txBox="1"/>
          <p:nvPr/>
        </p:nvSpPr>
        <p:spPr>
          <a:xfrm>
            <a:off x="804671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Outbound gateway and tool-side authorisation reject model, tool and data calls for the quarantined scope, checked before irreversible actions.</a:t>
            </a:r>
          </a:p>
        </p:txBody>
      </p:sp>
      <p:sp>
        <p:nvSpPr>
          <p:cNvPr id="20" name="Rounded Rectangle 19"/>
          <p:cNvSpPr/>
          <p:nvPr/>
        </p:nvSpPr>
        <p:spPr>
          <a:xfrm>
            <a:off x="804671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Cannot undo side effects already completed. Token and RBAC revocation can lag; use resource-side denial as well.</a:t>
            </a:r>
          </a:p>
        </p:txBody>
      </p:sp>
      <p:sp>
        <p:nvSpPr>
          <p:cNvPr id="21" name="Rounded Rectangle 20"/>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universal instant stop. Worst-case stop time is measured in drills, not assumed.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Known limits of 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K3</a:t>
            </a:r>
          </a:p>
        </p:txBody>
      </p:sp>
      <p:sp>
        <p:nvSpPr>
          <p:cNvPr id="5" name="Status chip: VERIFIED BEHAVIOUR + DESIGN LIMITS"/>
          <p:cNvSpPr/>
          <p:nvPr/>
        </p:nvSpPr>
        <p:spPr>
          <a:xfrm>
            <a:off x="1898650" y="274320"/>
            <a:ext cx="32105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BEHAVIOUR + DESIGN LIMITS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graphicFrame>
        <p:nvGraphicFramePr>
          <p:cNvPr id="9" name="Table"/>
          <p:cNvGraphicFramePr>
            <a:graphicFrameLocks noGrp="1"/>
          </p:cNvGraphicFramePr>
          <p:nvPr/>
        </p:nvGraphicFramePr>
        <p:xfrm>
          <a:off x="548640" y="1325880"/>
          <a:ext cx="11091672" cy="3749040"/>
        </p:xfrm>
        <a:graphic>
          <a:graphicData uri="http://schemas.openxmlformats.org/drawingml/2006/table">
            <a:tbl>
              <a:tblPr firstRow="1" bandRow="0">
                <a:tableStyleId>{5C22544A-7EE6-4342-B048-85BDC9FD1C3A}</a:tableStyleId>
              </a:tblPr>
              <a:tblGrid>
                <a:gridCol w="3291840"/>
                <a:gridCol w="4023360"/>
                <a:gridCol w="3776472"/>
              </a:tblGrid>
              <a:tr h="274320">
                <a:tc>
                  <a:txBody>
                    <a:bodyPr wrap="square" anchor="ctr">
                      <a:noAutofit/>
                    </a:bodyPr>
                    <a:lstStyle/>
                    <a:p>
                      <a:pPr algn="l"/>
                      <a:r>
                        <a:rPr sz="1200" b="1" i="0">
                          <a:solidFill>
                            <a:srgbClr val="FFFFFF"/>
                          </a:solidFill>
                          <a:latin typeface="Arial"/>
                        </a:rPr>
                        <a:t>Limit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Why it matters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Design response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Gateway block does not stop an existing run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Foundry Stop "doesn't terminate existing runs" (Microsoft Learn)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Runtime checkpoint guard plus outbound denial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Token or RBAC revocation is not immediate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Cached tokens stay valid until expiry or propagation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Resource-side deny check; short token lifetimes</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Runtime cancellation support varies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Foundry, Container Apps, AKS and Logic Apps differ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Runtime-specific adapters, tested per platform</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Direct endpoint access bypasses a proxy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Agents holding keys or public endpoints skip API Management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Private endpoints, disable local auth, no shared keys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Circuit breaker is not a kill switch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It protects a backend dependency, not the agent scope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Separate quarantine state keyed by agent ID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Distributed state and caches delay enforcement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Replication and cache TTL set worst-case stop time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Bounded freshness contract; no caching of allow on high-impact tools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Fail-closed reduces availability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Unknown state blocks legitimate work</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Agree fail-closed scope per risk class with the business owner</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Identity block depends on licence and propagation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Entra CA for agents needs Agent 365; sign-in blocks do not end live sessions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Use as layer 4, never the only stop</a:t>
                      </a:r>
                    </a:p>
                  </a:txBody>
                  <a:tcPr marL="73152" marR="73152" marT="36576" marB="36576" anchor="ctr">
                    <a:solidFill>
                      <a:srgbClr val="F5F5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Containment test scenarios before production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K4</a:t>
            </a:r>
          </a:p>
        </p:txBody>
      </p:sp>
      <p:sp>
        <p:nvSpPr>
          <p:cNvPr id="5" name="Status chip: PROPOSED ACCEPTANCE TESTS"/>
          <p:cNvSpPr/>
          <p:nvPr/>
        </p:nvSpPr>
        <p:spPr>
          <a:xfrm>
            <a:off x="1898650" y="274320"/>
            <a:ext cx="24333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ACCEPTANCE TESTS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9" name="Table"/>
          <p:cNvGraphicFramePr>
            <a:graphicFrameLocks noGrp="1"/>
          </p:cNvGraphicFramePr>
          <p:nvPr/>
        </p:nvGraphicFramePr>
        <p:xfrm>
          <a:off x="548640" y="1325880"/>
          <a:ext cx="11091672" cy="3596640"/>
        </p:xfrm>
        <a:graphic>
          <a:graphicData uri="http://schemas.openxmlformats.org/drawingml/2006/table">
            <a:tbl>
              <a:tblPr firstRow="1" bandRow="0">
                <a:tableStyleId>{5C22544A-7EE6-4342-B048-85BDC9FD1C3A}</a:tableStyleId>
              </a:tblPr>
              <a:tblGrid>
                <a:gridCol w="2194560"/>
                <a:gridCol w="4572000"/>
                <a:gridCol w="4325112"/>
              </a:tblGrid>
              <a:tr h="289560">
                <a:tc>
                  <a:txBody>
                    <a:bodyPr wrap="square" anchor="ctr">
                      <a:noAutofit/>
                    </a:bodyPr>
                    <a:lstStyle/>
                    <a:p>
                      <a:pPr algn="l"/>
                      <a:r>
                        <a:rPr sz="1300" b="1" i="0">
                          <a:solidFill>
                            <a:srgbClr val="FFFFFF"/>
                          </a:solidFill>
                          <a:latin typeface="Arial"/>
                        </a:rPr>
                        <a:t>Scenario</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Test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Pass 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Bypass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 model and tool endpoints directly with the agent identity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Calls denied at network and resource level</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Retries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Client retries and APIM retry policy after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retried call reaches a backend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Queued work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Messages already queued for the agent when quarantined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Consumers disabled; messages held, not processed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Long-running run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Run in progress during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Next checkpoint halts; no new tool call recorded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Missing telemetry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Disable traces, then trigger containment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Manual path works; telemetry gap raised as incident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Partial failure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One enforcement point unavailable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Fail-closed where agreed; failure recorded in evidence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Control-plane outage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Orchestrator or registry unavailable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Documented break-glass path executes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Restart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Approved release after root cause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Two-person approval, canary, state version advanced</a:t>
                      </a:r>
                    </a:p>
                  </a:txBody>
                  <a:tcPr marL="73152" marR="73152" marT="36576" marB="36576" anchor="ctr">
                    <a:solidFill>
                      <a:srgbClr val="F5F5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Kill-switch proof of concept: prove it, then sell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K5</a:t>
            </a:r>
          </a:p>
        </p:txBody>
      </p:sp>
      <p:sp>
        <p:nvSpPr>
          <p:cNvPr id="5" name="Status chip: UNPROVEN DESIGN"/>
          <p:cNvSpPr/>
          <p:nvPr/>
        </p:nvSpPr>
        <p:spPr>
          <a:xfrm>
            <a:off x="1898650" y="274320"/>
            <a:ext cx="15697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UNPROVEN DESIGN</a:t>
            </a:r>
          </a:p>
        </p:txBody>
      </p:sp>
      <p:sp>
        <p:nvSpPr>
          <p:cNvPr id="6" name="Status chip: PROPOSED PLAN"/>
          <p:cNvSpPr/>
          <p:nvPr/>
        </p:nvSpPr>
        <p:spPr>
          <a:xfrm>
            <a:off x="355981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PLAN</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sp>
        <p:nvSpPr>
          <p:cNvPr id="10" name="Rounded Rectangle 9"/>
          <p:cNvSpPr/>
          <p:nvPr/>
        </p:nvSpPr>
        <p:spPr>
          <a:xfrm>
            <a:off x="548640"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1  Set up</a:t>
            </a:r>
          </a:p>
          <a:p>
            <a:pPr algn="l"/>
            <a:r>
              <a:rPr sz="1500" b="0" i="0">
                <a:solidFill>
                  <a:srgbClr val="1E1E2E"/>
                </a:solidFill>
                <a:latin typeface="Arial"/>
              </a:rPr>
              <a:t>Two runtimes, synthetic agents, test tool, gateway policies</a:t>
            </a:r>
          </a:p>
        </p:txBody>
      </p:sp>
      <p:cxnSp>
        <p:nvCxnSpPr>
          <p:cNvPr id="11" name="Connector (flow)"/>
          <p:cNvCxnSpPr/>
          <p:nvPr/>
        </p:nvCxnSpPr>
        <p:spPr>
          <a:xfrm>
            <a:off x="2606040"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07208"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2  Instrument</a:t>
            </a:r>
          </a:p>
          <a:p>
            <a:pPr algn="l"/>
            <a:r>
              <a:rPr sz="1500" b="0" i="0">
                <a:solidFill>
                  <a:srgbClr val="1E1E2E"/>
                </a:solidFill>
                <a:latin typeface="Arial"/>
              </a:rPr>
              <a:t>Timestamps at alert, state write, each enforcement point</a:t>
            </a:r>
          </a:p>
        </p:txBody>
      </p:sp>
      <p:cxnSp>
        <p:nvCxnSpPr>
          <p:cNvPr id="13" name="Connector (flow)"/>
          <p:cNvCxnSpPr/>
          <p:nvPr/>
        </p:nvCxnSpPr>
        <p:spPr>
          <a:xfrm>
            <a:off x="4864608"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65776"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3  Exercise</a:t>
            </a:r>
          </a:p>
          <a:p>
            <a:pPr algn="l"/>
            <a:r>
              <a:rPr sz="1500" b="0" i="0">
                <a:solidFill>
                  <a:srgbClr val="1E1E2E"/>
                </a:solidFill>
                <a:latin typeface="Arial"/>
              </a:rPr>
              <a:t>All K4 scenarios, three runs each</a:t>
            </a:r>
          </a:p>
        </p:txBody>
      </p:sp>
      <p:cxnSp>
        <p:nvCxnSpPr>
          <p:cNvPr id="15" name="Connector (flow)"/>
          <p:cNvCxnSpPr/>
          <p:nvPr/>
        </p:nvCxnSpPr>
        <p:spPr>
          <a:xfrm>
            <a:off x="7123176"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24344"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4  Measure</a:t>
            </a:r>
          </a:p>
          <a:p>
            <a:pPr algn="l"/>
            <a:r>
              <a:rPr sz="1500" b="0" i="0">
                <a:solidFill>
                  <a:srgbClr val="1E1E2E"/>
                </a:solidFill>
                <a:latin typeface="Arial"/>
              </a:rPr>
              <a:t>Worst-case stop time per runtime and layer</a:t>
            </a:r>
          </a:p>
        </p:txBody>
      </p:sp>
      <p:cxnSp>
        <p:nvCxnSpPr>
          <p:cNvPr id="17" name="Connector (flow)"/>
          <p:cNvCxnSpPr/>
          <p:nvPr/>
        </p:nvCxnSpPr>
        <p:spPr>
          <a:xfrm>
            <a:off x="9381744"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582912" y="1463040"/>
            <a:ext cx="2057400" cy="2194560"/>
          </a:xfrm>
          <a:prstGeom prst="roundRect">
            <a:avLst>
              <a:gd name="adj" fmla="val 355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600"/>
              </a:spcAft>
            </a:pPr>
            <a:r>
              <a:rPr sz="1800" b="1" i="0">
                <a:solidFill>
                  <a:srgbClr val="000048"/>
                </a:solidFill>
                <a:latin typeface="Arial"/>
              </a:rPr>
              <a:t>5  Report</a:t>
            </a:r>
          </a:p>
          <a:p>
            <a:pPr algn="l"/>
            <a:r>
              <a:rPr sz="1500" b="0" i="0">
                <a:solidFill>
                  <a:srgbClr val="1E1E2E"/>
                </a:solidFill>
                <a:latin typeface="Arial"/>
              </a:rPr>
              <a:t>Evidence pack; targets proposed from data</a:t>
            </a:r>
          </a:p>
        </p:txBody>
      </p:sp>
      <p:graphicFrame>
        <p:nvGraphicFramePr>
          <p:cNvPr id="19" name="Table"/>
          <p:cNvGraphicFramePr>
            <a:graphicFrameLocks noGrp="1"/>
          </p:cNvGraphicFramePr>
          <p:nvPr/>
        </p:nvGraphicFramePr>
        <p:xfrm>
          <a:off x="548640" y="3977639"/>
          <a:ext cx="11091672" cy="1264920"/>
        </p:xfrm>
        <a:graphic>
          <a:graphicData uri="http://schemas.openxmlformats.org/drawingml/2006/table">
            <a:tbl>
              <a:tblPr firstRow="1" bandRow="0">
                <a:tableStyleId>{5C22544A-7EE6-4342-B048-85BDC9FD1C3A}</a:tableStyleId>
              </a:tblPr>
              <a:tblGrid>
                <a:gridCol w="2743200"/>
                <a:gridCol w="8348472"/>
              </a:tblGrid>
              <a:tr h="304800">
                <a:tc>
                  <a:txBody>
                    <a:bodyPr wrap="square" anchor="ctr">
                      <a:noAutofit/>
                    </a:bodyPr>
                    <a:lstStyle/>
                    <a:p>
                      <a:pPr algn="l"/>
                      <a:r>
                        <a:rPr sz="14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Estimate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Effort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25 to 45 role days (CIS Infra, AI, Security)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Elapsed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4 to 6 weeks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Exit evidence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Measured stop time per runtime; all K4 tests recorded</a:t>
                      </a:r>
                    </a:p>
                  </a:txBody>
                  <a:tcPr marL="73152" marR="73152" marT="36576" marB="36576"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lifecycle actions differ by agent type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9" name="Table"/>
          <p:cNvGraphicFramePr>
            <a:graphicFrameLocks noGrp="1"/>
          </p:cNvGraphicFramePr>
          <p:nvPr/>
        </p:nvGraphicFramePr>
        <p:xfrm>
          <a:off x="548640" y="1371600"/>
          <a:ext cx="11091672" cy="3063240"/>
        </p:xfrm>
        <a:graphic>
          <a:graphicData uri="http://schemas.openxmlformats.org/drawingml/2006/table">
            <a:tbl>
              <a:tblPr firstRow="1" bandRow="0">
                <a:tableStyleId>{5C22544A-7EE6-4342-B048-85BDC9FD1C3A}</a:tableStyleId>
              </a:tblPr>
              <a:tblGrid>
                <a:gridCol w="2651760"/>
                <a:gridCol w="2011680"/>
                <a:gridCol w="3383280"/>
                <a:gridCol w="3044952"/>
              </a:tblGrid>
              <a:tr h="320040">
                <a:tc>
                  <a:txBody>
                    <a:bodyPr wrap="square" anchor="ctr">
                      <a:noAutofit/>
                    </a:bodyPr>
                    <a:lstStyle/>
                    <a:p>
                      <a:pPr algn="l"/>
                      <a:r>
                        <a:rPr sz="1500" b="1" i="0">
                          <a:solidFill>
                            <a:srgbClr val="FFFFFF"/>
                          </a:solidFill>
                          <a:latin typeface="Arial"/>
                        </a:rPr>
                        <a:t>Agent route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Native action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Effect (Microsoft Learn)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Residual risk</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Published Foundry agent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Start or stop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Stops deployment, deallocates compute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Existing runs not terminated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Unpublished prompt or workflow</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None (delete to stop)</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Deletion is the only stop</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Needs a designed containment path</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Hosted agent (unpublished)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Start or stop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Stops deployment, deallocates compute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Existing runs not terminated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Registered custom agent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Block or unblock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Agent runs but cannot take requests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Host and direct endpoints remain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Logic Apps agent loop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Stops all workflows in the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Collateral impact; no traces</a:t>
                      </a:r>
                    </a:p>
                  </a:txBody>
                  <a:tcPr marL="73152" marR="73152" marT="36576" marB="36576" anchor="ct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Bound the work before a runaway needs detecting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6"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8" name="Rounded Rectangle 7"/>
          <p:cNvSpPr/>
          <p:nvPr/>
        </p:nvSpPr>
        <p:spPr>
          <a:xfrm>
            <a:off x="548640" y="1463040"/>
            <a:ext cx="11091672"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Function App" descr="Official Azure icon: Function Ap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7240" y="1755648"/>
            <a:ext cx="548640" cy="548640"/>
          </a:xfrm>
          <a:prstGeom prst="rect">
            <a:avLst/>
          </a:prstGeom>
        </p:spPr>
      </p:pic>
      <p:sp>
        <p:nvSpPr>
          <p:cNvPr id="10" name="TextBox 9"/>
          <p:cNvSpPr txBox="1"/>
          <p:nvPr/>
        </p:nvSpPr>
        <p:spPr>
          <a:xfrm>
            <a:off x="1554480" y="1627632"/>
            <a:ext cx="2194560" cy="457200"/>
          </a:xfrm>
          <a:prstGeom prst="rect">
            <a:avLst/>
          </a:prstGeom>
          <a:noFill/>
        </p:spPr>
        <p:txBody>
          <a:bodyPr wrap="square" lIns="0" rIns="0" tIns="0" bIns="0" anchor="t">
            <a:noAutofit/>
          </a:bodyPr>
          <a:lstStyle/>
          <a:p>
            <a:pPr algn="l"/>
            <a:r>
              <a:rPr sz="2200" b="1" i="0">
                <a:solidFill>
                  <a:srgbClr val="000048"/>
                </a:solidFill>
                <a:latin typeface="Arial"/>
              </a:rPr>
              <a:t>Execution</a:t>
            </a:r>
          </a:p>
        </p:txBody>
      </p:sp>
      <p:sp>
        <p:nvSpPr>
          <p:cNvPr id="11" name="TextBox 10"/>
          <p:cNvSpPr txBox="1"/>
          <p:nvPr/>
        </p:nvSpPr>
        <p:spPr>
          <a:xfrm>
            <a:off x="3749039" y="1737360"/>
            <a:ext cx="7680960" cy="731520"/>
          </a:xfrm>
          <a:prstGeom prst="rect">
            <a:avLst/>
          </a:prstGeom>
          <a:noFill/>
        </p:spPr>
        <p:txBody>
          <a:bodyPr wrap="square" lIns="0" rIns="0" tIns="0" bIns="0" anchor="t">
            <a:noAutofit/>
          </a:bodyPr>
          <a:lstStyle/>
          <a:p>
            <a:pPr algn="l"/>
            <a:r>
              <a:rPr sz="1900" b="0" i="0">
                <a:solidFill>
                  <a:srgbClr val="1E1E2E"/>
                </a:solidFill>
                <a:latin typeface="Arial"/>
              </a:rPr>
              <a:t>Maximum runtime, iterations, tokens and concurrent runs per agent version</a:t>
            </a:r>
          </a:p>
        </p:txBody>
      </p:sp>
      <p:sp>
        <p:nvSpPr>
          <p:cNvPr id="12" name="Rounded Rectangle 11"/>
          <p:cNvSpPr/>
          <p:nvPr/>
        </p:nvSpPr>
        <p:spPr>
          <a:xfrm>
            <a:off x="548640" y="2788920"/>
            <a:ext cx="11091672"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7240" y="3081527"/>
            <a:ext cx="548640" cy="548640"/>
          </a:xfrm>
          <a:prstGeom prst="rect">
            <a:avLst/>
          </a:prstGeom>
        </p:spPr>
      </p:pic>
      <p:sp>
        <p:nvSpPr>
          <p:cNvPr id="14" name="TextBox 13"/>
          <p:cNvSpPr txBox="1"/>
          <p:nvPr/>
        </p:nvSpPr>
        <p:spPr>
          <a:xfrm>
            <a:off x="1554480" y="2953512"/>
            <a:ext cx="2194560" cy="457200"/>
          </a:xfrm>
          <a:prstGeom prst="rect">
            <a:avLst/>
          </a:prstGeom>
          <a:noFill/>
        </p:spPr>
        <p:txBody>
          <a:bodyPr wrap="square" lIns="0" rIns="0" tIns="0" bIns="0" anchor="t">
            <a:noAutofit/>
          </a:bodyPr>
          <a:lstStyle/>
          <a:p>
            <a:pPr algn="l"/>
            <a:r>
              <a:rPr sz="2200" b="1" i="0">
                <a:solidFill>
                  <a:srgbClr val="000048"/>
                </a:solidFill>
                <a:latin typeface="Arial"/>
              </a:rPr>
              <a:t>Tools</a:t>
            </a:r>
          </a:p>
        </p:txBody>
      </p:sp>
      <p:sp>
        <p:nvSpPr>
          <p:cNvPr id="15" name="TextBox 14"/>
          <p:cNvSpPr txBox="1"/>
          <p:nvPr/>
        </p:nvSpPr>
        <p:spPr>
          <a:xfrm>
            <a:off x="3749039" y="3063239"/>
            <a:ext cx="7680960" cy="731520"/>
          </a:xfrm>
          <a:prstGeom prst="rect">
            <a:avLst/>
          </a:prstGeom>
          <a:noFill/>
        </p:spPr>
        <p:txBody>
          <a:bodyPr wrap="square" lIns="0" rIns="0" tIns="0" bIns="0" anchor="t">
            <a:noAutofit/>
          </a:bodyPr>
          <a:lstStyle/>
          <a:p>
            <a:pPr algn="l"/>
            <a:r>
              <a:rPr sz="1900" b="0" i="0">
                <a:solidFill>
                  <a:srgbClr val="1E1E2E"/>
                </a:solidFill>
                <a:latin typeface="Arial"/>
              </a:rPr>
              <a:t>Allow-list, scoped identity, transaction limits, idempotency keys</a:t>
            </a:r>
          </a:p>
        </p:txBody>
      </p:sp>
      <p:sp>
        <p:nvSpPr>
          <p:cNvPr id="16" name="Rounded Rectangle 15"/>
          <p:cNvSpPr/>
          <p:nvPr/>
        </p:nvSpPr>
        <p:spPr>
          <a:xfrm>
            <a:off x="548640" y="4114800"/>
            <a:ext cx="11091672"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Entra Privileged Identity Management" descr="Official Azure icon: Entra Privileged Identity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7240" y="4407408"/>
            <a:ext cx="548640" cy="548640"/>
          </a:xfrm>
          <a:prstGeom prst="rect">
            <a:avLst/>
          </a:prstGeom>
        </p:spPr>
      </p:pic>
      <p:sp>
        <p:nvSpPr>
          <p:cNvPr id="18" name="TextBox 17"/>
          <p:cNvSpPr txBox="1"/>
          <p:nvPr/>
        </p:nvSpPr>
        <p:spPr>
          <a:xfrm>
            <a:off x="1554480" y="4279392"/>
            <a:ext cx="2194560" cy="457200"/>
          </a:xfrm>
          <a:prstGeom prst="rect">
            <a:avLst/>
          </a:prstGeom>
          <a:noFill/>
        </p:spPr>
        <p:txBody>
          <a:bodyPr wrap="square" lIns="0" rIns="0" tIns="0" bIns="0" anchor="t">
            <a:noAutofit/>
          </a:bodyPr>
          <a:lstStyle/>
          <a:p>
            <a:pPr algn="l"/>
            <a:r>
              <a:rPr sz="2200" b="1" i="0">
                <a:solidFill>
                  <a:srgbClr val="000048"/>
                </a:solidFill>
                <a:latin typeface="Arial"/>
              </a:rPr>
              <a:t>Approval</a:t>
            </a:r>
          </a:p>
        </p:txBody>
      </p:sp>
      <p:sp>
        <p:nvSpPr>
          <p:cNvPr id="19" name="TextBox 18"/>
          <p:cNvSpPr txBox="1"/>
          <p:nvPr/>
        </p:nvSpPr>
        <p:spPr>
          <a:xfrm>
            <a:off x="3749039" y="4389120"/>
            <a:ext cx="7680960" cy="731520"/>
          </a:xfrm>
          <a:prstGeom prst="rect">
            <a:avLst/>
          </a:prstGeom>
          <a:noFill/>
        </p:spPr>
        <p:txBody>
          <a:bodyPr wrap="square" lIns="0" rIns="0" tIns="0" bIns="0" anchor="t">
            <a:noAutofit/>
          </a:bodyPr>
          <a:lstStyle/>
          <a:p>
            <a:pPr algn="l"/>
            <a:r>
              <a:rPr sz="1900" b="0" i="0">
                <a:solidFill>
                  <a:srgbClr val="1E1E2E"/>
                </a:solidFill>
                <a:latin typeface="Arial"/>
              </a:rPr>
              <a:t>Human approval before high-impact or irreversible actions</a:t>
            </a:r>
          </a:p>
        </p:txBody>
      </p:sp>
      <p:sp>
        <p:nvSpPr>
          <p:cNvPr id="20" name="Rounded Rectangle 19"/>
          <p:cNvSpPr/>
          <p:nvPr/>
        </p:nvSpPr>
        <p:spPr>
          <a:xfrm>
            <a:off x="548640" y="557784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Limits reduce blast radius; they do not replace containment. Owner: AI tower, with Security.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an agentic loop amplifies calls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ADAPTED FROM SOURCE"/>
          <p:cNvSpPr/>
          <p:nvPr/>
        </p:nvSpPr>
        <p:spPr>
          <a:xfrm>
            <a:off x="199644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sp>
        <p:nvSpPr>
          <p:cNvPr id="9" name="Rounded Rectangle 8"/>
          <p:cNvSpPr/>
          <p:nvPr/>
        </p:nvSpPr>
        <p:spPr>
          <a:xfrm>
            <a:off x="502920"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User query</a:t>
            </a:r>
          </a:p>
        </p:txBody>
      </p:sp>
      <p:cxnSp>
        <p:nvCxnSpPr>
          <p:cNvPr id="10" name="Connector (flow)"/>
          <p:cNvCxnSpPr/>
          <p:nvPr/>
        </p:nvCxnSpPr>
        <p:spPr>
          <a:xfrm>
            <a:off x="1764792"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901952"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Foundry Agent Service" descr="Official Azure icon: Foundry Agent Servic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27148" y="1901952"/>
            <a:ext cx="411480" cy="411480"/>
          </a:xfrm>
          <a:prstGeom prst="rect">
            <a:avLst/>
          </a:prstGeom>
        </p:spPr>
      </p:pic>
      <p:sp>
        <p:nvSpPr>
          <p:cNvPr id="13" name="TextBox 12"/>
          <p:cNvSpPr txBox="1"/>
          <p:nvPr/>
        </p:nvSpPr>
        <p:spPr>
          <a:xfrm>
            <a:off x="1938528"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Agent reasoning loop</a:t>
            </a:r>
          </a:p>
        </p:txBody>
      </p:sp>
      <p:cxnSp>
        <p:nvCxnSpPr>
          <p:cNvPr id="14" name="Connector (flow)"/>
          <p:cNvCxnSpPr/>
          <p:nvPr/>
        </p:nvCxnSpPr>
        <p:spPr>
          <a:xfrm>
            <a:off x="3163824"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00984"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AI Search (Cognitive Search icon)" descr="Official Azure icon: AI Search (Cognitive Search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26180" y="1901952"/>
            <a:ext cx="411480" cy="411480"/>
          </a:xfrm>
          <a:prstGeom prst="rect">
            <a:avLst/>
          </a:prstGeom>
        </p:spPr>
      </p:pic>
      <p:sp>
        <p:nvSpPr>
          <p:cNvPr id="17" name="TextBox 16"/>
          <p:cNvSpPr txBox="1"/>
          <p:nvPr/>
        </p:nvSpPr>
        <p:spPr>
          <a:xfrm>
            <a:off x="3337560"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Tool call: search A</a:t>
            </a:r>
          </a:p>
        </p:txBody>
      </p:sp>
      <p:cxnSp>
        <p:nvCxnSpPr>
          <p:cNvPr id="18" name="Connector (flow)"/>
          <p:cNvCxnSpPr/>
          <p:nvPr/>
        </p:nvCxnSpPr>
        <p:spPr>
          <a:xfrm>
            <a:off x="4562856"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700016"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Evaluate results</a:t>
            </a:r>
          </a:p>
        </p:txBody>
      </p:sp>
      <p:cxnSp>
        <p:nvCxnSpPr>
          <p:cNvPr id="20" name="Connector (flow)"/>
          <p:cNvCxnSpPr/>
          <p:nvPr/>
        </p:nvCxnSpPr>
        <p:spPr>
          <a:xfrm>
            <a:off x="5961888"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099048"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AI Search (Cognitive Search icon)" descr="Official Azure icon: AI Search (Cognitive Search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24244" y="1901952"/>
            <a:ext cx="411480" cy="411480"/>
          </a:xfrm>
          <a:prstGeom prst="rect">
            <a:avLst/>
          </a:prstGeom>
        </p:spPr>
      </p:pic>
      <p:sp>
        <p:nvSpPr>
          <p:cNvPr id="23" name="TextBox 22"/>
          <p:cNvSpPr txBox="1"/>
          <p:nvPr/>
        </p:nvSpPr>
        <p:spPr>
          <a:xfrm>
            <a:off x="6135624"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Tool call: search B</a:t>
            </a:r>
          </a:p>
        </p:txBody>
      </p:sp>
      <p:cxnSp>
        <p:nvCxnSpPr>
          <p:cNvPr id="24" name="Connector (flow)"/>
          <p:cNvCxnSpPr/>
          <p:nvPr/>
        </p:nvCxnSpPr>
        <p:spPr>
          <a:xfrm>
            <a:off x="7360920" y="242316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498080"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Build prompt</a:t>
            </a:r>
          </a:p>
        </p:txBody>
      </p:sp>
      <p:cxnSp>
        <p:nvCxnSpPr>
          <p:cNvPr id="26" name="Connector (flow)"/>
          <p:cNvCxnSpPr/>
          <p:nvPr/>
        </p:nvCxnSpPr>
        <p:spPr>
          <a:xfrm>
            <a:off x="8759952"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897112"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22308" y="1901952"/>
            <a:ext cx="411480" cy="411480"/>
          </a:xfrm>
          <a:prstGeom prst="rect">
            <a:avLst/>
          </a:prstGeom>
        </p:spPr>
      </p:pic>
      <p:sp>
        <p:nvSpPr>
          <p:cNvPr id="29" name="TextBox 28"/>
          <p:cNvSpPr txBox="1"/>
          <p:nvPr/>
        </p:nvSpPr>
        <p:spPr>
          <a:xfrm>
            <a:off x="8933688"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Model call</a:t>
            </a:r>
          </a:p>
        </p:txBody>
      </p:sp>
      <p:cxnSp>
        <p:nvCxnSpPr>
          <p:cNvPr id="30" name="Connector (flow)"/>
          <p:cNvCxnSpPr/>
          <p:nvPr/>
        </p:nvCxnSpPr>
        <p:spPr>
          <a:xfrm>
            <a:off x="10158984"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296144"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Response</a:t>
            </a:r>
          </a:p>
        </p:txBody>
      </p:sp>
      <p:cxnSp>
        <p:nvCxnSpPr>
          <p:cNvPr id="32" name="Connector (flow)"/>
          <p:cNvCxnSpPr/>
          <p:nvPr/>
        </p:nvCxnSpPr>
        <p:spPr>
          <a:xfrm>
            <a:off x="4059935" y="3017520"/>
            <a:ext cx="0" cy="4114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3" name="Connector (flow)"/>
          <p:cNvCxnSpPr/>
          <p:nvPr/>
        </p:nvCxnSpPr>
        <p:spPr>
          <a:xfrm flipH="1">
            <a:off x="2532888" y="3429000"/>
            <a:ext cx="1527047"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4" name="Connector (flow)"/>
          <p:cNvCxnSpPr/>
          <p:nvPr/>
        </p:nvCxnSpPr>
        <p:spPr>
          <a:xfrm flipV="1">
            <a:off x="2532888" y="3017520"/>
            <a:ext cx="0" cy="4114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377440" y="3474720"/>
            <a:ext cx="2194560" cy="274320"/>
          </a:xfrm>
          <a:prstGeom prst="rect">
            <a:avLst/>
          </a:prstGeom>
          <a:noFill/>
        </p:spPr>
        <p:txBody>
          <a:bodyPr wrap="square" lIns="0" rIns="0" tIns="0" bIns="0" anchor="t">
            <a:noAutofit/>
          </a:bodyPr>
          <a:lstStyle/>
          <a:p>
            <a:pPr algn="ctr"/>
            <a:r>
              <a:rPr sz="1100" b="0" i="0">
                <a:solidFill>
                  <a:srgbClr val="000048"/>
                </a:solidFill>
                <a:latin typeface="Arial"/>
              </a:rPr>
              <a:t>repeat until sufficient</a:t>
            </a:r>
          </a:p>
        </p:txBody>
      </p:sp>
      <p:sp>
        <p:nvSpPr>
          <p:cNvPr id="36" name="Rounded Rectangle 35"/>
          <p:cNvSpPr/>
          <p:nvPr/>
        </p:nvSpPr>
        <p:spPr>
          <a:xfrm>
            <a:off x="1856232"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100" b="1" i="0">
                <a:solidFill>
                  <a:srgbClr val="000048"/>
                </a:solidFill>
                <a:latin typeface="Arial"/>
              </a:rPr>
              <a:t>Iteration and time limit</a:t>
            </a:r>
          </a:p>
        </p:txBody>
      </p:sp>
      <p:cxnSp>
        <p:nvCxnSpPr>
          <p:cNvPr id="37" name="Connector (control)"/>
          <p:cNvCxnSpPr/>
          <p:nvPr/>
        </p:nvCxnSpPr>
        <p:spPr>
          <a:xfrm flipV="1">
            <a:off x="2542032"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3255264"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100" b="1" i="0">
                <a:solidFill>
                  <a:srgbClr val="000048"/>
                </a:solidFill>
                <a:latin typeface="Arial"/>
              </a:rPr>
              <a:t>Tool allow-list</a:t>
            </a:r>
          </a:p>
        </p:txBody>
      </p:sp>
      <p:cxnSp>
        <p:nvCxnSpPr>
          <p:cNvPr id="39" name="Connector (control)"/>
          <p:cNvCxnSpPr/>
          <p:nvPr/>
        </p:nvCxnSpPr>
        <p:spPr>
          <a:xfrm flipV="1">
            <a:off x="3941063"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053328"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100" b="1" i="0">
                <a:solidFill>
                  <a:srgbClr val="000048"/>
                </a:solidFill>
                <a:latin typeface="Arial"/>
              </a:rPr>
              <a:t>Checkpoint deny-state check</a:t>
            </a:r>
          </a:p>
        </p:txBody>
      </p:sp>
      <p:cxnSp>
        <p:nvCxnSpPr>
          <p:cNvPr id="41" name="Connector (control)"/>
          <p:cNvCxnSpPr/>
          <p:nvPr/>
        </p:nvCxnSpPr>
        <p:spPr>
          <a:xfrm flipV="1">
            <a:off x="6739128"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851392"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100" b="1" i="0">
                <a:solidFill>
                  <a:srgbClr val="000048"/>
                </a:solidFill>
                <a:latin typeface="Arial"/>
              </a:rPr>
              <a:t>Token budget</a:t>
            </a:r>
          </a:p>
        </p:txBody>
      </p:sp>
      <p:cxnSp>
        <p:nvCxnSpPr>
          <p:cNvPr id="43" name="Connector (control)"/>
          <p:cNvCxnSpPr/>
          <p:nvPr/>
        </p:nvCxnSpPr>
        <p:spPr>
          <a:xfrm flipV="1">
            <a:off x="9537192"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48640" y="4892040"/>
            <a:ext cx="11064240" cy="731520"/>
          </a:xfrm>
          <a:prstGeom prst="rect">
            <a:avLst/>
          </a:prstGeom>
          <a:noFill/>
        </p:spPr>
        <p:txBody>
          <a:bodyPr wrap="square" lIns="0" rIns="0" tIns="0" bIns="0" anchor="t">
            <a:noAutofit/>
          </a:bodyPr>
          <a:lstStyle/>
          <a:p>
            <a:pPr algn="l"/>
            <a:r>
              <a:rPr sz="1600" b="0" i="0">
                <a:solidFill>
                  <a:srgbClr val="1E1E2E"/>
                </a:solidFill>
                <a:latin typeface="Arial"/>
              </a:rPr>
              <a:t>Each loop multiplies model and tool calls. One user question can drive many backend calls, so budgets and stop checks belong at every checkpoint.</a:t>
            </a:r>
          </a:p>
        </p:txBody>
      </p:sp>
      <p:sp>
        <p:nvSpPr>
          <p:cNvPr id="45" name="TextBox 44"/>
          <p:cNvSpPr txBox="1"/>
          <p:nvPr/>
        </p:nvSpPr>
        <p:spPr>
          <a:xfrm>
            <a:off x="548640" y="585216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from Microsoft source; control points are proposed additions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Multi-agent workload: owners and stop 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ADAPTED FROM SOURCE"/>
          <p:cNvSpPr/>
          <p:nvPr/>
        </p:nvSpPr>
        <p:spPr>
          <a:xfrm>
            <a:off x="199644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sp>
        <p:nvSpPr>
          <p:cNvPr id="9" name="Rounded Rectangle 8"/>
          <p:cNvSpPr/>
          <p:nvPr/>
        </p:nvSpPr>
        <p:spPr>
          <a:xfrm>
            <a:off x="548640" y="1554480"/>
            <a:ext cx="19202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p Services" descr="Official Azure icon: App Servic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80160" y="1627632"/>
            <a:ext cx="457200" cy="457200"/>
          </a:xfrm>
          <a:prstGeom prst="rect">
            <a:avLst/>
          </a:prstGeom>
        </p:spPr>
      </p:pic>
      <p:sp>
        <p:nvSpPr>
          <p:cNvPr id="11" name="TextBox 10"/>
          <p:cNvSpPr txBox="1"/>
          <p:nvPr/>
        </p:nvSpPr>
        <p:spPr>
          <a:xfrm>
            <a:off x="585216" y="2121408"/>
            <a:ext cx="1847088" cy="512064"/>
          </a:xfrm>
          <a:prstGeom prst="rect">
            <a:avLst/>
          </a:prstGeom>
          <a:noFill/>
        </p:spPr>
        <p:txBody>
          <a:bodyPr wrap="square" lIns="0" rIns="0" tIns="0" bIns="0" anchor="t">
            <a:noAutofit/>
          </a:bodyPr>
          <a:lstStyle/>
          <a:p>
            <a:pPr algn="ctr"/>
            <a:r>
              <a:rPr sz="1300" b="1" i="0">
                <a:solidFill>
                  <a:srgbClr val="000048"/>
                </a:solidFill>
                <a:latin typeface="Arial"/>
              </a:rPr>
              <a:t>Web front end</a:t>
            </a:r>
          </a:p>
          <a:p>
            <a:pPr algn="ctr"/>
            <a:r>
              <a:rPr sz="1100" b="0" i="0">
                <a:solidFill>
                  <a:srgbClr val="53565A"/>
                </a:solidFill>
                <a:latin typeface="Arial"/>
              </a:rPr>
              <a:t>App Service</a:t>
            </a:r>
          </a:p>
        </p:txBody>
      </p:sp>
      <p:sp>
        <p:nvSpPr>
          <p:cNvPr id="12" name="Rounded Rectangle 11"/>
          <p:cNvSpPr/>
          <p:nvPr/>
        </p:nvSpPr>
        <p:spPr>
          <a:xfrm>
            <a:off x="3108960" y="1554480"/>
            <a:ext cx="2286000" cy="1097280"/>
          </a:xfrm>
          <a:prstGeom prst="roundRect">
            <a:avLst>
              <a:gd name="adj" fmla="val 6666"/>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Container Apps Environments" descr="Official Azure icon: Container Apps Environmen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23360" y="1627632"/>
            <a:ext cx="457200" cy="457200"/>
          </a:xfrm>
          <a:prstGeom prst="rect">
            <a:avLst/>
          </a:prstGeom>
        </p:spPr>
      </p:pic>
      <p:sp>
        <p:nvSpPr>
          <p:cNvPr id="14" name="TextBox 13"/>
          <p:cNvSpPr txBox="1"/>
          <p:nvPr/>
        </p:nvSpPr>
        <p:spPr>
          <a:xfrm>
            <a:off x="3145536" y="2121408"/>
            <a:ext cx="2212848" cy="512064"/>
          </a:xfrm>
          <a:prstGeom prst="rect">
            <a:avLst/>
          </a:prstGeom>
          <a:noFill/>
        </p:spPr>
        <p:txBody>
          <a:bodyPr wrap="square" lIns="0" rIns="0" tIns="0" bIns="0" anchor="t">
            <a:noAutofit/>
          </a:bodyPr>
          <a:lstStyle/>
          <a:p>
            <a:pPr algn="ctr"/>
            <a:r>
              <a:rPr sz="1300" b="1" i="0">
                <a:solidFill>
                  <a:srgbClr val="000048"/>
                </a:solidFill>
                <a:latin typeface="Arial"/>
              </a:rPr>
              <a:t>Agent orchestration API</a:t>
            </a:r>
          </a:p>
          <a:p>
            <a:pPr algn="ctr"/>
            <a:r>
              <a:rPr sz="1100" b="0" i="0">
                <a:solidFill>
                  <a:srgbClr val="53565A"/>
                </a:solidFill>
                <a:latin typeface="Arial"/>
              </a:rPr>
              <a:t>Container Apps</a:t>
            </a:r>
          </a:p>
        </p:txBody>
      </p:sp>
      <p:sp>
        <p:nvSpPr>
          <p:cNvPr id="15" name="Rounded Rectangle 14"/>
          <p:cNvSpPr/>
          <p:nvPr/>
        </p:nvSpPr>
        <p:spPr>
          <a:xfrm>
            <a:off x="6035040" y="1554480"/>
            <a:ext cx="2103120"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Knowledge sources and tools</a:t>
            </a:r>
          </a:p>
          <a:p>
            <a:pPr algn="ctr"/>
            <a:r>
              <a:rPr sz="1100" b="0" i="0">
                <a:solidFill>
                  <a:srgbClr val="53565A"/>
                </a:solidFill>
                <a:latin typeface="Arial"/>
              </a:rPr>
              <a:t>per workload</a:t>
            </a:r>
          </a:p>
        </p:txBody>
      </p:sp>
      <p:sp>
        <p:nvSpPr>
          <p:cNvPr id="16" name="Rounded Rectangle 15"/>
          <p:cNvSpPr/>
          <p:nvPr/>
        </p:nvSpPr>
        <p:spPr>
          <a:xfrm>
            <a:off x="3108960" y="333756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23360" y="3410712"/>
            <a:ext cx="457200" cy="457200"/>
          </a:xfrm>
          <a:prstGeom prst="rect">
            <a:avLst/>
          </a:prstGeom>
        </p:spPr>
      </p:pic>
      <p:sp>
        <p:nvSpPr>
          <p:cNvPr id="18" name="TextBox 17"/>
          <p:cNvSpPr txBox="1"/>
          <p:nvPr/>
        </p:nvSpPr>
        <p:spPr>
          <a:xfrm>
            <a:off x="3145536" y="3904488"/>
            <a:ext cx="22128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Microsoft Foundry</a:t>
            </a:r>
          </a:p>
        </p:txBody>
      </p:sp>
      <p:sp>
        <p:nvSpPr>
          <p:cNvPr id="19" name="Rounded Rectangle 18"/>
          <p:cNvSpPr/>
          <p:nvPr/>
        </p:nvSpPr>
        <p:spPr>
          <a:xfrm>
            <a:off x="6035040" y="3337560"/>
            <a:ext cx="210312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Azure Cosmos DB" descr="Official Azure icon: Azure Cosmos DB"/>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858000" y="3410712"/>
            <a:ext cx="457200" cy="457200"/>
          </a:xfrm>
          <a:prstGeom prst="rect">
            <a:avLst/>
          </a:prstGeom>
        </p:spPr>
      </p:pic>
      <p:sp>
        <p:nvSpPr>
          <p:cNvPr id="21" name="TextBox 20"/>
          <p:cNvSpPr txBox="1"/>
          <p:nvPr/>
        </p:nvSpPr>
        <p:spPr>
          <a:xfrm>
            <a:off x="6071616" y="3904488"/>
            <a:ext cx="2029967" cy="512064"/>
          </a:xfrm>
          <a:prstGeom prst="rect">
            <a:avLst/>
          </a:prstGeom>
          <a:noFill/>
        </p:spPr>
        <p:txBody>
          <a:bodyPr wrap="square" lIns="0" rIns="0" tIns="0" bIns="0" anchor="t">
            <a:noAutofit/>
          </a:bodyPr>
          <a:lstStyle/>
          <a:p>
            <a:pPr algn="ctr"/>
            <a:r>
              <a:rPr sz="1300" b="1" i="0">
                <a:solidFill>
                  <a:srgbClr val="000048"/>
                </a:solidFill>
                <a:latin typeface="Arial"/>
              </a:rPr>
              <a:t>Plans and state</a:t>
            </a:r>
          </a:p>
          <a:p>
            <a:pPr algn="ctr"/>
            <a:r>
              <a:rPr sz="1100" b="0" i="0">
                <a:solidFill>
                  <a:srgbClr val="53565A"/>
                </a:solidFill>
                <a:latin typeface="Arial"/>
              </a:rPr>
              <a:t>Azure Cosmos DB</a:t>
            </a:r>
          </a:p>
        </p:txBody>
      </p:sp>
      <p:sp>
        <p:nvSpPr>
          <p:cNvPr id="22" name="Rounded Rectangle 21"/>
          <p:cNvSpPr/>
          <p:nvPr/>
        </p:nvSpPr>
        <p:spPr>
          <a:xfrm>
            <a:off x="548640" y="3337560"/>
            <a:ext cx="19202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3" name="Azure icon: Container Registries" descr="Official Azure icon: Container Registrie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280160" y="3410712"/>
            <a:ext cx="457200" cy="457200"/>
          </a:xfrm>
          <a:prstGeom prst="rect">
            <a:avLst/>
          </a:prstGeom>
        </p:spPr>
      </p:pic>
      <p:sp>
        <p:nvSpPr>
          <p:cNvPr id="24" name="TextBox 23"/>
          <p:cNvSpPr txBox="1"/>
          <p:nvPr/>
        </p:nvSpPr>
        <p:spPr>
          <a:xfrm>
            <a:off x="585216" y="3904488"/>
            <a:ext cx="1847088" cy="512064"/>
          </a:xfrm>
          <a:prstGeom prst="rect">
            <a:avLst/>
          </a:prstGeom>
          <a:noFill/>
        </p:spPr>
        <p:txBody>
          <a:bodyPr wrap="square" lIns="0" rIns="0" tIns="0" bIns="0" anchor="t">
            <a:noAutofit/>
          </a:bodyPr>
          <a:lstStyle/>
          <a:p>
            <a:pPr algn="ctr"/>
            <a:r>
              <a:rPr sz="1300" b="1" i="0">
                <a:solidFill>
                  <a:srgbClr val="000048"/>
                </a:solidFill>
                <a:latin typeface="Arial"/>
              </a:rPr>
              <a:t>Images</a:t>
            </a:r>
          </a:p>
          <a:p>
            <a:pPr algn="ctr"/>
            <a:r>
              <a:rPr sz="1100" b="0" i="0">
                <a:solidFill>
                  <a:srgbClr val="53565A"/>
                </a:solidFill>
                <a:latin typeface="Arial"/>
              </a:rPr>
              <a:t>Container Registry</a:t>
            </a:r>
          </a:p>
        </p:txBody>
      </p:sp>
      <p:cxnSp>
        <p:nvCxnSpPr>
          <p:cNvPr id="25" name="Connector (flow)"/>
          <p:cNvCxnSpPr/>
          <p:nvPr/>
        </p:nvCxnSpPr>
        <p:spPr>
          <a:xfrm>
            <a:off x="2468880" y="210312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flow)"/>
          <p:cNvCxnSpPr/>
          <p:nvPr/>
        </p:nvCxnSpPr>
        <p:spPr>
          <a:xfrm>
            <a:off x="5394960" y="210312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flow)"/>
          <p:cNvCxnSpPr/>
          <p:nvPr/>
        </p:nvCxnSpPr>
        <p:spPr>
          <a:xfrm>
            <a:off x="4251960" y="2743200"/>
            <a:ext cx="0" cy="5943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flow)"/>
          <p:cNvCxnSpPr/>
          <p:nvPr/>
        </p:nvCxnSpPr>
        <p:spPr>
          <a:xfrm>
            <a:off x="5394960" y="2514600"/>
            <a:ext cx="3657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9" name="Connector (flow)"/>
          <p:cNvCxnSpPr/>
          <p:nvPr/>
        </p:nvCxnSpPr>
        <p:spPr>
          <a:xfrm>
            <a:off x="5760720" y="2514600"/>
            <a:ext cx="0" cy="13258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0" name="Connector (flow)"/>
          <p:cNvCxnSpPr/>
          <p:nvPr/>
        </p:nvCxnSpPr>
        <p:spPr>
          <a:xfrm>
            <a:off x="5760720" y="384048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31" name="Table"/>
          <p:cNvGraphicFramePr>
            <a:graphicFrameLocks noGrp="1"/>
          </p:cNvGraphicFramePr>
          <p:nvPr/>
        </p:nvGraphicFramePr>
        <p:xfrm>
          <a:off x="8503920" y="1554480"/>
          <a:ext cx="3136392" cy="2392680"/>
        </p:xfrm>
        <a:graphic>
          <a:graphicData uri="http://schemas.openxmlformats.org/drawingml/2006/table">
            <a:tbl>
              <a:tblPr firstRow="1" bandRow="0">
                <a:tableStyleId>{5C22544A-7EE6-4342-B048-85BDC9FD1C3A}</a:tableStyleId>
              </a:tblPr>
              <a:tblGrid>
                <a:gridCol w="1143000"/>
                <a:gridCol w="914400"/>
                <a:gridCol w="1078992"/>
              </a:tblGrid>
              <a:tr h="259080">
                <a:tc>
                  <a:txBody>
                    <a:bodyPr wrap="square" anchor="ctr">
                      <a:noAutofit/>
                    </a:bodyPr>
                    <a:lstStyle/>
                    <a:p>
                      <a:pPr algn="l"/>
                      <a:r>
                        <a:rPr sz="1100" b="1" i="0">
                          <a:solidFill>
                            <a:srgbClr val="FFFFFF"/>
                          </a:solidFill>
                          <a:latin typeface="Arial"/>
                        </a:rPr>
                        <a:t>Component</a:t>
                      </a:r>
                    </a:p>
                  </a:txBody>
                  <a:tcPr marL="73152" marR="73152" marT="36576" marB="36576" anchor="ctr">
                    <a:solidFill>
                      <a:srgbClr val="000048"/>
                    </a:solidFill>
                  </a:tcPr>
                </a:tc>
                <a:tc>
                  <a:txBody>
                    <a:bodyPr wrap="square" anchor="ctr">
                      <a:noAutofit/>
                    </a:bodyPr>
                    <a:lstStyle/>
                    <a:p>
                      <a:pPr algn="l"/>
                      <a:r>
                        <a:rPr sz="11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100" b="1" i="0">
                          <a:solidFill>
                            <a:srgbClr val="FFFFFF"/>
                          </a:solidFill>
                          <a:latin typeface="Arial"/>
                        </a:rPr>
                        <a:t>Stop action</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Front end</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AI / app team</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Block at ingress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Orchestration API</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Scale to zero or isolate</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Tools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Tool owners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Deny at tool side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Model</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Deny at gateway</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State</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AI with Data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Freeze writes</a:t>
                      </a:r>
                    </a:p>
                  </a:txBody>
                  <a:tcPr marL="73152" marR="73152" marT="36576" marB="36576" anchor="ctr">
                    <a:solidFill>
                      <a:srgbClr val="FFFFFF"/>
                    </a:solidFill>
                  </a:tcPr>
                </a:tc>
              </a:tr>
            </a:tbl>
          </a:graphicData>
        </a:graphic>
      </p:graphicFrame>
      <p:sp>
        <p:nvSpPr>
          <p:cNvPr id="32" name="TextBox 31"/>
          <p:cNvSpPr txBox="1"/>
          <p:nvPr/>
        </p:nvSpPr>
        <p:spPr>
          <a:xfrm>
            <a:off x="548640" y="585216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from Microsoft source; owners and stop actions are proposed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Monitor behaviour as well as technical success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6"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sp>
        <p:nvSpPr>
          <p:cNvPr id="8" name="Rounded Rectangle 7"/>
          <p:cNvSpPr/>
          <p:nvPr/>
        </p:nvSpPr>
        <p:spPr>
          <a:xfrm>
            <a:off x="548640" y="1371600"/>
            <a:ext cx="3593592" cy="402336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Application Insights" descr="Official Azure icon: Application Insight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554480"/>
            <a:ext cx="502920" cy="502920"/>
          </a:xfrm>
          <a:prstGeom prst="rect">
            <a:avLst/>
          </a:prstGeom>
        </p:spPr>
      </p:pic>
      <p:sp>
        <p:nvSpPr>
          <p:cNvPr id="10" name="TextBox 9"/>
          <p:cNvSpPr txBox="1"/>
          <p:nvPr/>
        </p:nvSpPr>
        <p:spPr>
          <a:xfrm>
            <a:off x="1371600" y="1627632"/>
            <a:ext cx="2651760" cy="411480"/>
          </a:xfrm>
          <a:prstGeom prst="rect">
            <a:avLst/>
          </a:prstGeom>
          <a:noFill/>
        </p:spPr>
        <p:txBody>
          <a:bodyPr wrap="square" lIns="0" rIns="0" tIns="0" bIns="0" anchor="t">
            <a:noAutofit/>
          </a:bodyPr>
          <a:lstStyle/>
          <a:p>
            <a:pPr algn="l"/>
            <a:r>
              <a:rPr sz="2100" b="1" i="0">
                <a:solidFill>
                  <a:srgbClr val="000048"/>
                </a:solidFill>
                <a:latin typeface="Arial"/>
              </a:rPr>
              <a:t>Operations</a:t>
            </a:r>
          </a:p>
        </p:txBody>
      </p:sp>
      <p:sp>
        <p:nvSpPr>
          <p:cNvPr id="11" name="TextBox 10"/>
          <p:cNvSpPr txBox="1"/>
          <p:nvPr/>
        </p:nvSpPr>
        <p:spPr>
          <a:xfrm>
            <a:off x="731520" y="2286000"/>
            <a:ext cx="3291840" cy="219456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Errors and latency</a:t>
            </a:r>
          </a:p>
          <a:p>
            <a:pPr algn="l" marL="201168" indent="-201168">
              <a:spcAft>
                <a:spcPts val="800"/>
              </a:spcAft>
              <a:buFont typeface="Arial"/>
              <a:buChar char="•"/>
            </a:pPr>
            <a:r>
              <a:rPr sz="1700" b="0" i="0">
                <a:solidFill>
                  <a:srgbClr val="1E1E2E"/>
                </a:solidFill>
                <a:latin typeface="Arial"/>
              </a:rPr>
              <a:t>Tool failures</a:t>
            </a:r>
          </a:p>
          <a:p>
            <a:pPr algn="l" marL="201168" indent="-201168">
              <a:spcAft>
                <a:spcPts val="800"/>
              </a:spcAft>
              <a:buFont typeface="Arial"/>
              <a:buChar char="•"/>
            </a:pPr>
            <a:r>
              <a:rPr sz="1700" b="0" i="0">
                <a:solidFill>
                  <a:srgbClr val="1E1E2E"/>
                </a:solidFill>
                <a:latin typeface="Arial"/>
              </a:rPr>
              <a:t>Telemetry health</a:t>
            </a:r>
          </a:p>
        </p:txBody>
      </p:sp>
      <p:sp>
        <p:nvSpPr>
          <p:cNvPr id="12" name="TextBox 11"/>
          <p:cNvSpPr txBox="1"/>
          <p:nvPr/>
        </p:nvSpPr>
        <p:spPr>
          <a:xfrm>
            <a:off x="731520" y="4846320"/>
            <a:ext cx="3291840" cy="365760"/>
          </a:xfrm>
          <a:prstGeom prst="rect">
            <a:avLst/>
          </a:prstGeom>
          <a:noFill/>
        </p:spPr>
        <p:txBody>
          <a:bodyPr wrap="square" lIns="0" rIns="0" tIns="0" bIns="0" anchor="t">
            <a:noAutofit/>
          </a:bodyPr>
          <a:lstStyle/>
          <a:p>
            <a:pPr algn="l"/>
            <a:r>
              <a:rPr sz="1500" b="1" i="0">
                <a:solidFill>
                  <a:srgbClr val="2F78C4"/>
                </a:solidFill>
                <a:latin typeface="Arial"/>
              </a:rPr>
              <a:t>Owner: </a:t>
            </a:r>
            <a:r>
              <a:rPr sz="1500" b="0" i="0">
                <a:solidFill>
                  <a:srgbClr val="1E1E2E"/>
                </a:solidFill>
                <a:latin typeface="Arial"/>
              </a:rPr>
              <a:t>CIS Infra</a:t>
            </a:r>
          </a:p>
        </p:txBody>
      </p:sp>
      <p:sp>
        <p:nvSpPr>
          <p:cNvPr id="13" name="Rounded Rectangle 12"/>
          <p:cNvSpPr/>
          <p:nvPr/>
        </p:nvSpPr>
        <p:spPr>
          <a:xfrm>
            <a:off x="4297679" y="1371600"/>
            <a:ext cx="3593592" cy="402336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Foundry Control Plane" descr="Official Azure icon: Foundry Control Plan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80559" y="1554480"/>
            <a:ext cx="502920" cy="502920"/>
          </a:xfrm>
          <a:prstGeom prst="rect">
            <a:avLst/>
          </a:prstGeom>
        </p:spPr>
      </p:pic>
      <p:sp>
        <p:nvSpPr>
          <p:cNvPr id="15" name="TextBox 14"/>
          <p:cNvSpPr txBox="1"/>
          <p:nvPr/>
        </p:nvSpPr>
        <p:spPr>
          <a:xfrm>
            <a:off x="5120640" y="1627632"/>
            <a:ext cx="2651760" cy="411480"/>
          </a:xfrm>
          <a:prstGeom prst="rect">
            <a:avLst/>
          </a:prstGeom>
          <a:noFill/>
        </p:spPr>
        <p:txBody>
          <a:bodyPr wrap="square" lIns="0" rIns="0" tIns="0" bIns="0" anchor="t">
            <a:noAutofit/>
          </a:bodyPr>
          <a:lstStyle/>
          <a:p>
            <a:pPr algn="l"/>
            <a:r>
              <a:rPr sz="2100" b="1" i="0">
                <a:solidFill>
                  <a:srgbClr val="000048"/>
                </a:solidFill>
                <a:latin typeface="Arial"/>
              </a:rPr>
              <a:t>Quality</a:t>
            </a:r>
          </a:p>
        </p:txBody>
      </p:sp>
      <p:sp>
        <p:nvSpPr>
          <p:cNvPr id="16" name="TextBox 15"/>
          <p:cNvSpPr txBox="1"/>
          <p:nvPr/>
        </p:nvSpPr>
        <p:spPr>
          <a:xfrm>
            <a:off x="4480559" y="2286000"/>
            <a:ext cx="3291840" cy="219456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Task outcome</a:t>
            </a:r>
          </a:p>
          <a:p>
            <a:pPr algn="l" marL="201168" indent="-201168">
              <a:spcAft>
                <a:spcPts val="800"/>
              </a:spcAft>
              <a:buFont typeface="Arial"/>
              <a:buChar char="•"/>
            </a:pPr>
            <a:r>
              <a:rPr sz="1700" b="0" i="0">
                <a:solidFill>
                  <a:srgbClr val="1E1E2E"/>
                </a:solidFill>
                <a:latin typeface="Arial"/>
              </a:rPr>
              <a:t>Evaluation scores</a:t>
            </a:r>
          </a:p>
          <a:p>
            <a:pPr algn="l" marL="201168" indent="-201168">
              <a:spcAft>
                <a:spcPts val="800"/>
              </a:spcAft>
              <a:buFont typeface="Arial"/>
              <a:buChar char="•"/>
            </a:pPr>
            <a:r>
              <a:rPr sz="1700" b="0" i="0">
                <a:solidFill>
                  <a:srgbClr val="1E1E2E"/>
                </a:solidFill>
                <a:latin typeface="Arial"/>
              </a:rPr>
              <a:t>Escalation rate</a:t>
            </a:r>
          </a:p>
        </p:txBody>
      </p:sp>
      <p:sp>
        <p:nvSpPr>
          <p:cNvPr id="17" name="TextBox 16"/>
          <p:cNvSpPr txBox="1"/>
          <p:nvPr/>
        </p:nvSpPr>
        <p:spPr>
          <a:xfrm>
            <a:off x="4480559" y="4846320"/>
            <a:ext cx="3291840" cy="365760"/>
          </a:xfrm>
          <a:prstGeom prst="rect">
            <a:avLst/>
          </a:prstGeom>
          <a:noFill/>
        </p:spPr>
        <p:txBody>
          <a:bodyPr wrap="square" lIns="0" rIns="0" tIns="0" bIns="0" anchor="t">
            <a:noAutofit/>
          </a:bodyPr>
          <a:lstStyle/>
          <a:p>
            <a:pPr algn="l"/>
            <a:r>
              <a:rPr sz="1500" b="1" i="0">
                <a:solidFill>
                  <a:srgbClr val="2F78C4"/>
                </a:solidFill>
                <a:latin typeface="Arial"/>
              </a:rPr>
              <a:t>Owner: </a:t>
            </a:r>
            <a:r>
              <a:rPr sz="1500" b="0" i="0">
                <a:solidFill>
                  <a:srgbClr val="1E1E2E"/>
                </a:solidFill>
                <a:latin typeface="Arial"/>
              </a:rPr>
              <a:t>AI tower</a:t>
            </a:r>
          </a:p>
        </p:txBody>
      </p:sp>
      <p:sp>
        <p:nvSpPr>
          <p:cNvPr id="18" name="Rounded Rectangle 17"/>
          <p:cNvSpPr/>
          <p:nvPr/>
        </p:nvSpPr>
        <p:spPr>
          <a:xfrm>
            <a:off x="8046719" y="1371600"/>
            <a:ext cx="3593592" cy="402336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Cost Analysis" descr="Official Azure icon: Cost Analysi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29599" y="1554480"/>
            <a:ext cx="502920" cy="502920"/>
          </a:xfrm>
          <a:prstGeom prst="rect">
            <a:avLst/>
          </a:prstGeom>
        </p:spPr>
      </p:pic>
      <p:sp>
        <p:nvSpPr>
          <p:cNvPr id="20" name="TextBox 19"/>
          <p:cNvSpPr txBox="1"/>
          <p:nvPr/>
        </p:nvSpPr>
        <p:spPr>
          <a:xfrm>
            <a:off x="8869680" y="1627632"/>
            <a:ext cx="2651760" cy="411480"/>
          </a:xfrm>
          <a:prstGeom prst="rect">
            <a:avLst/>
          </a:prstGeom>
          <a:noFill/>
        </p:spPr>
        <p:txBody>
          <a:bodyPr wrap="square" lIns="0" rIns="0" tIns="0" bIns="0" anchor="t">
            <a:noAutofit/>
          </a:bodyPr>
          <a:lstStyle/>
          <a:p>
            <a:pPr algn="l"/>
            <a:r>
              <a:rPr sz="2100" b="1" i="0">
                <a:solidFill>
                  <a:srgbClr val="000048"/>
                </a:solidFill>
                <a:latin typeface="Arial"/>
              </a:rPr>
              <a:t>Economics</a:t>
            </a:r>
          </a:p>
        </p:txBody>
      </p:sp>
      <p:sp>
        <p:nvSpPr>
          <p:cNvPr id="21" name="TextBox 20"/>
          <p:cNvSpPr txBox="1"/>
          <p:nvPr/>
        </p:nvSpPr>
        <p:spPr>
          <a:xfrm>
            <a:off x="8229599" y="2286000"/>
            <a:ext cx="3291840" cy="219456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Tokens per task</a:t>
            </a:r>
          </a:p>
          <a:p>
            <a:pPr algn="l" marL="201168" indent="-201168">
              <a:spcAft>
                <a:spcPts val="800"/>
              </a:spcAft>
              <a:buFont typeface="Arial"/>
              <a:buChar char="•"/>
            </a:pPr>
            <a:r>
              <a:rPr sz="1700" b="0" i="0">
                <a:solidFill>
                  <a:srgbClr val="1E1E2E"/>
                </a:solidFill>
                <a:latin typeface="Arial"/>
              </a:rPr>
              <a:t>Cost per useful task</a:t>
            </a:r>
          </a:p>
          <a:p>
            <a:pPr algn="l" marL="201168" indent="-201168">
              <a:spcAft>
                <a:spcPts val="800"/>
              </a:spcAft>
              <a:buFont typeface="Arial"/>
              <a:buChar char="•"/>
            </a:pPr>
            <a:r>
              <a:rPr sz="1700" b="0" i="0">
                <a:solidFill>
                  <a:srgbClr val="1E1E2E"/>
                </a:solidFill>
                <a:latin typeface="Arial"/>
              </a:rPr>
              <a:t>Retry and loop amplification</a:t>
            </a:r>
          </a:p>
        </p:txBody>
      </p:sp>
      <p:sp>
        <p:nvSpPr>
          <p:cNvPr id="22" name="TextBox 21"/>
          <p:cNvSpPr txBox="1"/>
          <p:nvPr/>
        </p:nvSpPr>
        <p:spPr>
          <a:xfrm>
            <a:off x="8229599" y="4846320"/>
            <a:ext cx="3291840" cy="365760"/>
          </a:xfrm>
          <a:prstGeom prst="rect">
            <a:avLst/>
          </a:prstGeom>
          <a:noFill/>
        </p:spPr>
        <p:txBody>
          <a:bodyPr wrap="square" lIns="0" rIns="0" tIns="0" bIns="0" anchor="t">
            <a:noAutofit/>
          </a:bodyPr>
          <a:lstStyle/>
          <a:p>
            <a:pPr algn="l"/>
            <a:r>
              <a:rPr sz="1500" b="1" i="0">
                <a:solidFill>
                  <a:srgbClr val="2F78C4"/>
                </a:solidFill>
                <a:latin typeface="Arial"/>
              </a:rPr>
              <a:t>Owner: </a:t>
            </a:r>
            <a:r>
              <a:rPr sz="1500" b="0" i="0">
                <a:solidFill>
                  <a:srgbClr val="1E1E2E"/>
                </a:solidFill>
                <a:latin typeface="Arial"/>
              </a:rPr>
              <a:t>CIS Infra with AI</a:t>
            </a:r>
          </a:p>
        </p:txBody>
      </p:sp>
      <p:sp>
        <p:nvSpPr>
          <p:cNvPr id="23" name="Rounded Rectangle 22"/>
          <p:cNvSpPr/>
          <p:nvPr/>
        </p:nvSpPr>
        <p:spPr>
          <a:xfrm>
            <a:off x="548640" y="55778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Quality scoring needs approved test data and evaluators. It is not automatic proof of safety.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Containment runbook sequence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sp>
        <p:nvSpPr>
          <p:cNvPr id="9" name="Rounded Rectangle 8"/>
          <p:cNvSpPr/>
          <p:nvPr/>
        </p:nvSpPr>
        <p:spPr>
          <a:xfrm>
            <a:off x="548640"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1  Detect</a:t>
            </a:r>
          </a:p>
        </p:txBody>
      </p:sp>
      <p:sp>
        <p:nvSpPr>
          <p:cNvPr id="10" name="TextBox 9"/>
          <p:cNvSpPr txBox="1"/>
          <p:nvPr/>
        </p:nvSpPr>
        <p:spPr>
          <a:xfrm>
            <a:off x="548640"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Alert or report names agent ID and version</a:t>
            </a:r>
          </a:p>
        </p:txBody>
      </p:sp>
      <p:cxnSp>
        <p:nvCxnSpPr>
          <p:cNvPr id="11" name="Connector (flow)"/>
          <p:cNvCxnSpPr/>
          <p:nvPr/>
        </p:nvCxnSpPr>
        <p:spPr>
          <a:xfrm>
            <a:off x="2286000" y="178308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23160"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2  Triage</a:t>
            </a:r>
          </a:p>
        </p:txBody>
      </p:sp>
      <p:sp>
        <p:nvSpPr>
          <p:cNvPr id="13" name="TextBox 12"/>
          <p:cNvSpPr txBox="1"/>
          <p:nvPr/>
        </p:nvSpPr>
        <p:spPr>
          <a:xfrm>
            <a:off x="2423160"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Responder confirms scope and risk class</a:t>
            </a:r>
          </a:p>
        </p:txBody>
      </p:sp>
      <p:cxnSp>
        <p:nvCxnSpPr>
          <p:cNvPr id="14" name="Connector (flow)"/>
          <p:cNvCxnSpPr/>
          <p:nvPr/>
        </p:nvCxnSpPr>
        <p:spPr>
          <a:xfrm>
            <a:off x="4160520" y="178308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7679"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3  Quarantine</a:t>
            </a:r>
          </a:p>
        </p:txBody>
      </p:sp>
      <p:sp>
        <p:nvSpPr>
          <p:cNvPr id="16" name="TextBox 15"/>
          <p:cNvSpPr txBox="1"/>
          <p:nvPr/>
        </p:nvSpPr>
        <p:spPr>
          <a:xfrm>
            <a:off x="4297679"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Write state; block, cancel, deny</a:t>
            </a:r>
          </a:p>
        </p:txBody>
      </p:sp>
      <p:cxnSp>
        <p:nvCxnSpPr>
          <p:cNvPr id="17" name="Connector (flow)"/>
          <p:cNvCxnSpPr/>
          <p:nvPr/>
        </p:nvCxnSpPr>
        <p:spPr>
          <a:xfrm>
            <a:off x="6035040" y="178308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72199"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4  Verify</a:t>
            </a:r>
          </a:p>
        </p:txBody>
      </p:sp>
      <p:sp>
        <p:nvSpPr>
          <p:cNvPr id="19" name="TextBox 18"/>
          <p:cNvSpPr txBox="1"/>
          <p:nvPr/>
        </p:nvSpPr>
        <p:spPr>
          <a:xfrm>
            <a:off x="6172199"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Traces show no new actions</a:t>
            </a:r>
          </a:p>
        </p:txBody>
      </p:sp>
      <p:cxnSp>
        <p:nvCxnSpPr>
          <p:cNvPr id="20" name="Connector (flow)"/>
          <p:cNvCxnSpPr/>
          <p:nvPr/>
        </p:nvCxnSpPr>
        <p:spPr>
          <a:xfrm>
            <a:off x="7909559" y="178308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46719"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5  Preserve</a:t>
            </a:r>
          </a:p>
        </p:txBody>
      </p:sp>
      <p:sp>
        <p:nvSpPr>
          <p:cNvPr id="22" name="TextBox 21"/>
          <p:cNvSpPr txBox="1"/>
          <p:nvPr/>
        </p:nvSpPr>
        <p:spPr>
          <a:xfrm>
            <a:off x="8046719"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Evidence stored with retention</a:t>
            </a:r>
          </a:p>
        </p:txBody>
      </p:sp>
      <p:cxnSp>
        <p:nvCxnSpPr>
          <p:cNvPr id="23" name="Connector (flow)"/>
          <p:cNvCxnSpPr/>
          <p:nvPr/>
        </p:nvCxnSpPr>
        <p:spPr>
          <a:xfrm>
            <a:off x="9784080" y="178308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921240"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6  Recover</a:t>
            </a:r>
          </a:p>
        </p:txBody>
      </p:sp>
      <p:sp>
        <p:nvSpPr>
          <p:cNvPr id="25" name="TextBox 24"/>
          <p:cNvSpPr txBox="1"/>
          <p:nvPr/>
        </p:nvSpPr>
        <p:spPr>
          <a:xfrm>
            <a:off x="9921240"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Root cause, approval, canary</a:t>
            </a:r>
          </a:p>
        </p:txBody>
      </p:sp>
      <p:graphicFrame>
        <p:nvGraphicFramePr>
          <p:cNvPr id="26" name="Table"/>
          <p:cNvGraphicFramePr>
            <a:graphicFrameLocks noGrp="1"/>
          </p:cNvGraphicFramePr>
          <p:nvPr/>
        </p:nvGraphicFramePr>
        <p:xfrm>
          <a:off x="548640" y="3749039"/>
          <a:ext cx="11091672" cy="1828800"/>
        </p:xfrm>
        <a:graphic>
          <a:graphicData uri="http://schemas.openxmlformats.org/drawingml/2006/table">
            <a:tbl>
              <a:tblPr firstRow="1" bandRow="0">
                <a:tableStyleId>{5C22544A-7EE6-4342-B048-85BDC9FD1C3A}</a:tableStyleId>
              </a:tblPr>
              <a:tblGrid>
                <a:gridCol w="4572000"/>
                <a:gridCol w="6519672"/>
              </a:tblGrid>
              <a:tr h="304800">
                <a:tc>
                  <a:txBody>
                    <a:bodyPr wrap="square" anchor="ctr">
                      <a:noAutofit/>
                    </a:bodyPr>
                    <a:lstStyle/>
                    <a:p>
                      <a:pPr algn="l"/>
                      <a:r>
                        <a:rPr sz="1400" b="1" i="0">
                          <a:solidFill>
                            <a:srgbClr val="FFFFFF"/>
                          </a:solidFill>
                          <a:latin typeface="Arial"/>
                        </a:rPr>
                        <a:t>Partial failure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Required behaviour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Proxy blocked, direct endpoint open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Bypass denied by network and identity</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Worker continues after stop</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Checkpoint guard and tool denial</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Token revocation delayed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Resource-side denial</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Monitoring unavailable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Manual containment path</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Restart triggers retries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Idempotency and queue handling</a:t>
                      </a:r>
                    </a:p>
                  </a:txBody>
                  <a:tcPr marL="73152" marR="73152" marT="36576" marB="36576"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gates and acceptance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graphicFrame>
        <p:nvGraphicFramePr>
          <p:cNvPr id="9" name="Table"/>
          <p:cNvGraphicFramePr>
            <a:graphicFrameLocks noGrp="1"/>
          </p:cNvGraphicFramePr>
          <p:nvPr/>
        </p:nvGraphicFramePr>
        <p:xfrm>
          <a:off x="548640" y="1371600"/>
          <a:ext cx="11091672" cy="2011680"/>
        </p:xfrm>
        <a:graphic>
          <a:graphicData uri="http://schemas.openxmlformats.org/drawingml/2006/table">
            <a:tbl>
              <a:tblPr firstRow="1" bandRow="0">
                <a:tableStyleId>{5C22544A-7EE6-4342-B048-85BDC9FD1C3A}</a:tableStyleId>
              </a:tblPr>
              <a:tblGrid>
                <a:gridCol w="2194560"/>
                <a:gridCol w="5943600"/>
                <a:gridCol w="2953512"/>
              </a:tblGrid>
              <a:tr h="335280">
                <a:tc>
                  <a:txBody>
                    <a:bodyPr wrap="square" anchor="ctr">
                      <a:noAutofit/>
                    </a:bodyPr>
                    <a:lstStyle/>
                    <a:p>
                      <a:pPr algn="l"/>
                      <a:r>
                        <a:rPr sz="16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Pass evidence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Approver</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Coverage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All in-scope agents reconciled; gaps listed by reason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platform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Usage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Test agents correctly classified in every state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service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Containment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New, in-flight and tool paths each tested separately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security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Recovery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Controlled restart with two-person approval and evidence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business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Operations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Runbooks, alert routing and review queues accepted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Dormant-agent review and retirement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PROCESS"/>
          <p:cNvSpPr/>
          <p:nvPr/>
        </p:nvSpPr>
        <p:spPr>
          <a:xfrm>
            <a:off x="199644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PROCESS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sp>
        <p:nvSpPr>
          <p:cNvPr id="9" name="Rounded Rectangle 8"/>
          <p:cNvSpPr/>
          <p:nvPr/>
        </p:nvSpPr>
        <p:spPr>
          <a:xfrm>
            <a:off x="548640"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Flag</a:t>
            </a:r>
          </a:p>
          <a:p>
            <a:pPr algn="l"/>
            <a:r>
              <a:rPr sz="1600" b="0" i="0">
                <a:solidFill>
                  <a:srgbClr val="1E1E2E"/>
                </a:solidFill>
                <a:latin typeface="Arial"/>
              </a:rPr>
              <a:t>Dormant candidate or orphaned state</a:t>
            </a:r>
          </a:p>
        </p:txBody>
      </p:sp>
      <p:cxnSp>
        <p:nvCxnSpPr>
          <p:cNvPr id="10" name="Connector (flow)"/>
          <p:cNvCxnSpPr/>
          <p:nvPr/>
        </p:nvCxnSpPr>
        <p:spPr>
          <a:xfrm>
            <a:off x="2606040"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07208"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Notify</a:t>
            </a:r>
          </a:p>
          <a:p>
            <a:pPr algn="l"/>
            <a:r>
              <a:rPr sz="1600" b="0" i="0">
                <a:solidFill>
                  <a:srgbClr val="1E1E2E"/>
                </a:solidFill>
                <a:latin typeface="Arial"/>
              </a:rPr>
              <a:t>Owner asked to confirm need</a:t>
            </a:r>
          </a:p>
        </p:txBody>
      </p:sp>
      <p:cxnSp>
        <p:nvCxnSpPr>
          <p:cNvPr id="12" name="Connector (flow)"/>
          <p:cNvCxnSpPr/>
          <p:nvPr/>
        </p:nvCxnSpPr>
        <p:spPr>
          <a:xfrm>
            <a:off x="4864608"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65776"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Decide</a:t>
            </a:r>
          </a:p>
          <a:p>
            <a:pPr algn="l"/>
            <a:r>
              <a:rPr sz="1600" b="0" i="0">
                <a:solidFill>
                  <a:srgbClr val="1E1E2E"/>
                </a:solidFill>
                <a:latin typeface="Arial"/>
              </a:rPr>
              <a:t>Keep with reason, or retire</a:t>
            </a:r>
          </a:p>
        </p:txBody>
      </p:sp>
      <p:cxnSp>
        <p:nvCxnSpPr>
          <p:cNvPr id="14" name="Connector (flow)"/>
          <p:cNvCxnSpPr/>
          <p:nvPr/>
        </p:nvCxnSpPr>
        <p:spPr>
          <a:xfrm>
            <a:off x="7123176"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24344"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Retire</a:t>
            </a:r>
          </a:p>
          <a:p>
            <a:pPr algn="l"/>
            <a:r>
              <a:rPr sz="1600" b="0" i="0">
                <a:solidFill>
                  <a:srgbClr val="1E1E2E"/>
                </a:solidFill>
                <a:latin typeface="Arial"/>
              </a:rPr>
              <a:t>Remove identity, secrets, endpoints, compute</a:t>
            </a:r>
          </a:p>
        </p:txBody>
      </p:sp>
      <p:cxnSp>
        <p:nvCxnSpPr>
          <p:cNvPr id="16" name="Connector (flow)"/>
          <p:cNvCxnSpPr/>
          <p:nvPr/>
        </p:nvCxnSpPr>
        <p:spPr>
          <a:xfrm>
            <a:off x="9381744"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582912"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Confirm</a:t>
            </a:r>
          </a:p>
          <a:p>
            <a:pPr algn="l"/>
            <a:r>
              <a:rPr sz="1600" b="0" i="0">
                <a:solidFill>
                  <a:srgbClr val="1E1E2E"/>
                </a:solidFill>
                <a:latin typeface="Arial"/>
              </a:rPr>
              <a:t>Resource Graph shows nothing left</a:t>
            </a:r>
          </a:p>
        </p:txBody>
      </p:sp>
      <p:sp>
        <p:nvSpPr>
          <p:cNvPr id="18" name="Rounded Rectangle 17"/>
          <p:cNvSpPr/>
          <p:nvPr/>
        </p:nvSpPr>
        <p:spPr>
          <a:xfrm>
            <a:off x="548640" y="393192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automatic deletion. Seasonal and standby agents keep an exception with a review date.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Build versus buy, capability by capability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25880"/>
          <a:ext cx="11091672" cy="2773680"/>
        </p:xfrm>
        <a:graphic>
          <a:graphicData uri="http://schemas.openxmlformats.org/drawingml/2006/table">
            <a:tbl>
              <a:tblPr firstRow="1" bandRow="0">
                <a:tableStyleId>{5C22544A-7EE6-4342-B048-85BDC9FD1C3A}</a:tableStyleId>
              </a:tblPr>
              <a:tblGrid>
                <a:gridCol w="2377440"/>
                <a:gridCol w="3291840"/>
                <a:gridCol w="2103120"/>
                <a:gridCol w="3319272"/>
              </a:tblGrid>
              <a:tr h="304800">
                <a:tc>
                  <a:txBody>
                    <a:bodyPr wrap="square" anchor="ctr">
                      <a:noAutofit/>
                    </a:bodyPr>
                    <a:lstStyle/>
                    <a:p>
                      <a:pPr algn="l"/>
                      <a:r>
                        <a:rPr sz="1400" b="1" i="0">
                          <a:solidFill>
                            <a:srgbClr val="FFFFFF"/>
                          </a:solidFill>
                          <a:latin typeface="Arial"/>
                        </a:rPr>
                        <a:t>Capability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Native 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Decision rule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Build if</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Agent registry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Agent 365; Foundry Control Plane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Configure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 licence, or runtime not covered</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Usage evidence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Foundry runs (last month); App Insights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Configure plus join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Need cross-runtime join to deployment records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Ownership and reviews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Agent 365 sponsor; Entra lifecycle (preview)</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Configure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Review queues across runtimes</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Identity block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Entra Conditional Access for agents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Configure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Never build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Threat detection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Defender AI threat protection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Configure (Security)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Never build</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Cross-layer stop and verify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None claims this end to end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Build after PoC</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Always, if containment is in scope</a:t>
                      </a:r>
                    </a:p>
                  </a:txBody>
                  <a:tcPr marL="73152" marR="73152" marT="36576" marB="36576" anchor="ctr">
                    <a:solidFill>
                      <a:srgbClr val="F5F5F2"/>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Licence prerequisites to check in the assessment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THIRD-PARTY CONTEXT, VERIFY"/>
          <p:cNvSpPr/>
          <p:nvPr/>
        </p:nvSpPr>
        <p:spPr>
          <a:xfrm>
            <a:off x="1996440" y="274320"/>
            <a:ext cx="26060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THIRD-PARTY CONTEXT, VERIFY</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9" name="Table"/>
          <p:cNvGraphicFramePr>
            <a:graphicFrameLocks noGrp="1"/>
          </p:cNvGraphicFramePr>
          <p:nvPr/>
        </p:nvGraphicFramePr>
        <p:xfrm>
          <a:off x="548640" y="1325880"/>
          <a:ext cx="11091672" cy="2148840"/>
        </p:xfrm>
        <a:graphic>
          <a:graphicData uri="http://schemas.openxmlformats.org/drawingml/2006/table">
            <a:tbl>
              <a:tblPr firstRow="1" bandRow="0">
                <a:tableStyleId>{5C22544A-7EE6-4342-B048-85BDC9FD1C3A}</a:tableStyleId>
              </a:tblPr>
              <a:tblGrid>
                <a:gridCol w="2560320"/>
                <a:gridCol w="5486400"/>
                <a:gridCol w="3044952"/>
              </a:tblGrid>
              <a:tr h="320040">
                <a:tc>
                  <a:txBody>
                    <a:bodyPr wrap="square" anchor="ctr">
                      <a:noAutofit/>
                    </a:bodyPr>
                    <a:lstStyle/>
                    <a:p>
                      <a:pPr algn="l"/>
                      <a:r>
                        <a:rPr sz="15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What to check</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Source status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Agent 365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$15 per user per month, or included in Microsoft 365 E7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Microsoft blog (verified)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Microsoft 365 E7</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About $99 per user per month; includes Agent 365 and Copilot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Third party, verify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Base licence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Qualifying plan needed for Agent 365 add-on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Third party, verify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Entra agent controls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Conditional Access and ID Protection need Agent 365</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Third-party tracker, verify</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Copilot Studio usage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Copilot credits, billed separately (offering 04)</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Third party, verify</a:t>
                      </a:r>
                    </a:p>
                  </a:txBody>
                  <a:tcPr marL="73152" marR="73152" marT="36576" marB="36576"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Copilot Studio agents: who does what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9" name="Table"/>
          <p:cNvGraphicFramePr>
            <a:graphicFrameLocks noGrp="1"/>
          </p:cNvGraphicFramePr>
          <p:nvPr/>
        </p:nvGraphicFramePr>
        <p:xfrm>
          <a:off x="548640" y="1325880"/>
          <a:ext cx="11091672" cy="2042160"/>
        </p:xfrm>
        <a:graphic>
          <a:graphicData uri="http://schemas.openxmlformats.org/drawingml/2006/table">
            <a:tbl>
              <a:tblPr firstRow="1" bandRow="0">
                <a:tableStyleId>{5C22544A-7EE6-4342-B048-85BDC9FD1C3A}</a:tableStyleId>
              </a:tblPr>
              <a:tblGrid>
                <a:gridCol w="3200400"/>
                <a:gridCol w="2011680"/>
                <a:gridCol w="2103120"/>
                <a:gridCol w="1828800"/>
                <a:gridCol w="1947672"/>
              </a:tblGrid>
              <a:tr h="304800">
                <a:tc>
                  <a:txBody>
                    <a:bodyPr wrap="square" anchor="ctr">
                      <a:noAutofit/>
                    </a:bodyPr>
                    <a:lstStyle/>
                    <a:p>
                      <a:pPr algn="l"/>
                      <a:r>
                        <a:rPr sz="1400" b="1" i="0">
                          <a:solidFill>
                            <a:srgbClr val="FFFFFF"/>
                          </a:solidFill>
                          <a:latin typeface="Arial"/>
                        </a:rPr>
                        <a:t>Activity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Power Platform team</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CIS Infra</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Security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AI tower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Environments and data policies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Accountable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Agent inventory in Agent 365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Accountable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Custom connectors to Azure APIs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Responsible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Accountable (via APIM)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Data security posture (Purview)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Accountable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Informed</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Containment of a Copilot Studio agent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Responsible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Responsible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Accountable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Consulted</a:t>
                      </a:r>
                    </a:p>
                  </a:txBody>
                  <a:tcPr marL="73152" marR="73152" marT="36576" marB="36576"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25880"/>
          <a:ext cx="6035039" cy="291084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Agent estate size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Count and runtimes, even rough</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Licence position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365 or E7 owned or planned</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0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39496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12+ with no zero on funding, authority or sponsor. Otherwise sell the assessment.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graphicFrame>
        <p:nvGraphicFramePr>
          <p:cNvPr id="9" name="Table"/>
          <p:cNvGraphicFramePr>
            <a:graphicFrameLocks noGrp="1"/>
          </p:cNvGraphicFramePr>
          <p:nvPr/>
        </p:nvGraphicFramePr>
        <p:xfrm>
          <a:off x="548640" y="1325880"/>
          <a:ext cx="11091672" cy="173736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Coverage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Two runtimes, licence in place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Four or more runtimes, no licence, poor telemetry</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Configure control plane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365 already licensed; one tenant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Several tenants; Entra controls new to customer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Custom gap layer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Two runtimes to join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Multi-cloud and many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Kill-switch PoC</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 runtimes, synthetic agents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Three runtimes, regulated test environment</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Containment build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PoC design carries over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PoC shows gaps needing redesign</a:t>
                      </a:r>
                    </a:p>
                  </a:txBody>
                  <a:tcPr marL="73152" marR="73152" marT="36576" marB="36576"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graphicFrame>
        <p:nvGraphicFramePr>
          <p:cNvPr id="9" name="Table"/>
          <p:cNvGraphicFramePr>
            <a:graphicFrameLocks noGrp="1"/>
          </p:cNvGraphicFramePr>
          <p:nvPr/>
        </p:nvGraphicFramePr>
        <p:xfrm>
          <a:off x="548640" y="1325880"/>
          <a:ext cx="11091672" cy="281940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Agent sprawl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Unknown agents with live access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365 registry, coverage report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Excessive agency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acts beyond its purpose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Tool allow-lists, approvals, runtime limits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AI with 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Identity misuse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credentials reused or stolen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agent identity, Conditional Access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designs, CIS Infra implements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Prompt injection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Instructions hidden in documents or tools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Prompt Shields, tool-side checks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AI with Security</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Orphaned agents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 owner after staff leave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Owner reviews, retirement process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Customer service owner</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Containment bypass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Direct calls avoid the gateway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Private endpoints, no shared keys, layer 4 identity block</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Security services and regulatory checkpoints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10" name="Table"/>
          <p:cNvGraphicFramePr>
            <a:graphicFrameLocks noGrp="1"/>
          </p:cNvGraphicFramePr>
          <p:nvPr/>
        </p:nvGraphicFramePr>
        <p:xfrm>
          <a:off x="548640" y="1325880"/>
          <a:ext cx="11091672" cy="2743200"/>
        </p:xfrm>
        <a:graphic>
          <a:graphicData uri="http://schemas.openxmlformats.org/drawingml/2006/table">
            <a:tbl>
              <a:tblPr firstRow="1" bandRow="0">
                <a:tableStyleId>{5C22544A-7EE6-4342-B048-85BDC9FD1C3A}</a:tableStyleId>
              </a:tblPr>
              <a:tblGrid>
                <a:gridCol w="2926080"/>
                <a:gridCol w="4023360"/>
                <a:gridCol w="2103120"/>
                <a:gridCol w="2039112"/>
              </a:tblGrid>
              <a:tr h="457200">
                <a:tc>
                  <a:txBody>
                    <a:bodyPr wrap="square" anchor="ctr">
                      <a:noAutofit/>
                    </a:bodyPr>
                    <a:lstStyle/>
                    <a:p>
                      <a:pPr algn="l"/>
                      <a:r>
                        <a:rPr sz="1200" b="1" i="0">
                          <a:solidFill>
                            <a:srgbClr val="FFFFFF"/>
                          </a:solidFill>
                          <a:latin typeface="Arial"/>
                        </a:rPr>
                        <a:t>Service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Role in AI security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Defender for Cloud AI threat protection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Alerts on jailbreak, data leakage, credential theft for Foundry and Azure OpenAI models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text tokens only</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Purview DSPM (and DSPM for 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 security posture for Copilot, Copilot Studio, Foundry and third-party AI apps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with Data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Mixed current and preview</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Microsoft Sentinel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SIEM correlation of AI, identity and gateway signals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(not re-verified)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Entra Agent ID and Conditional Access for agents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 identities; block or restrict agent sign-ins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designs, CIS Infra implements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Partly preview; needs Agent 365 licence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Content Safety and Prompt Shields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Prompt-attack and harm filtering at gateway or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configures, Security sets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(via APIM policy)</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4206240"/>
          <a:ext cx="11091672" cy="1554480"/>
        </p:xfrm>
        <a:graphic>
          <a:graphicData uri="http://schemas.openxmlformats.org/drawingml/2006/table">
            <a:tbl>
              <a:tblPr firstRow="1" bandRow="0">
                <a:tableStyleId>{5C22544A-7EE6-4342-B048-85BDC9FD1C3A}</a:tableStyleId>
              </a:tblPr>
              <a:tblGrid>
                <a:gridCol w="2194560"/>
                <a:gridCol w="5486400"/>
                <a:gridCol w="3410712"/>
              </a:tblGrid>
              <a:tr h="274320">
                <a:tc>
                  <a:txBody>
                    <a:bodyPr wrap="square" anchor="ctr">
                      <a:noAutofit/>
                    </a:bodyPr>
                    <a:lstStyle/>
                    <a:p>
                      <a:pPr algn="l"/>
                      <a:r>
                        <a:rPr sz="1200" b="1" i="0">
                          <a:solidFill>
                            <a:srgbClr val="FFFFFF"/>
                          </a:solidFill>
                          <a:latin typeface="Arial"/>
                        </a:rPr>
                        <a:t>Jurisdiction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to verify</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Act: Annex III high-risk from 2 Dec 2027; Annex I from 2 Aug 2028; GDPR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Orrick summary of Reg. (EU) 2026/1744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Principles-based regulator guidance;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Verify current government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 and Saudi Arabia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laws; data residency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Verify sector rules and residency</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Any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ISO/IEC 42001 AI management system (optional)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decision</a:t>
                      </a:r>
                    </a:p>
                  </a:txBody>
                  <a:tcPr marL="73152" marR="73152" marT="36576" marB="36576" anchor="ctr">
                    <a:solidFill>
                      <a:srgbClr val="F5F5F2"/>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graphicFrame>
        <p:nvGraphicFramePr>
          <p:cNvPr id="9" name="Table"/>
          <p:cNvGraphicFramePr>
            <a:graphicFrameLocks noGrp="1"/>
          </p:cNvGraphicFramePr>
          <p:nvPr/>
        </p:nvGraphicFramePr>
        <p:xfrm>
          <a:off x="548640" y="1325880"/>
          <a:ext cx="5468112" cy="419100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Agent-to-agent protocol for agents calling other agents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registry for APIs and MCP servers; decides which tools exist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 API Management; the gateway that controls traffic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Model processing inside a Microsoft data zone (US, EU or APAC)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FOCUS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FinOps Open Cost and Usage Specification for cost data exports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Foundry: Azure platform for models and agents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2" cy="359664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Context Protocol: standard way for agents to call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Pay as you go: pay per token used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PIM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Privileged Identity Management: just-in-time admin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PTU</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Provisioned throughput unit: reserved model capacity, billed per hour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RACI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Responsible, Accountable, Consulted, Informed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Recovery time objective / recovery point objective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Tokens per minute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Unit of text a model reads or writes; the main pricing unit</a:t>
                      </a:r>
                    </a:p>
                  </a:txBody>
                  <a:tcPr marL="73152" marR="73152" marT="36576" marB="36576" anchor="ctr">
                    <a:solidFill>
                      <a:srgbClr val="F5F5F2"/>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graphicFrame>
        <p:nvGraphicFramePr>
          <p:cNvPr id="9" name="Table"/>
          <p:cNvGraphicFramePr>
            <a:graphicFrameLocks noGrp="1"/>
          </p:cNvGraphicFramePr>
          <p:nvPr/>
        </p:nvGraphicFramePr>
        <p:xfrm>
          <a:off x="548640" y="1325880"/>
          <a:ext cx="11091672" cy="265176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Assessment, catalogue build, containment plumbing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role days x approved sell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runtime limits; Security policy; DevOps registration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tower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estimates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Catalogue operation and drills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 agents x rate + coverage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Functions, Cosmos DB, Log Analytics, App Insights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Meters x quantity; log GB is the main driver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Volumes (CIS Infra); prices (customer)</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Not changed by this offering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applicable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graphicFrame>
        <p:nvGraphicFramePr>
          <p:cNvPr id="9" name="Table"/>
          <p:cNvGraphicFramePr>
            <a:graphicFrameLocks noGrp="1"/>
          </p:cNvGraphicFramePr>
          <p:nvPr/>
        </p:nvGraphicFramePr>
        <p:xfrm>
          <a:off x="548640" y="1325880"/>
          <a:ext cx="11091671" cy="381000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Catalogue and registry design</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Reconciliation and workbook build</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Deployment registration in pipelines</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Agent instrumentation (traces)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Risk classes and containment authority</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Containment control plane build</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Runtime limits and tool guards</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Containment drills (testing)</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Service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Live containment (operations)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Restart and recovery approval</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524560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283464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Assessment and control-plane configuration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$80,000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Gap layer and containment build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$90,000</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Runtime limits and instrumentation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$45,000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Risk policy and drill verification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$25,000</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Pipeline registration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DevOps</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$20,000</a:t>
                      </a:r>
                    </a:p>
                  </a:txBody>
                  <a:tcPr marL="73152" marR="73152" marT="36576" marB="36576" anchor="ctr">
                    <a:solidFill>
                      <a:srgbClr val="FFFFFF"/>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r"/>
                      <a:r>
                        <a:rPr sz="1200" b="1" i="0">
                          <a:solidFill>
                            <a:srgbClr val="000048"/>
                          </a:solidFill>
                          <a:latin typeface="Arial"/>
                        </a:rPr>
                        <a:t>$260,000</a:t>
                      </a:r>
                    </a:p>
                  </a:txBody>
                  <a:tcPr marL="73152" marR="73152" marT="36576" marB="36576" anchor="ctr">
                    <a:solidFill>
                      <a:srgbClr val="F5F5F2"/>
                    </a:solidFill>
                  </a:tcPr>
                </a:tc>
              </a:tr>
            </a:tbl>
          </a:graphicData>
        </a:graphic>
      </p:graphicFrame>
      <p:sp>
        <p:nvSpPr>
          <p:cNvPr id="16" name="TextBox 15"/>
          <p:cNvSpPr txBox="1"/>
          <p:nvPr/>
        </p:nvSpPr>
        <p:spPr>
          <a:xfrm>
            <a:off x="6629400" y="461772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Named agent cohort, runtimes, containment authority, access to subscriptions and workspaces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Agent list (any form), runtimes, identities, tools, telemetry setup, incident process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Registry, reconciliation, workbook, classification rules, containment plane, runbooks, drill records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Agreed runtimes and subscriptions; outside-coverage agents listed, not managed</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AI instrumentation, DevOps registration, Security policy, offering 01 network design</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Inventory, instrument, control, exercise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Appendix A14 gates and K4 tests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Owners per agent, authority decisions, approvals for drills and restarts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Fixed assessment; role days per work package; recurring via offering 05</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New runtime family, subscriptions, agents above cohort, new tool classes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Offering 05 or customer operations; review queues and drills scheduled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Coverage with stated denominator; owners; drills passed; measured stop time</a:t>
                      </a:r>
                    </a:p>
                  </a:txBody>
                  <a:tcPr marL="73152" marR="73152" marT="36576" marB="36576" anchor="ctr">
                    <a:solidFill>
                      <a:srgbClr val="F5F5F2"/>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46</a:t>
            </a:r>
          </a:p>
        </p:txBody>
      </p:sp>
      <p:graphicFrame>
        <p:nvGraphicFramePr>
          <p:cNvPr id="9" name="Table"/>
          <p:cNvGraphicFramePr>
            <a:graphicFrameLocks noGrp="1"/>
          </p:cNvGraphicFramePr>
          <p:nvPr/>
        </p:nvGraphicFramePr>
        <p:xfrm>
          <a:off x="548640" y="1325880"/>
          <a:ext cx="11091672" cy="192024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Pilot agent cohort and runtimes</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AI platform leader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Agent list and runtimes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Containment and restart authority</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Customer risk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Named roles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Dormancy threshold and exceptions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service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Usage patterns from pilot</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Stop-time targets per runtime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drills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Integrated service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Measured drill timings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Sell rates and attribution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AI tower commitment for runtime limits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agreement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tower lead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Effort and owner</a:t>
                      </a:r>
                    </a:p>
                  </a:txBody>
                  <a:tcPr marL="73152" marR="73152" marT="36576" marB="36576" anchor="ctr">
                    <a:solidFill>
                      <a:srgbClr val="F5F5F2"/>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multiple-agent workflow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O1</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47</a:t>
            </a:r>
          </a:p>
        </p:txBody>
      </p:sp>
      <p:pic>
        <p:nvPicPr>
          <p:cNvPr id="9" name="Original reference image: 15_multiple-agent-workflow-automation.png" descr="15_multiple-agent-workflow-automation.png"/>
          <p:cNvPicPr>
            <a:picLocks noChangeAspect="1"/>
          </p:cNvPicPr>
          <p:nvPr/>
        </p:nvPicPr>
        <p:blipFill>
          <a:blip r:embed="rId4"/>
          <a:stretch>
            <a:fillRect/>
          </a:stretch>
        </p:blipFill>
        <p:spPr>
          <a:xfrm>
            <a:off x="3160776" y="1280160"/>
            <a:ext cx="5867400"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15_multiple-agent-workflow-automation.png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Source labels the model GPT-4.1, which retires 2027-04-14; adapted view (A11) uses a generic model deployment.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agentic RAG loop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O2</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48</a:t>
            </a:r>
          </a:p>
        </p:txBody>
      </p:sp>
      <p:pic>
        <p:nvPicPr>
          <p:cNvPr id="9" name="Original reference image: 14_agentic-rag.png" descr="14_agentic-rag.png"/>
          <p:cNvPicPr>
            <a:picLocks noChangeAspect="1"/>
          </p:cNvPicPr>
          <p:nvPr/>
        </p:nvPicPr>
        <p:blipFill>
          <a:blip r:embed="rId4"/>
          <a:stretch>
            <a:fillRect/>
          </a:stretch>
        </p:blipFill>
        <p:spPr>
          <a:xfrm>
            <a:off x="548640" y="1280160"/>
            <a:ext cx="11091672" cy="2852144"/>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14_agentic-rag.png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Reasoning loop only; it does not show an implemented kill switch.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Foundry baseline monitoring scope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O3</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49</a:t>
            </a:r>
          </a:p>
        </p:txBody>
      </p:sp>
      <p:pic>
        <p:nvPicPr>
          <p:cNvPr id="9" name="Original reference image: 07_baseline-microsoft-foundry.png" descr="07_baseline-microsoft-foundry.png"/>
          <p:cNvPicPr>
            <a:picLocks noChangeAspect="1"/>
          </p:cNvPicPr>
          <p:nvPr/>
        </p:nvPicPr>
        <p:blipFill>
          <a:blip r:embed="rId4"/>
          <a:stretch>
            <a:fillRect/>
          </a:stretch>
        </p:blipFill>
        <p:spPr>
          <a:xfrm>
            <a:off x="1789590" y="1280160"/>
            <a:ext cx="860977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07_baseline-microsoft-foundry.png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Use to map agent registrations, runtime, search, storage and network to monitored assets.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v3.0  ·  11 Oct 2026  ·  Working proposal, not approved terms</a:t>
            </a:r>
          </a:p>
        </p:txBody>
      </p:sp>
      <p:sp>
        <p:nvSpPr>
          <p:cNvPr id="7" name="IndexLink">
            <a:hlinkClick action="ppaction://hlinksldjump" r:id="rId2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50</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200" b="1" i="0">
                <a:solidFill>
                  <a:srgbClr val="000048"/>
                </a:solidFill>
                <a:latin typeface="Arial"/>
              </a:rPr>
              <a:t>Microsoft Agent 365 now generally available (Microsoft Security blog, 1 May 2026):  </a:t>
            </a:r>
            <a:r>
              <a:rPr sz="1200" b="0" i="0">
                <a:solidFill>
                  <a:srgbClr val="2F78C4"/>
                </a:solidFill>
                <a:latin typeface="Arial"/>
                <a:hlinkClick r:id="rId4"/>
              </a:rPr>
              <a:t>https://www.microsoft.com/en-us/security/blog/2026/05/01/microsoft-agent-365-now-generally-available-expands-capabilities-and-integrations/</a:t>
            </a:r>
          </a:p>
          <a:p>
            <a:pPr algn="l">
              <a:spcAft>
                <a:spcPts val="300"/>
              </a:spcAft>
            </a:pPr>
            <a:r>
              <a:rPr sz="1200" b="1" i="0">
                <a:solidFill>
                  <a:srgbClr val="000048"/>
                </a:solidFill>
                <a:latin typeface="Arial"/>
              </a:rPr>
              <a:t>Agent 365 licensing analysis (SAMexpert, third party, updated 12 Jun 2026):  </a:t>
            </a:r>
            <a:r>
              <a:rPr sz="1200" b="0" i="0">
                <a:solidFill>
                  <a:srgbClr val="2F78C4"/>
                </a:solidFill>
                <a:latin typeface="Arial"/>
                <a:hlinkClick r:id="rId5"/>
              </a:rPr>
              <a:t>https://samexpert.com/agent-365/</a:t>
            </a:r>
          </a:p>
          <a:p>
            <a:pPr algn="l">
              <a:spcAft>
                <a:spcPts val="300"/>
              </a:spcAft>
            </a:pPr>
            <a:r>
              <a:rPr sz="1200" b="1" i="0">
                <a:solidFill>
                  <a:srgbClr val="000048"/>
                </a:solidFill>
                <a:latin typeface="Arial"/>
              </a:rPr>
              <a:t>Entra Agent ID change tracker (third party, entradiff.merill.net):  </a:t>
            </a:r>
            <a:r>
              <a:rPr sz="1200" b="0" i="0">
                <a:solidFill>
                  <a:srgbClr val="2F78C4"/>
                </a:solidFill>
                <a:latin typeface="Arial"/>
                <a:hlinkClick r:id="rId6"/>
              </a:rPr>
              <a:t>https://entradiff.merill.net/products/agent-id/</a:t>
            </a:r>
          </a:p>
          <a:p>
            <a:pPr algn="l">
              <a:spcAft>
                <a:spcPts val="300"/>
              </a:spcAft>
            </a:pPr>
            <a:r>
              <a:rPr sz="1200" b="1" i="0">
                <a:solidFill>
                  <a:srgbClr val="000048"/>
                </a:solidFill>
                <a:latin typeface="Arial"/>
              </a:rPr>
              <a:t>Foundry Control Plane: manage agents:  </a:t>
            </a:r>
            <a:r>
              <a:rPr sz="1200" b="0" i="0">
                <a:solidFill>
                  <a:srgbClr val="2F78C4"/>
                </a:solidFill>
                <a:latin typeface="Arial"/>
                <a:hlinkClick r:id="rId7"/>
              </a:rPr>
              <a:t>https://learn.microsoft.com/en-us/azure/foundry/control-plane/how-to-manage-agents</a:t>
            </a:r>
          </a:p>
          <a:p>
            <a:pPr algn="l">
              <a:spcAft>
                <a:spcPts val="300"/>
              </a:spcAft>
            </a:pPr>
            <a:r>
              <a:rPr sz="1200" b="1" i="0">
                <a:solidFill>
                  <a:srgbClr val="000048"/>
                </a:solidFill>
                <a:latin typeface="Arial"/>
              </a:rPr>
              <a:t>Foundry Control Plane: register custom agent:  </a:t>
            </a:r>
            <a:r>
              <a:rPr sz="1200" b="0" i="0">
                <a:solidFill>
                  <a:srgbClr val="2F78C4"/>
                </a:solidFill>
                <a:latin typeface="Arial"/>
                <a:hlinkClick r:id="rId8"/>
              </a:rPr>
              <a:t>https://learn.microsoft.com/en-us/azure/foundry/control-plane/register-custom-agent</a:t>
            </a:r>
          </a:p>
          <a:p>
            <a:pPr algn="l">
              <a:spcAft>
                <a:spcPts val="300"/>
              </a:spcAft>
            </a:pPr>
            <a:r>
              <a:rPr sz="1200" b="1" i="0">
                <a:solidFill>
                  <a:srgbClr val="000048"/>
                </a:solidFill>
                <a:latin typeface="Arial"/>
              </a:rPr>
              <a:t>AI threat protection in Microsoft Defender for Cloud:  </a:t>
            </a:r>
            <a:r>
              <a:rPr sz="1200" b="0" i="0">
                <a:solidFill>
                  <a:srgbClr val="2F78C4"/>
                </a:solidFill>
                <a:latin typeface="Arial"/>
                <a:hlinkClick r:id="rId9"/>
              </a:rPr>
              <a:t>https://learn.microsoft.com/en-us/azure/defender-for-cloud/ai-threat-protection</a:t>
            </a:r>
          </a:p>
          <a:p>
            <a:pPr algn="l">
              <a:spcAft>
                <a:spcPts val="300"/>
              </a:spcAft>
            </a:pPr>
            <a:r>
              <a:rPr sz="1200" b="1" i="0">
                <a:solidFill>
                  <a:srgbClr val="000048"/>
                </a:solidFill>
                <a:latin typeface="Arial"/>
              </a:rPr>
              <a:t>Microsoft Purview data security and compliance for AI:  </a:t>
            </a:r>
            <a:r>
              <a:rPr sz="1200" b="0" i="0">
                <a:solidFill>
                  <a:srgbClr val="2F78C4"/>
                </a:solidFill>
                <a:latin typeface="Arial"/>
                <a:hlinkClick r:id="rId10"/>
              </a:rPr>
              <a:t>https://learn.microsoft.com/en-us/purview/ai-microsoft-purview</a:t>
            </a:r>
          </a:p>
          <a:p>
            <a:pPr algn="l">
              <a:spcAft>
                <a:spcPts val="300"/>
              </a:spcAft>
            </a:pPr>
            <a:r>
              <a:rPr sz="1200" b="1" i="0">
                <a:solidFill>
                  <a:srgbClr val="000048"/>
                </a:solidFill>
                <a:latin typeface="Arial"/>
              </a:rPr>
              <a:t>EU AI Act Update: Digital Omnibus finalises compliance changes (Orrick, 29 Jul 2026):  </a:t>
            </a:r>
            <a:r>
              <a:rPr sz="1200" b="0" i="0">
                <a:solidFill>
                  <a:srgbClr val="2F78C4"/>
                </a:solidFill>
                <a:latin typeface="Arial"/>
                <a:hlinkClick r:id="rId11"/>
              </a:rPr>
              <a:t>https://www.orrick.com/en/Insights/2026/07/EU-AI-Act-Update-Digital-Omnibus-Finalizes-8-Compliance-Changes</a:t>
            </a:r>
          </a:p>
          <a:p>
            <a:pPr algn="l">
              <a:spcAft>
                <a:spcPts val="300"/>
              </a:spcAft>
            </a:pPr>
            <a:r>
              <a:rPr sz="1200" b="1" i="0">
                <a:solidFill>
                  <a:srgbClr val="000048"/>
                </a:solidFill>
                <a:latin typeface="Arial"/>
              </a:rPr>
              <a:t>Azure Architecture Icons (V24):  </a:t>
            </a:r>
            <a:r>
              <a:rPr sz="1200" b="0" i="0">
                <a:solidFill>
                  <a:srgbClr val="2F78C4"/>
                </a:solidFill>
                <a:latin typeface="Arial"/>
                <a:hlinkClick r:id="rId12"/>
              </a:rPr>
              <a:t>https://learn.microsoft.com/en-us/azure/architecture/icons/</a:t>
            </a:r>
          </a:p>
          <a:p>
            <a:pPr algn="l">
              <a:spcAft>
                <a:spcPts val="300"/>
              </a:spcAft>
            </a:pPr>
            <a:r>
              <a:rPr sz="1200" b="1" i="0">
                <a:solidFill>
                  <a:srgbClr val="000048"/>
                </a:solidFill>
                <a:latin typeface="Arial"/>
              </a:rPr>
              <a:t>az-icons.com catalogue of official Azure icons (July 2026 set):  </a:t>
            </a:r>
            <a:r>
              <a:rPr sz="1200" b="0" i="0">
                <a:solidFill>
                  <a:srgbClr val="2F78C4"/>
                </a:solidFill>
                <a:latin typeface="Arial"/>
                <a:hlinkClick r:id="rId13"/>
              </a:rPr>
              <a:t>https://az-icons.com/</a:t>
            </a:r>
          </a:p>
          <a:p>
            <a:pPr algn="l">
              <a:spcAft>
                <a:spcPts val="300"/>
              </a:spcAft>
            </a:pPr>
            <a:r>
              <a:rPr sz="1200" b="1" i="0">
                <a:solidFill>
                  <a:srgbClr val="000048"/>
                </a:solidFill>
                <a:latin typeface="Arial"/>
              </a:rPr>
              <a:t>Foundry agent monitoring dashboard:  </a:t>
            </a:r>
            <a:r>
              <a:rPr sz="1200" b="0" i="0">
                <a:solidFill>
                  <a:srgbClr val="2F78C4"/>
                </a:solidFill>
                <a:latin typeface="Arial"/>
                <a:hlinkClick r:id="rId14"/>
              </a:rPr>
              <a:t>https://learn.microsoft.com/en-us/azure/foundry/observability/how-to/how-to-monitor-agents-dashboard</a:t>
            </a:r>
          </a:p>
          <a:p>
            <a:pPr algn="l">
              <a:spcAft>
                <a:spcPts val="300"/>
              </a:spcAft>
            </a:pPr>
            <a:r>
              <a:rPr sz="1200" b="1" i="0">
                <a:solidFill>
                  <a:srgbClr val="000048"/>
                </a:solidFill>
                <a:latin typeface="Arial"/>
              </a:rPr>
              <a:t>APIM send-request policy:  </a:t>
            </a:r>
            <a:r>
              <a:rPr sz="1200" b="0" i="0">
                <a:solidFill>
                  <a:srgbClr val="2F78C4"/>
                </a:solidFill>
                <a:latin typeface="Arial"/>
                <a:hlinkClick r:id="rId15"/>
              </a:rPr>
              <a:t>https://learn.microsoft.com/en-us/azure/api-management/send-request-policy</a:t>
            </a:r>
          </a:p>
          <a:p>
            <a:pPr algn="l">
              <a:spcAft>
                <a:spcPts val="300"/>
              </a:spcAft>
            </a:pPr>
            <a:r>
              <a:rPr sz="1200" b="1" i="0">
                <a:solidFill>
                  <a:srgbClr val="000048"/>
                </a:solidFill>
                <a:latin typeface="Arial"/>
              </a:rPr>
              <a:t>APIM managed identity authentication:  </a:t>
            </a:r>
            <a:r>
              <a:rPr sz="1200" b="0" i="0">
                <a:solidFill>
                  <a:srgbClr val="2F78C4"/>
                </a:solidFill>
                <a:latin typeface="Arial"/>
                <a:hlinkClick r:id="rId16"/>
              </a:rPr>
              <a:t>https://learn.microsoft.com/en-us/azure/api-management/authentication-managed-identity-policy</a:t>
            </a:r>
          </a:p>
          <a:p>
            <a:pPr algn="l">
              <a:spcAft>
                <a:spcPts val="300"/>
              </a:spcAft>
            </a:pPr>
            <a:r>
              <a:rPr sz="1200" b="1" i="0">
                <a:solidFill>
                  <a:srgbClr val="000048"/>
                </a:solidFill>
                <a:latin typeface="Arial"/>
              </a:rPr>
              <a:t>Agentic RAG guide:  </a:t>
            </a:r>
            <a:r>
              <a:rPr sz="1200" b="0" i="0">
                <a:solidFill>
                  <a:srgbClr val="2F78C4"/>
                </a:solidFill>
                <a:latin typeface="Arial"/>
                <a:hlinkClick r:id="rId17"/>
              </a:rPr>
              <a:t>https://learn.microsoft.com/en-us/azure/architecture/ai-ml/guide/rag/rag-agentic</a:t>
            </a:r>
          </a:p>
          <a:p>
            <a:pPr algn="l">
              <a:spcAft>
                <a:spcPts val="300"/>
              </a:spcAft>
            </a:pPr>
            <a:r>
              <a:rPr sz="1200" b="1" i="0">
                <a:solidFill>
                  <a:srgbClr val="000048"/>
                </a:solidFill>
                <a:latin typeface="Arial"/>
              </a:rPr>
              <a:t>Multiple-agent workflow automation:  </a:t>
            </a:r>
            <a:r>
              <a:rPr sz="1200" b="0" i="0">
                <a:solidFill>
                  <a:srgbClr val="2F78C4"/>
                </a:solidFill>
                <a:latin typeface="Arial"/>
                <a:hlinkClick r:id="rId18"/>
              </a:rPr>
              <a:t>https://learn.microsoft.com/en-us/azure/architecture/ai-ml/idea/multiple-agent-workflow-automation</a:t>
            </a:r>
          </a:p>
          <a:p>
            <a:pPr algn="l">
              <a:spcAft>
                <a:spcPts val="300"/>
              </a:spcAft>
            </a:pPr>
            <a:r>
              <a:rPr sz="1200" b="1" i="0">
                <a:solidFill>
                  <a:srgbClr val="000048"/>
                </a:solidFill>
                <a:latin typeface="Arial"/>
              </a:rPr>
              <a:t>GTM proposal V3:  </a:t>
            </a:r>
            <a:r>
              <a:rPr sz="1200" b="0" i="0">
                <a:solidFill>
                  <a:srgbClr val="2F78C4"/>
                </a:solidFill>
                <a:latin typeface="Arial"/>
                <a:hlinkClick r:id="rId19"/>
              </a:rPr>
              <a:t>https://github.com/upendra25312/AI-Foundry-GTM-offering-/blob/main/CIS_Infra_Azure_AI_Platform_GTM_Proposal_V3.docx</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Agent Governance and Operations v3.0</dc:title>
  <dcterms:created xsi:type="dcterms:W3CDTF">2026-10-10T13:56:28.3080000Z</dcterms:created>
  <dcterms:modified xsi:type="dcterms:W3CDTF">2026-10-10T13:56:28.3090000Z</dcterms:modified>
  <dc:subject>Proposed CIS Infra GTM offering for internal leadership review</dc:subject>
</coreProperties>
</file>