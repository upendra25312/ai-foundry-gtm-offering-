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00048"/>
                </a:solidFill>
              </a:rPr>
              <a:t>Monthly cost (USD) by effective PTU price per PTU-month</a:t>
            </a:r>
          </a:p>
        </c:rich>
      </c:tx>
      <c:layout/>
      <c:overlay val="0"/>
    </c:title>
    <c:autoTitleDeleted val="1"/>
    <c:plotArea>
      <c:lineChart>
        <c:grouping val="standard"/>
        <c:varyColors val="0"/>
        <c:ser>
          <c:idx val="0"/>
          <c:order val="0"/>
          <c:tx>
            <c:strRef>
              <c:f>Sheet1!$B$1</c:f>
              <c:strCache>
                <c:ptCount val="1"/>
                <c:pt idx="0">
                  <c:v>PAYG only</c:v>
                </c:pt>
              </c:strCache>
            </c:strRef>
          </c:tx>
          <c:spPr>
            <a:ln w="31750">
              <a:solidFill>
                <a:srgbClr val="53565A"/>
              </a:solidFill>
            </a:ln>
          </c:spPr>
          <c:marker>
            <c:spPr>
              <a:solidFill>
                <a:srgbClr val="53565A"/>
              </a:solidFill>
              <a:ln>
                <a:solidFill>
                  <a:srgbClr val="53565A"/>
                </a:solidFill>
              </a:ln>
            </c:spPr>
          </c:marker>
          <c:cat>
            <c:strRef>
              <c:f>Sheet1!$A$2:$A$10</c:f>
              <c:strCache>
                <c:ptCount val="9"/>
                <c:pt idx="0">
                  <c:v>$100</c:v>
                </c:pt>
                <c:pt idx="1">
                  <c:v>$150</c:v>
                </c:pt>
                <c:pt idx="2">
                  <c:v>$200</c:v>
                </c:pt>
                <c:pt idx="3">
                  <c:v>$250</c:v>
                </c:pt>
                <c:pt idx="4">
                  <c:v>$300</c:v>
                </c:pt>
                <c:pt idx="5">
                  <c:v>$350</c:v>
                </c:pt>
                <c:pt idx="6">
                  <c:v>$400</c:v>
                </c:pt>
                <c:pt idx="7">
                  <c:v>$450</c:v>
                </c:pt>
                <c:pt idx="8">
                  <c:v>$500</c:v>
                </c:pt>
              </c:strCache>
            </c:strRef>
          </c:cat>
          <c:val>
            <c:numRef>
              <c:f>Sheet1!$B$2:$B$10</c:f>
              <c:numCache>
                <c:formatCode>General</c:formatCode>
                <c:ptCount val="9"/>
                <c:pt idx="0">
                  <c:v>88991</c:v>
                </c:pt>
                <c:pt idx="1">
                  <c:v>88991</c:v>
                </c:pt>
                <c:pt idx="2">
                  <c:v>88991</c:v>
                </c:pt>
                <c:pt idx="3">
                  <c:v>88991</c:v>
                </c:pt>
                <c:pt idx="4">
                  <c:v>88991</c:v>
                </c:pt>
                <c:pt idx="5">
                  <c:v>88991</c:v>
                </c:pt>
                <c:pt idx="6">
                  <c:v>88991</c:v>
                </c:pt>
                <c:pt idx="7">
                  <c:v>88991</c:v>
                </c:pt>
                <c:pt idx="8">
                  <c:v>88991</c:v>
                </c:pt>
              </c:numCache>
            </c:numRef>
          </c:val>
          <c:smooth val="0"/>
        </c:ser>
        <c:ser>
          <c:idx val="1"/>
          <c:order val="1"/>
          <c:tx>
            <c:strRef>
              <c:f>Sheet1!$C$1</c:f>
              <c:strCache>
                <c:ptCount val="1"/>
                <c:pt idx="0">
                  <c:v>PTU sized to peak (540)</c:v>
                </c:pt>
              </c:strCache>
            </c:strRef>
          </c:tx>
          <c:spPr>
            <a:ln w="31750">
              <a:solidFill>
                <a:srgbClr val="000048"/>
              </a:solidFill>
            </a:ln>
          </c:spPr>
          <c:marker>
            <c:spPr>
              <a:solidFill>
                <a:srgbClr val="000048"/>
              </a:solidFill>
              <a:ln>
                <a:solidFill>
                  <a:srgbClr val="000048"/>
                </a:solidFill>
              </a:ln>
            </c:spPr>
          </c:marker>
          <c:cat>
            <c:strRef>
              <c:f>Sheet1!$A$2:$A$10</c:f>
              <c:strCache>
                <c:ptCount val="9"/>
                <c:pt idx="0">
                  <c:v>$100</c:v>
                </c:pt>
                <c:pt idx="1">
                  <c:v>$150</c:v>
                </c:pt>
                <c:pt idx="2">
                  <c:v>$200</c:v>
                </c:pt>
                <c:pt idx="3">
                  <c:v>$250</c:v>
                </c:pt>
                <c:pt idx="4">
                  <c:v>$300</c:v>
                </c:pt>
                <c:pt idx="5">
                  <c:v>$350</c:v>
                </c:pt>
                <c:pt idx="6">
                  <c:v>$400</c:v>
                </c:pt>
                <c:pt idx="7">
                  <c:v>$450</c:v>
                </c:pt>
                <c:pt idx="8">
                  <c:v>$500</c:v>
                </c:pt>
              </c:strCache>
            </c:strRef>
          </c:cat>
          <c:val>
            <c:numRef>
              <c:f>Sheet1!$C$2:$C$10</c:f>
              <c:numCache>
                <c:formatCode>General</c:formatCode>
                <c:ptCount val="9"/>
                <c:pt idx="0">
                  <c:v>54000</c:v>
                </c:pt>
                <c:pt idx="1">
                  <c:v>81000</c:v>
                </c:pt>
                <c:pt idx="2">
                  <c:v>108000</c:v>
                </c:pt>
                <c:pt idx="3">
                  <c:v>135000</c:v>
                </c:pt>
                <c:pt idx="4">
                  <c:v>162000</c:v>
                </c:pt>
                <c:pt idx="5">
                  <c:v>189000</c:v>
                </c:pt>
                <c:pt idx="6">
                  <c:v>216000</c:v>
                </c:pt>
                <c:pt idx="7">
                  <c:v>243000</c:v>
                </c:pt>
                <c:pt idx="8">
                  <c:v>270000</c:v>
                </c:pt>
              </c:numCache>
            </c:numRef>
          </c:val>
          <c:smooth val="0"/>
        </c:ser>
        <c:ser>
          <c:idx val="2"/>
          <c:order val="2"/>
          <c:tx>
            <c:strRef>
              <c:f>Sheet1!$D$1</c:f>
              <c:strCache>
                <c:ptCount val="1"/>
                <c:pt idx="0">
                  <c:v>Hybrid (270 PTU + overflow)</c:v>
                </c:pt>
              </c:strCache>
            </c:strRef>
          </c:tx>
          <c:spPr>
            <a:ln w="31750">
              <a:solidFill>
                <a:srgbClr val="7373D8"/>
              </a:solidFill>
            </a:ln>
          </c:spPr>
          <c:marker>
            <c:spPr>
              <a:solidFill>
                <a:srgbClr val="7373D8"/>
              </a:solidFill>
              <a:ln>
                <a:solidFill>
                  <a:srgbClr val="7373D8"/>
                </a:solidFill>
              </a:ln>
            </c:spPr>
          </c:marker>
          <c:cat>
            <c:strRef>
              <c:f>Sheet1!$A$2:$A$10</c:f>
              <c:strCache>
                <c:ptCount val="9"/>
                <c:pt idx="0">
                  <c:v>$100</c:v>
                </c:pt>
                <c:pt idx="1">
                  <c:v>$150</c:v>
                </c:pt>
                <c:pt idx="2">
                  <c:v>$200</c:v>
                </c:pt>
                <c:pt idx="3">
                  <c:v>$250</c:v>
                </c:pt>
                <c:pt idx="4">
                  <c:v>$300</c:v>
                </c:pt>
                <c:pt idx="5">
                  <c:v>$350</c:v>
                </c:pt>
                <c:pt idx="6">
                  <c:v>$400</c:v>
                </c:pt>
                <c:pt idx="7">
                  <c:v>$450</c:v>
                </c:pt>
                <c:pt idx="8">
                  <c:v>$500</c:v>
                </c:pt>
              </c:strCache>
            </c:strRef>
          </c:cat>
          <c:val>
            <c:numRef>
              <c:f>Sheet1!$D$2:$D$10</c:f>
              <c:numCache>
                <c:formatCode>General</c:formatCode>
                <c:ptCount val="9"/>
                <c:pt idx="0">
                  <c:v>57616</c:v>
                </c:pt>
                <c:pt idx="1">
                  <c:v>71116</c:v>
                </c:pt>
                <c:pt idx="2">
                  <c:v>84616</c:v>
                </c:pt>
                <c:pt idx="3">
                  <c:v>98116</c:v>
                </c:pt>
                <c:pt idx="4">
                  <c:v>111616</c:v>
                </c:pt>
                <c:pt idx="5">
                  <c:v>125116</c:v>
                </c:pt>
                <c:pt idx="6">
                  <c:v>138616</c:v>
                </c:pt>
                <c:pt idx="7">
                  <c:v>152116</c:v>
                </c:pt>
                <c:pt idx="8">
                  <c:v>165616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0D0CE"/>
            </a:solidFill>
          </a:ln>
        </c:spPr>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200">
          <a:solidFill>
            <a:srgbClr val="1E1E2E"/>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Break-even USD per PTU-month</c:v>
                </c:pt>
              </c:strCache>
            </c:strRef>
          </c:tx>
          <c:spPr>
            <a:solidFill>
              <a:srgbClr val="000048"/>
            </a:solidFill>
          </c:spPr>
          <c:cat>
            <c:strRef>
              <c:f>Sheet1!$A$2:$A$9</c:f>
              <c:strCache>
                <c:ptCount val="8"/>
                <c:pt idx="0">
                  <c:v>30%</c:v>
                </c:pt>
                <c:pt idx="1">
                  <c:v>40%</c:v>
                </c:pt>
                <c:pt idx="2">
                  <c:v>50%</c:v>
                </c:pt>
                <c:pt idx="3">
                  <c:v>60%</c:v>
                </c:pt>
                <c:pt idx="4">
                  <c:v>70%</c:v>
                </c:pt>
                <c:pt idx="5">
                  <c:v>80%</c:v>
                </c:pt>
                <c:pt idx="6">
                  <c:v>90%</c:v>
                </c:pt>
                <c:pt idx="7">
                  <c:v>100%</c:v>
                </c:pt>
              </c:strCache>
            </c:strRef>
          </c:cat>
          <c:val>
            <c:numRef>
              <c:f>Sheet1!$B$2:$B$9</c:f>
              <c:numCache>
                <c:formatCode>General</c:formatCode>
                <c:ptCount val="8"/>
                <c:pt idx="0">
                  <c:v>79</c:v>
                </c:pt>
                <c:pt idx="1">
                  <c:v>105</c:v>
                </c:pt>
                <c:pt idx="2">
                  <c:v>131</c:v>
                </c:pt>
                <c:pt idx="3">
                  <c:v>158</c:v>
                </c:pt>
                <c:pt idx="4">
                  <c:v>184</c:v>
                </c:pt>
                <c:pt idx="5">
                  <c:v>210</c:v>
                </c:pt>
                <c:pt idx="6">
                  <c:v>237</c:v>
                </c:pt>
                <c:pt idx="7">
                  <c:v>263</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0D0CE"/>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purpose: open the leadership review of the CIS Infra AI Capacity and FinOps Assessment offering.</a:t>
            </a:r>
          </a:p>
          <a:p/>
          <a:p>
            <a:r>
              <a:t>No baseline deck for this offering was supplied with the request; this deck is built new from the regeneration brief, the GTM proposal V3 and verified Microsoft sources. Baseline slide references in the audit (old slides 16 and 17) are addressed by the rebuilt telemetry architecture (A15) and the prominent break-even assumptions (exec 8, A8 to A11).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demand, outcome and decision. The assessment does not recommend a real PTU or GPU commitment from illustrative economics; it produces the evidence and the pricing inputs needed for the customer to decide.</a:t>
            </a:r>
          </a:p>
          <a:p/>
          <a:p>
            <a:r>
              <a:t>No baseline deck for this offering was supplied with the request; this deck is built new from the regeneration brief, the GTM proposal V3 and verified Microsoft sources. Baseline slide references in the audit (old slides 16 and 17) are addressed by the rebuilt telemetry architecture (A15) and the prominent break-even assumptions (exec 8, A8 to A11).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 roles and triggers. FinOps owns the cost process; the AI tower owns usage forecasts; Finance owns commercial treatment.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assessment is the entry point: it sets deployment types, processing boundaries and capacity models used by the landing zone and the gateway, and it repeats as a monthly review inside managed operations.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and pricing units. The assessment is priced as a fixed fee for a bounded number of workloads and models. Implementation of telemetry or routing changes is priced in offerings 01 and 03. CIS Infra does not own usage forecasts (AI tower) or commercial treatment (Finance).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telemetry architecture (replaces the low-resolution telemetry diagram in the original FinOps deck, old slide 16, which was not supplied). Sources: API Management token metrics per caller (llm-emit-token-metric), Foundry deployment metrics in Azure Monitor, Cost Management exports to a Storage account, and reservation and quota data. Log Analytics and a workbook or notebook hold the cost model. Output: decision memo. Native services; the cost model and joins are custom.</a:t>
            </a:r>
          </a:p>
          <a:p/>
          <a:p>
            <a:r>
              <a:t>Sources (checked 11 Oct 2026):</a:t>
            </a:r>
          </a:p>
          <a:p>
            <a:r>
              <a:t>AI gateway capabilities in API Management: https://learn.microsoft.com/en-us/azure/api-management/genai-gateway-capabilities</a:t>
            </a:r>
          </a:p>
          <a:p>
            <a:r>
              <a:t>Provisioned throughput concepts: https://learn.microsoft.com/en-us/azure/foundry/openai/concepts/provisioned-throughput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decision framework (audit finding). PTU fits measured, sustained workloads; hybrid fits an established baseline with governed overflow; self-hosted GPU fits only when control or workload requirements justify the operating burden. Detail in appendix A1.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(appendix A8 to A11). Assumed workload: 100 tasks per minute on average, 3 model calls per task, 5% retries, 2000 input tokens (25% cached) and 400 output tokens per call, daily profile peaking at 1.66x the mean. Model gpt-4.1 Global Standard at East US 2 list prices ($2.00 input, $0.50 cached, $8.00 output per 1M tokens). PAYG cost $88,991 a month. PTU sized to peak = 540 PTU; hybrid baseline = 270 PTU with 34% of calls overflowing to PAYG. Break-even effective PTU price: $165 per PTU-month (peak-sized) and $216 (hybrid). Hourly list price for Global provisioned is $1.00 per PTU-hour = $730 per PTU-month. PTU reservation prices are not published in the retail price API; they come from the customer agreement. This example must not be used to recommend a real commitment.</a:t>
            </a:r>
          </a:p>
          <a:p/>
          <a:p>
            <a:r>
              <a:t>Sources (checked 11 Oct 2026):</a:t>
            </a:r>
          </a:p>
          <a:p>
            <a:r>
              <a:t>Azure Retail Prices API: Azure OpenAI gpt-4.1, East US 2: https://prices.azure.com/api/retail/prices?$filter=productName eq 'Azure OpenAI' and armRegionName eq 'eastus2'</a:t>
            </a:r>
          </a:p>
          <a:p>
            <a:r>
              <a:t>Provisioned throughput sizing and per-model values: https://learn.microsoft.com/en-us/azure/foundry/openai/how-to/provisioned-throughput-sizing</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risks for the assessment and for any capacity decision that follows.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are definitions. Decisions split into now versus after evidence or approval.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Each entry links to the appendix slide. Use the Index link in the footer of any appendix slide to return here.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decision criteria. Each criterion needs evidence from the assessment. A self-hosted model is a different model from a Foundry-hosted one, so cost comparisons are not like-for-like unless quality is re-evaluated.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collected in the assessment, with their usual source. Every assumed value is labelled in the memo.</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 using the worked-example assumptions: one task drives 3 model calls, plus 5% retries, so about 3.15 calls per task. Tool results added to the prompt grow the context on later calls, which this simple example does not model.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Sources (checked 11 Oct 2026):</a:t>
            </a:r>
          </a:p>
          <a:p>
            <a:r>
              <a:t>Provisioned throughput concepts: https://learn.microsoft.com/en-us/azure/foundry/openai/concepts/provisioned-throughput</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 and per-model values from Microsoft Learn PTU sizing (updated 2026-09-24). Cached tokens are deducted 100% for these models. Microsoft recommends benchmarking against representative traffic for the most accurate sizing; the Foundry portal capacity calculator provides a guided estimate.</a:t>
            </a:r>
          </a:p>
          <a:p/>
          <a:p>
            <a:r>
              <a:t>Sources (checked 11 Oct 2026):</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Sources (checked 11 Oct 2026):</a:t>
            </a:r>
          </a:p>
          <a:p>
            <a:r>
              <a:t>Foundry Models retirement schedule: https://learn.microsoft.com/en-us/azure/foundry/openai/concepts/model-retirement-schedule</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measures how much of deployed PTU is billed at reserved rates. Utilisation measures how much of deployed capacity is actually used. High coverage with low utilisation wastes money; deployed PTUs above the reservation are billed hourly.</a:t>
            </a:r>
          </a:p>
          <a:p/>
          <a:p>
            <a:r>
              <a:t>Sources (checked 11 Oct 2026):</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assumed value is labelled. Prices are Azure Retail Prices API list prices, East US 2, USD, retrieved 11 Oct 2026; enterprise prices differ. Profile: 8 hours at 0.3, 10 business hours at 1.6, 6 evening hours at 0.8, normalised so the daily mean is 1.0.</a:t>
            </a:r>
          </a:p>
          <a:p/>
          <a:p>
            <a:r>
              <a:t>Sources (checked 11 Oct 2026):</a:t>
            </a:r>
          </a:p>
          <a:p>
            <a:r>
              <a:t>Azure Retail Prices API: Azure OpenAI gpt-4.1, East US 2: https://prices.azure.com/api/retail/prices?$filter=productName eq 'Azure OpenAI' and armRegionName eq 'eastus2'</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Calculation: average calls 315 per minute; monthly calls 13,797,000 (730 hours). Cost per call $0.00645. Normalised tokens per call 3100. Peak calls 521 per minute need 540 PTU (rounded up to increment). Hybrid baseline sized to the evening level needs 270 PTU; 34.4% of calls overflow to PAYG, costing $30,616. Average utilisation: 60% peak-sized, 79% hybrid baseline. Break-even = PAYG cost avoided ÷ PTUs.</a:t>
            </a:r>
          </a:p>
          <a:p/>
          <a:p>
            <a:r>
              <a:t>Sources (checked 11 Oct 2026):</a:t>
            </a:r>
          </a:p>
          <a:p>
            <a:r>
              <a:t>Azure Retail Prices API: Azure OpenAI gpt-4.1, East US 2: https://prices.azure.com/api/retail/prices?$filter=productName eq 'Azure OpenAI' and armRegionName eq 'eastus2'</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Break-even effective PTU price per PTU-month = utilisation x 3,000 TPM x 60 x 730 / 1,000,000 x $2.00 (gpt-4.1 Global PAYG input price; output is weighted 4x in both PTU accounting and price). Cached tokens make PTU slightly more attractive because they consume no PTU capacity but cost $0.50 per 1M on PAYG; this line ignores that effect.</a:t>
            </a:r>
          </a:p>
          <a:p/>
          <a:p>
            <a:r>
              <a:t>Sources (checked 11 Oct 2026):</a:t>
            </a:r>
          </a:p>
          <a:p>
            <a:r>
              <a:t>Azure Retail Prices API: Azure OpenAI gpt-4.1, East US 2: https://prices.azure.com/api/retail/prices?$filter=productName eq 'Azure OpenAI' and armRegionName eq 'eastus2'</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changes one assumption from the base case and recomputes PAYG cost, PTU counts and break-even prices with the same method. Calls per task scale cost and PTUs together, so break-even barely moves; cache rate and output share change the balance.</a:t>
            </a:r>
          </a:p>
          <a:p/>
          <a:p>
            <a:r>
              <a:t>Sources (checked 11 Oct 2026):</a:t>
            </a:r>
          </a:p>
          <a:p>
            <a:r>
              <a:t>Azure Retail Prices API: Azure OpenAI gpt-4.1, East US 2: https://prices.azure.com/api/retail/prices?$filter=productName eq 'Azure OpenAI' and armRegionName eq 'eastus2'</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Sources (checked 11 Oct 2026):</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ND96isr H100 v5, Linux, East US 2 list: $98.32 per hour (about $71,774 a month at 730 hours); 1-year reservation listed at $551,221 for the term. To match the example’s blended PAYG cost of about $2.69 per 1M tokens, one VM must sustain about 10,162 tokens per second around the clock, before storage, network, licences, operations and engineering, and before an N+1 replica. A different model is not like-for-like; re-evaluate quality.</a:t>
            </a:r>
          </a:p>
          <a:p/>
          <a:p>
            <a:r>
              <a:t>Sources (checked 11 Oct 2026):</a:t>
            </a:r>
          </a:p>
          <a:p>
            <a:r>
              <a:t>Azure Retail Prices API: ND H100 v5, East US 2: https://prices.azure.com/api/retail/prices?$filter=serviceName eq 'Virtual Machines' and armRegionName eq 'eastus2' and contains(armSkuName,'H100')</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Comparable total-cost boundaries. Each option must include the same lines, or an explicit zero with a reason.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editable telemetry architecture (audit finding: rebuild the low-resolution telemetry diagram). Steps: (1) API Management emits token metrics per caller, agent and model; (2) Foundry deployments expose token and utilisation metrics in Azure Monitor; (3) Cost Management exports actual and amortised cost daily to a Storage account; (4) reservation and quota data are pulled on schedule; (5) a cost model joins usage to price by model, deployment type and token type; (6) the workbook shows unit cost, utilisation, coverage and overflow. Identity: read-only managed identity. Note Log Analytics ingestion is itself a cost.</a:t>
            </a:r>
          </a:p>
          <a:p/>
          <a:p>
            <a:r>
              <a:t>Sources (checked 11 Oct 2026):</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Allocation uses identity-derived dimensions from the gateway and tags from Azure resources. Shared platform costs are allocated once by an agreed key.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gpt-4.1 East US 2 retail list prices, USD, retrieved 11 Oct 2026. Processing location per deployment type from the deployment types page (updated 2026-08-12). Data zones: US, EU, APAC; no UK or Middle East data zone.</a:t>
            </a:r>
          </a:p>
          <a:p/>
          <a:p>
            <a:r>
              <a:t>Sources (checked 11 Oct 2026):</a:t>
            </a:r>
          </a:p>
          <a:p>
            <a:r>
              <a:t>Azure Retail Prices API: Azure OpenAI gpt-4.1, East US 2: https://prices.azure.com/api/retail/prices?$filter=productName eq 'Azure OpenAI' and armRegionName eq 'eastus2'</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deliverables and acceptance. The memo states assumptions, sources and missing inputs; it does not commit the customer or Cognizant to a capacity purchase.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Icons: official Azure icons. Container Apps is shown as one example of a customer-hosted runtime; AKS is equivalent. Function App represents an example tool host.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Cognizant services revenue from customer-paid Azure consumption. Where internal sell rates or enterprise Azure rates are unavailable, the formula and the missing input owner are shown instead of a number. </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Any commitment is the customer’s decision; the memo informs it. The customer column here covers the customer sponsor and procurement.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criteria for this offering. Timelines and staffing are estimates only and require named tower commitments. Use this as the qualification and SOW checklist.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Unresolved decisions for this offering. "Now" means leadership can decide at this review. Other items depend on pilot evidence, Finance approval or specialist tower agreement. The consolidated register is delivered as a separate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source register (URL, date checked, product, deployment type, region, SKU, GA or preview status, limitations) is provided as a separate workbook. Links below are clickable in slideshow mode.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17.png"/><Relationship Id="rId13" Type="http://schemas.openxmlformats.org/officeDocument/2006/relationships/image" Target="../media/image20.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21.png"/><Relationship Id="rId17" Type="http://schemas.openxmlformats.org/officeDocument/2006/relationships/image" Target="../media/image24.svg"/><Relationship Id="rId18" Type="http://schemas.openxmlformats.org/officeDocument/2006/relationships/image" Target="../media/image23.png"/><Relationship Id="rId19"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chart" Target="../charts/chart2.xml"/><Relationship Id="rId5"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25.png"/><Relationship Id="rId13" Type="http://schemas.openxmlformats.org/officeDocument/2006/relationships/image" Target="../media/image28.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21.png"/><Relationship Id="rId17" Type="http://schemas.openxmlformats.org/officeDocument/2006/relationships/image" Target="../media/image24.svg"/><Relationship Id="rId18" Type="http://schemas.openxmlformats.org/officeDocument/2006/relationships/image" Target="../media/image27.png"/><Relationship Id="rId19" Type="http://schemas.openxmlformats.org/officeDocument/2006/relationships/image" Target="../media/image30.svg"/><Relationship Id="rId20" Type="http://schemas.openxmlformats.org/officeDocument/2006/relationships/image" Target="../media/image23.png"/><Relationship Id="rId21" Type="http://schemas.openxmlformats.org/officeDocument/2006/relationships/image" Target="../media/image26.svg"/><Relationship Id="rId22"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hyperlink" Target="https://prices.azure.com/api/retail/prices?$filter=productName eq 'Azure OpenAI' and armRegionName eq 'eastus2'" TargetMode="External"/><Relationship Id="rId5" Type="http://schemas.openxmlformats.org/officeDocument/2006/relationships/hyperlink" Target="https://learn.microsoft.com/en-us/azure/foundry/openai/concepts/provisioned-throughput" TargetMode="External"/><Relationship Id="rId6" Type="http://schemas.openxmlformats.org/officeDocument/2006/relationships/hyperlink" Target="https://learn.microsoft.com/en-us/azure/foundry/openai/how-to/provisioned-throughput-sizing" TargetMode="External"/><Relationship Id="rId7" Type="http://schemas.openxmlformats.org/officeDocument/2006/relationships/hyperlink" Target="https://learn.microsoft.com/en-us/azure/foundry/openai/how-to/provisioned-throughput-onboarding" TargetMode="External"/><Relationship Id="rId8" Type="http://schemas.openxmlformats.org/officeDocument/2006/relationships/hyperlink" Target="https://learn.microsoft.com/en-us/azure/foundry/foundry-models/concepts/deployment-types" TargetMode="External"/><Relationship Id="rId9" Type="http://schemas.openxmlformats.org/officeDocument/2006/relationships/hyperlink" Target="https://learn.microsoft.com/en-us/azure/foundry/openai/concepts/model-retirement-schedule" TargetMode="External"/><Relationship Id="rId10" Type="http://schemas.openxmlformats.org/officeDocument/2006/relationships/hyperlink" Target="https://learn.microsoft.com/en-us/azure/virtual-machines/sizes/gpu-accelerated/ndh100v5-series" TargetMode="External"/><Relationship Id="rId11" Type="http://schemas.openxmlformats.org/officeDocument/2006/relationships/hyperlink" Target="https://prices.azure.com/api/retail/prices?$filter=serviceName eq 'Virtual Machines' and armRegionName eq 'eastus2' and contains(armSkuName,'H100')" TargetMode="External"/><Relationship Id="rId12" Type="http://schemas.openxmlformats.org/officeDocument/2006/relationships/hyperlink" Target="https://prices.azure.com/api/retail/prices?$filter=serviceName eq 'Log Analytics' and armRegionName eq 'eastus2'" TargetMode="External"/><Relationship Id="rId13" Type="http://schemas.openxmlformats.org/officeDocument/2006/relationships/hyperlink" Target="https://learn.microsoft.com/en-us/azure/api-management/genai-gateway-capabilities" TargetMode="External"/><Relationship Id="rId14" Type="http://schemas.openxmlformats.org/officeDocument/2006/relationships/hyperlink" Target="https://learn.microsoft.com/en-us/azure/architecture/icons/" TargetMode="External"/><Relationship Id="rId15" Type="http://schemas.openxmlformats.org/officeDocument/2006/relationships/hyperlink" Target="https://github.com/upendra25312/AI-Foundry-GTM-offering-/blob/main/CIS_Infra_Azure_AI_Platform_GTM_Proposal_V3.docx" TargetMode="External"/><Relationship Id="rId16"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Capacity and FinOps Assessment</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Measure demand, then choose PAYG, PTU, hybrid or self-hosted capacity on evidence</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Fixed-scope assessment with transparent cost models and decision gates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2.0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buy capacity on measured demand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554480" cy="457200"/>
          </a:xfrm>
          <a:prstGeom prst="rect">
            <a:avLst/>
          </a:prstGeom>
          <a:noFill/>
        </p:spPr>
        <p:txBody>
          <a:bodyPr wrap="square" lIns="0" rIns="0" tIns="0" bIns="0" anchor="t">
            <a:noAutofit/>
          </a:bodyPr>
          <a:lstStyle/>
          <a:p>
            <a:pPr algn="l"/>
            <a:r>
              <a:rPr sz="2000" b="1" i="0">
                <a:solidFill>
                  <a:srgbClr val="2F78C4"/>
                </a:solidFill>
                <a:latin typeface="Arial"/>
              </a:rPr>
              <a:t>Problem</a:t>
            </a:r>
          </a:p>
        </p:txBody>
      </p:sp>
      <p:sp>
        <p:nvSpPr>
          <p:cNvPr id="9" name="TextBox 8"/>
          <p:cNvSpPr txBox="1"/>
          <p:nvPr/>
        </p:nvSpPr>
        <p:spPr>
          <a:xfrm>
            <a:off x="2103120" y="1371600"/>
            <a:ext cx="5120640" cy="1234440"/>
          </a:xfrm>
          <a:prstGeom prst="rect">
            <a:avLst/>
          </a:prstGeom>
          <a:noFill/>
        </p:spPr>
        <p:txBody>
          <a:bodyPr wrap="square" lIns="0" rIns="0" tIns="0" bIns="0" anchor="t">
            <a:noAutofit/>
          </a:bodyPr>
          <a:lstStyle/>
          <a:p>
            <a:pPr algn="l"/>
            <a:r>
              <a:rPr sz="2000" b="0" i="0">
                <a:solidFill>
                  <a:srgbClr val="1E1E2E"/>
                </a:solidFill>
                <a:latin typeface="Arial"/>
              </a:rPr>
              <a:t>AI capacity is bought on guesses. Agent loops and retries multiply tokens; PTU and GPU commitments outlive models.</a:t>
            </a:r>
          </a:p>
        </p:txBody>
      </p:sp>
      <p:sp>
        <p:nvSpPr>
          <p:cNvPr id="10" name="TextBox 9"/>
          <p:cNvSpPr txBox="1"/>
          <p:nvPr/>
        </p:nvSpPr>
        <p:spPr>
          <a:xfrm>
            <a:off x="548640" y="2670048"/>
            <a:ext cx="1554480" cy="457200"/>
          </a:xfrm>
          <a:prstGeom prst="rect">
            <a:avLst/>
          </a:prstGeom>
          <a:noFill/>
        </p:spPr>
        <p:txBody>
          <a:bodyPr wrap="square" lIns="0" rIns="0" tIns="0" bIns="0" anchor="t">
            <a:noAutofit/>
          </a:bodyPr>
          <a:lstStyle/>
          <a:p>
            <a:pPr algn="l"/>
            <a:r>
              <a:rPr sz="2000" b="1" i="0">
                <a:solidFill>
                  <a:srgbClr val="2F78C4"/>
                </a:solidFill>
                <a:latin typeface="Arial"/>
              </a:rPr>
              <a:t>Offer</a:t>
            </a:r>
          </a:p>
        </p:txBody>
      </p:sp>
      <p:sp>
        <p:nvSpPr>
          <p:cNvPr id="11" name="TextBox 10"/>
          <p:cNvSpPr txBox="1"/>
          <p:nvPr/>
        </p:nvSpPr>
        <p:spPr>
          <a:xfrm>
            <a:off x="2103120" y="2670048"/>
            <a:ext cx="5120640" cy="1234440"/>
          </a:xfrm>
          <a:prstGeom prst="rect">
            <a:avLst/>
          </a:prstGeom>
          <a:noFill/>
        </p:spPr>
        <p:txBody>
          <a:bodyPr wrap="square" lIns="0" rIns="0" tIns="0" bIns="0" anchor="t">
            <a:noAutofit/>
          </a:bodyPr>
          <a:lstStyle/>
          <a:p>
            <a:pPr algn="l"/>
            <a:r>
              <a:rPr sz="2000" b="0" i="0">
                <a:solidFill>
                  <a:srgbClr val="1E1E2E"/>
                </a:solidFill>
                <a:latin typeface="Arial"/>
              </a:rPr>
              <a:t>A fixed-scope assessment: instrument usage, characterise workloads, compare options on one cost boundary, set decision gates.</a:t>
            </a:r>
          </a:p>
        </p:txBody>
      </p:sp>
      <p:sp>
        <p:nvSpPr>
          <p:cNvPr id="12" name="TextBox 11"/>
          <p:cNvSpPr txBox="1"/>
          <p:nvPr/>
        </p:nvSpPr>
        <p:spPr>
          <a:xfrm>
            <a:off x="548640" y="3968496"/>
            <a:ext cx="1554480" cy="457200"/>
          </a:xfrm>
          <a:prstGeom prst="rect">
            <a:avLst/>
          </a:prstGeom>
          <a:noFill/>
        </p:spPr>
        <p:txBody>
          <a:bodyPr wrap="square" lIns="0" rIns="0" tIns="0" bIns="0" anchor="t">
            <a:noAutofit/>
          </a:bodyPr>
          <a:lstStyle/>
          <a:p>
            <a:pPr algn="l"/>
            <a:r>
              <a:rPr sz="2000" b="1" i="0">
                <a:solidFill>
                  <a:srgbClr val="2F78C4"/>
                </a:solidFill>
                <a:latin typeface="Arial"/>
              </a:rPr>
              <a:t>Outcome</a:t>
            </a:r>
          </a:p>
        </p:txBody>
      </p:sp>
      <p:sp>
        <p:nvSpPr>
          <p:cNvPr id="13" name="TextBox 12"/>
          <p:cNvSpPr txBox="1"/>
          <p:nvPr/>
        </p:nvSpPr>
        <p:spPr>
          <a:xfrm>
            <a:off x="2103120" y="3968496"/>
            <a:ext cx="5120640" cy="1234440"/>
          </a:xfrm>
          <a:prstGeom prst="rect">
            <a:avLst/>
          </a:prstGeom>
          <a:noFill/>
        </p:spPr>
        <p:txBody>
          <a:bodyPr wrap="square" lIns="0" rIns="0" tIns="0" bIns="0" anchor="t">
            <a:noAutofit/>
          </a:bodyPr>
          <a:lstStyle/>
          <a:p>
            <a:pPr algn="l"/>
            <a:r>
              <a:rPr sz="2000" b="0" i="0">
                <a:solidFill>
                  <a:srgbClr val="1E1E2E"/>
                </a:solidFill>
                <a:latin typeface="Arial"/>
              </a:rPr>
              <a:t>A decision memo with measured demand, sizing, break-even points, sensitivity and the approvals still required.</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000" b="1" i="0">
                <a:solidFill>
                  <a:srgbClr val="FFFFFF"/>
                </a:solidFill>
                <a:latin typeface="Arial"/>
              </a:rPr>
              <a:t>Decision requested</a:t>
            </a:r>
          </a:p>
          <a:p>
            <a:pPr algn="l" marL="201168" indent="-201168">
              <a:spcAft>
                <a:spcPts val="1000"/>
              </a:spcAft>
              <a:buFont typeface="Arial"/>
              <a:buChar char="•"/>
            </a:pPr>
            <a:r>
              <a:rPr sz="1800" b="0" i="0">
                <a:solidFill>
                  <a:srgbClr val="FFFFFF"/>
                </a:solidFill>
                <a:latin typeface="Arial"/>
              </a:rPr>
              <a:t>Approve the assessment as a fixed-fee entry offer</a:t>
            </a:r>
          </a:p>
          <a:p>
            <a:pPr algn="l" marL="201168" indent="-201168">
              <a:spcAft>
                <a:spcPts val="1000"/>
              </a:spcAft>
              <a:buFont typeface="Arial"/>
              <a:buChar char="•"/>
            </a:pPr>
            <a:r>
              <a:rPr sz="1800" b="0" i="0">
                <a:solidFill>
                  <a:srgbClr val="FFFFFF"/>
                </a:solidFill>
                <a:latin typeface="Arial"/>
              </a:rPr>
              <a:t>No commitment advice without measured data and customer prices</a:t>
            </a:r>
          </a:p>
          <a:p>
            <a:pPr algn="l" marL="201168" indent="-201168">
              <a:spcAft>
                <a:spcPts val="1000"/>
              </a:spcAft>
              <a:buFont typeface="Arial"/>
              <a:buChar char="•"/>
            </a:pPr>
            <a:r>
              <a:rPr sz="1800" b="0" i="0">
                <a:solidFill>
                  <a:srgbClr val="FFFFFF"/>
                </a:solidFill>
                <a:latin typeface="Arial"/>
              </a:rPr>
              <a:t>Name the FinOps and AI owners for each pilot</a:t>
            </a:r>
          </a:p>
        </p:txBody>
      </p:sp>
      <p:sp>
        <p:nvSpPr>
          <p:cNvPr id="15" name="Rounded Rectangle 14"/>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 PTU is a unit of model throughput, not a fixed number of GPUs.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buys, and what triggers the purchase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graphicFrame>
        <p:nvGraphicFramePr>
          <p:cNvPr id="7" name="Table"/>
          <p:cNvGraphicFramePr>
            <a:graphicFrameLocks noGrp="1"/>
          </p:cNvGraphicFramePr>
          <p:nvPr/>
        </p:nvGraphicFramePr>
        <p:xfrm>
          <a:off x="548640" y="1371600"/>
          <a:ext cx="11091672" cy="2910840"/>
        </p:xfrm>
        <a:graphic>
          <a:graphicData uri="http://schemas.openxmlformats.org/drawingml/2006/table">
            <a:tbl>
              <a:tblPr firstRow="1" bandRow="0">
                <a:tableStyleId>{5C22544A-7EE6-4342-B048-85BDC9FD1C3A}</a:tableStyleId>
              </a:tblPr>
              <a:tblGrid>
                <a:gridCol w="3017520"/>
                <a:gridCol w="4023360"/>
                <a:gridCol w="4050792"/>
              </a:tblGrid>
              <a:tr h="350520">
                <a:tc>
                  <a:txBody>
                    <a:bodyPr wrap="square" anchor="ctr">
                      <a:noAutofit/>
                    </a:bodyPr>
                    <a:lstStyle/>
                    <a:p>
                      <a:pPr algn="l"/>
                      <a:r>
                        <a:rPr sz="17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Purchase trigger</a:t>
                      </a:r>
                    </a:p>
                  </a:txBody>
                  <a:tcPr marL="73152" marR="73152" marT="36576" marB="36576" anchor="ctr">
                    <a:solidFill>
                      <a:srgbClr val="000048"/>
                    </a:solidFill>
                  </a:tcPr>
                </a:tc>
              </a:tr>
              <a:tr h="640080">
                <a:tc>
                  <a:txBody>
                    <a:bodyPr wrap="square" anchor="ctr">
                      <a:noAutofit/>
                    </a:bodyPr>
                    <a:lstStyle/>
                    <a:p>
                      <a:pPr algn="l"/>
                      <a:r>
                        <a:rPr sz="1800" b="1" i="0">
                          <a:solidFill>
                            <a:srgbClr val="1E1E2E"/>
                          </a:solidFill>
                          <a:latin typeface="Arial"/>
                        </a:rPr>
                        <a:t>FinOps lead or CFO delegate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Forecast and unit cost per useful task</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Model spend growing faster than usage</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AI platform leader</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Capacity that meets latency and throughput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429 throttling or capacity shortfalls</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Procurement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Evidence before a PTU or GPU commitment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Microsoft offer or renewal on the table</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Workload owner</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A predictable cost per transaction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Business case approval for scale-up</a:t>
                      </a:r>
                    </a:p>
                  </a:txBody>
                  <a:tcPr marL="73152" marR="73152" marT="36576" marB="36576" anchor="ctr">
                    <a:solidFill>
                      <a:srgbClr val="F5F5F2"/>
                    </a:solidFill>
                  </a:tcPr>
                </a:tc>
              </a:tr>
            </a:tbl>
          </a:graphicData>
        </a:graphic>
      </p:graphicFrame>
      <p:sp>
        <p:nvSpPr>
          <p:cNvPr id="8" name="Rounded Rectangle 7"/>
          <p:cNvSpPr/>
          <p:nvPr/>
        </p:nvSpPr>
        <p:spPr>
          <a:xfrm>
            <a:off x="548640" y="548640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700" b="1" i="0">
                <a:solidFill>
                  <a:srgbClr val="000048"/>
                </a:solidFill>
                <a:latin typeface="Arial"/>
              </a:rPr>
              <a:t>Decision:  </a:t>
            </a:r>
            <a:r>
              <a:rPr sz="1700" b="0" i="0">
                <a:solidFill>
                  <a:srgbClr val="1E1E2E"/>
                </a:solidFill>
                <a:latin typeface="Arial"/>
              </a:rPr>
              <a:t>Qualify on measurable traffic: at least one workload with real or pilot telemetry, or a defined load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in the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371600"/>
            <a:ext cx="2011680" cy="1572768"/>
          </a:xfrm>
          <a:prstGeom prst="roundRect">
            <a:avLst>
              <a:gd name="adj" fmla="val 465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04</a:t>
            </a:r>
          </a:p>
          <a:p>
            <a:pPr algn="l">
              <a:spcAft>
                <a:spcPts val="400"/>
              </a:spcAft>
            </a:pPr>
            <a:r>
              <a:rPr sz="1500" b="1" i="0">
                <a:solidFill>
                  <a:srgbClr val="FFFFFF"/>
                </a:solidFill>
                <a:latin typeface="Arial"/>
              </a:rPr>
              <a:t>AI Capacity and
FinOps Assessment</a:t>
            </a:r>
          </a:p>
          <a:p>
            <a:pPr algn="l"/>
            <a:r>
              <a:rPr sz="1100" b="0" i="0">
                <a:solidFill>
                  <a:srgbClr val="26EFE9"/>
                </a:solidFill>
                <a:latin typeface="Arial"/>
              </a:rPr>
              <a:t>Measure demand, choose
capacity model</a:t>
            </a:r>
          </a:p>
        </p:txBody>
      </p:sp>
      <p:sp>
        <p:nvSpPr>
          <p:cNvPr id="9" name="Status chip: THIS OFFERING"/>
          <p:cNvSpPr/>
          <p:nvPr/>
        </p:nvSpPr>
        <p:spPr>
          <a:xfrm>
            <a:off x="658368" y="30175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THIS OFFERING</a:t>
            </a:r>
          </a:p>
        </p:txBody>
      </p:sp>
      <p:cxnSp>
        <p:nvCxnSpPr>
          <p:cNvPr id="10" name="Connector (flow)"/>
          <p:cNvCxnSpPr/>
          <p:nvPr/>
        </p:nvCxnSpPr>
        <p:spPr>
          <a:xfrm>
            <a:off x="258775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1909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spcAft>
                <a:spcPts val="400"/>
              </a:spcAft>
            </a:pPr>
            <a:r>
              <a:rPr sz="1500" b="1" i="0">
                <a:solidFill>
                  <a:srgbClr val="000048"/>
                </a:solidFill>
                <a:latin typeface="Arial"/>
              </a:rPr>
              <a:t>AI Platform /
Landing Zone</a:t>
            </a:r>
          </a:p>
          <a:p>
            <a:pPr algn="l"/>
            <a:r>
              <a:rPr sz="1100" b="0" i="0">
                <a:solidFill>
                  <a:srgbClr val="53565A"/>
                </a:solidFill>
                <a:latin typeface="Arial"/>
              </a:rPr>
              <a:t>Governed foundation for
AI workloads</a:t>
            </a:r>
          </a:p>
        </p:txBody>
      </p:sp>
      <p:cxnSp>
        <p:nvCxnSpPr>
          <p:cNvPr id="12" name="Connector (flow)"/>
          <p:cNvCxnSpPr/>
          <p:nvPr/>
        </p:nvCxnSpPr>
        <p:spPr>
          <a:xfrm>
            <a:off x="485820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8955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spcAft>
                <a:spcPts val="400"/>
              </a:spcAft>
            </a:pPr>
            <a:r>
              <a:rPr sz="1500" b="1" i="0">
                <a:solidFill>
                  <a:srgbClr val="000048"/>
                </a:solidFill>
                <a:latin typeface="Arial"/>
              </a:rPr>
              <a:t>AI Gateway
Implementation</a:t>
            </a:r>
          </a:p>
          <a:p>
            <a:pPr algn="l"/>
            <a:r>
              <a:rPr sz="1100" b="0" i="0">
                <a:solidFill>
                  <a:srgbClr val="53565A"/>
                </a:solidFill>
                <a:latin typeface="Arial"/>
              </a:rPr>
              <a:t>Control model and
tool traffic</a:t>
            </a:r>
          </a:p>
        </p:txBody>
      </p:sp>
      <p:cxnSp>
        <p:nvCxnSpPr>
          <p:cNvPr id="14" name="Connector (flow)"/>
          <p:cNvCxnSpPr/>
          <p:nvPr/>
        </p:nvCxnSpPr>
        <p:spPr>
          <a:xfrm>
            <a:off x="712866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6000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spcAft>
                <a:spcPts val="400"/>
              </a:spcAft>
            </a:pPr>
            <a:r>
              <a:rPr sz="1500" b="1" i="0">
                <a:solidFill>
                  <a:srgbClr val="000048"/>
                </a:solidFill>
                <a:latin typeface="Arial"/>
              </a:rPr>
              <a:t>Agent Governance
and Operations</a:t>
            </a:r>
          </a:p>
          <a:p>
            <a:pPr algn="l"/>
            <a:r>
              <a:rPr sz="1100" b="0" i="0">
                <a:solidFill>
                  <a:srgbClr val="53565A"/>
                </a:solidFill>
                <a:latin typeface="Arial"/>
              </a:rPr>
              <a:t>Know, observe and
contain agents</a:t>
            </a:r>
          </a:p>
        </p:txBody>
      </p:sp>
      <p:cxnSp>
        <p:nvCxnSpPr>
          <p:cNvPr id="16" name="Connector (flow)"/>
          <p:cNvCxnSpPr/>
          <p:nvPr/>
        </p:nvCxnSpPr>
        <p:spPr>
          <a:xfrm>
            <a:off x="939911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3046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spcAft>
                <a:spcPts val="400"/>
              </a:spcAft>
            </a:pPr>
            <a:r>
              <a:rPr sz="1500" b="1" i="0">
                <a:solidFill>
                  <a:srgbClr val="000048"/>
                </a:solidFill>
                <a:latin typeface="Arial"/>
              </a:rPr>
              <a:t>Managed AI
Platform Operations</a:t>
            </a:r>
          </a:p>
          <a:p>
            <a:pPr algn="l"/>
            <a:r>
              <a:rPr sz="1100" b="0" i="0">
                <a:solidFill>
                  <a:srgbClr val="53565A"/>
                </a:solidFill>
                <a:latin typeface="Arial"/>
              </a:rPr>
              <a:t>Run, report and
optimise the platform</a:t>
            </a:r>
          </a:p>
        </p:txBody>
      </p:sp>
      <p:cxnSp>
        <p:nvCxnSpPr>
          <p:cNvPr id="18" name="Connector (control)"/>
          <p:cNvCxnSpPr/>
          <p:nvPr/>
        </p:nvCxnSpPr>
        <p:spPr>
          <a:xfrm>
            <a:off x="10636300" y="2944368"/>
            <a:ext cx="0" cy="45720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H="1">
            <a:off x="1554480" y="3401568"/>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control)"/>
          <p:cNvCxnSpPr/>
          <p:nvPr/>
        </p:nvCxnSpPr>
        <p:spPr>
          <a:xfrm flipV="1">
            <a:off x="1554480" y="2944368"/>
            <a:ext cx="0" cy="45720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926080" y="3438144"/>
            <a:ext cx="6400800" cy="274320"/>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2" name="TextBox 21"/>
          <p:cNvSpPr txBox="1"/>
          <p:nvPr/>
        </p:nvSpPr>
        <p:spPr>
          <a:xfrm>
            <a:off x="548640" y="3840479"/>
            <a:ext cx="11064240" cy="320040"/>
          </a:xfrm>
          <a:prstGeom prst="rect">
            <a:avLst/>
          </a:prstGeom>
          <a:noFill/>
        </p:spPr>
        <p:txBody>
          <a:bodyPr wrap="square" lIns="0" rIns="0" tIns="0" bIns="0" anchor="t">
            <a:noAutofit/>
          </a:bodyPr>
          <a:lstStyle/>
          <a:p>
            <a:pPr algn="l"/>
            <a:r>
              <a:rPr sz="1600" b="1" i="0">
                <a:solidFill>
                  <a:srgbClr val="000048"/>
                </a:solidFill>
                <a:latin typeface="Arial"/>
              </a:rPr>
              <a:t>Handoffs for this offering</a:t>
            </a:r>
          </a:p>
        </p:txBody>
      </p:sp>
      <p:sp>
        <p:nvSpPr>
          <p:cNvPr id="23" name="Rounded Rectangle 22"/>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Each handoff has a named owner, acceptance evidence and a date. No offering assumes another is sold.</a:t>
            </a:r>
          </a:p>
        </p:txBody>
      </p:sp>
      <p:sp>
        <p:nvSpPr>
          <p:cNvPr id="24" name="Rounded Rectangle 23"/>
          <p:cNvSpPr/>
          <p:nvPr/>
        </p:nvSpPr>
        <p:spPr>
          <a:xfrm>
            <a:off x="5486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01 Landing Zone</a:t>
            </a:r>
          </a:p>
          <a:p>
            <a:pPr algn="l"/>
            <a:r>
              <a:rPr sz="1600" b="0" i="0">
                <a:solidFill>
                  <a:srgbClr val="1E1E2E"/>
                </a:solidFill>
                <a:latin typeface="Arial"/>
              </a:rPr>
              <a:t>Deployment type, processing boundary, quota and capacity plan</a:t>
            </a:r>
          </a:p>
        </p:txBody>
      </p:sp>
      <p:sp>
        <p:nvSpPr>
          <p:cNvPr id="25" name="Rounded Rectangle 24"/>
          <p:cNvSpPr/>
          <p:nvPr/>
        </p:nvSpPr>
        <p:spPr>
          <a:xfrm>
            <a:off x="4319016"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03 Gateway</a:t>
            </a:r>
          </a:p>
          <a:p>
            <a:pPr algn="l"/>
            <a:r>
              <a:rPr sz="1600" b="0" i="0">
                <a:solidFill>
                  <a:srgbClr val="1E1E2E"/>
                </a:solidFill>
                <a:latin typeface="Arial"/>
              </a:rPr>
              <a:t>PTU primary and PAYG overflow routing rules, token budgets</a:t>
            </a:r>
          </a:p>
        </p:txBody>
      </p:sp>
      <p:sp>
        <p:nvSpPr>
          <p:cNvPr id="26" name="Rounded Rectangle 25"/>
          <p:cNvSpPr/>
          <p:nvPr/>
        </p:nvSpPr>
        <p:spPr>
          <a:xfrm>
            <a:off x="80162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05 Managed Operations</a:t>
            </a:r>
          </a:p>
          <a:p>
            <a:pPr algn="l"/>
            <a:r>
              <a:rPr sz="1600" b="0" i="0">
                <a:solidFill>
                  <a:srgbClr val="1E1E2E"/>
                </a:solidFill>
                <a:latin typeface="Arial"/>
              </a:rPr>
              <a:t>Monthly usage, utilisation and cost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the assessment delivers and how it is priced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Status chip: NO APPROVED RATES"/>
          <p:cNvSpPr/>
          <p:nvPr/>
        </p:nvSpPr>
        <p:spPr>
          <a:xfrm>
            <a:off x="523367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RATES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9" name="Rounded Rectangle 8"/>
          <p:cNvSpPr/>
          <p:nvPr/>
        </p:nvSpPr>
        <p:spPr>
          <a:xfrm>
            <a:off x="548640" y="1371600"/>
            <a:ext cx="3593592"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Included</a:t>
            </a:r>
          </a:p>
        </p:txBody>
      </p:sp>
      <p:sp>
        <p:nvSpPr>
          <p:cNvPr id="10" name="Rounded Rectangle 9"/>
          <p:cNvSpPr/>
          <p:nvPr/>
        </p:nvSpPr>
        <p:spPr>
          <a:xfrm>
            <a:off x="548640" y="1965960"/>
            <a:ext cx="3593592" cy="2743200"/>
          </a:xfrm>
          <a:prstGeom prst="roundRect">
            <a:avLst>
              <a:gd name="adj" fmla="val 2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Usage telemetry baseline</a:t>
            </a:r>
          </a:p>
          <a:p>
            <a:pPr algn="l" marL="201168" indent="-201168">
              <a:spcAft>
                <a:spcPts val="600"/>
              </a:spcAft>
              <a:buFont typeface="Arial"/>
              <a:buChar char="•"/>
            </a:pPr>
            <a:r>
              <a:rPr sz="1700" b="0" i="0">
                <a:solidFill>
                  <a:srgbClr val="1E1E2E"/>
                </a:solidFill>
                <a:latin typeface="Arial"/>
              </a:rPr>
              <a:t>Workload characterisation</a:t>
            </a:r>
          </a:p>
          <a:p>
            <a:pPr algn="l" marL="201168" indent="-201168">
              <a:spcAft>
                <a:spcPts val="600"/>
              </a:spcAft>
              <a:buFont typeface="Arial"/>
              <a:buChar char="•"/>
            </a:pPr>
            <a:r>
              <a:rPr sz="1700" b="0" i="0">
                <a:solidFill>
                  <a:srgbClr val="1E1E2E"/>
                </a:solidFill>
                <a:latin typeface="Arial"/>
              </a:rPr>
              <a:t>Option models on one cost boundary</a:t>
            </a:r>
          </a:p>
          <a:p>
            <a:pPr algn="l" marL="201168" indent="-201168">
              <a:spcAft>
                <a:spcPts val="600"/>
              </a:spcAft>
              <a:buFont typeface="Arial"/>
              <a:buChar char="•"/>
            </a:pPr>
            <a:r>
              <a:rPr sz="1700" b="0" i="0">
                <a:solidFill>
                  <a:srgbClr val="1E1E2E"/>
                </a:solidFill>
                <a:latin typeface="Arial"/>
              </a:rPr>
              <a:t>Sensitivity and break-even</a:t>
            </a:r>
          </a:p>
          <a:p>
            <a:pPr algn="l" marL="201168" indent="-201168">
              <a:spcAft>
                <a:spcPts val="600"/>
              </a:spcAft>
              <a:buFont typeface="Arial"/>
              <a:buChar char="•"/>
            </a:pPr>
            <a:r>
              <a:rPr sz="1700" b="0" i="0">
                <a:solidFill>
                  <a:srgbClr val="1E1E2E"/>
                </a:solidFill>
                <a:latin typeface="Arial"/>
              </a:rPr>
              <a:t>Decision memo and gates</a:t>
            </a:r>
          </a:p>
        </p:txBody>
      </p:sp>
      <p:sp>
        <p:nvSpPr>
          <p:cNvPr id="11" name="Rounded Rectangle 10"/>
          <p:cNvSpPr/>
          <p:nvPr/>
        </p:nvSpPr>
        <p:spPr>
          <a:xfrm>
            <a:off x="4297679" y="1371600"/>
            <a:ext cx="3593592"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Optional</a:t>
            </a:r>
          </a:p>
        </p:txBody>
      </p:sp>
      <p:sp>
        <p:nvSpPr>
          <p:cNvPr id="12" name="Rounded Rectangle 11"/>
          <p:cNvSpPr/>
          <p:nvPr/>
        </p:nvSpPr>
        <p:spPr>
          <a:xfrm>
            <a:off x="4297679" y="1965960"/>
            <a:ext cx="3593592" cy="2743200"/>
          </a:xfrm>
          <a:prstGeom prst="roundRect">
            <a:avLst>
              <a:gd name="adj" fmla="val 2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Load tests and PTU benchmarks</a:t>
            </a:r>
          </a:p>
          <a:p>
            <a:pPr algn="l" marL="201168" indent="-201168">
              <a:spcAft>
                <a:spcPts val="600"/>
              </a:spcAft>
              <a:buFont typeface="Arial"/>
              <a:buChar char="•"/>
            </a:pPr>
            <a:r>
              <a:rPr sz="1700" b="0" i="0">
                <a:solidFill>
                  <a:srgbClr val="1E1E2E"/>
                </a:solidFill>
                <a:latin typeface="Arial"/>
              </a:rPr>
              <a:t>GPU serving proof of concept</a:t>
            </a:r>
          </a:p>
          <a:p>
            <a:pPr algn="l" marL="201168" indent="-201168">
              <a:spcAft>
                <a:spcPts val="600"/>
              </a:spcAft>
              <a:buFont typeface="Arial"/>
              <a:buChar char="•"/>
            </a:pPr>
            <a:r>
              <a:rPr sz="1700" b="0" i="0">
                <a:solidFill>
                  <a:srgbClr val="1E1E2E"/>
                </a:solidFill>
                <a:latin typeface="Arial"/>
              </a:rPr>
              <a:t>Chargeback design</a:t>
            </a:r>
          </a:p>
          <a:p>
            <a:pPr algn="l" marL="201168" indent="-201168">
              <a:spcAft>
                <a:spcPts val="600"/>
              </a:spcAft>
              <a:buFont typeface="Arial"/>
              <a:buChar char="•"/>
            </a:pPr>
            <a:r>
              <a:rPr sz="1700" b="0" i="0">
                <a:solidFill>
                  <a:srgbClr val="1E1E2E"/>
                </a:solidFill>
                <a:latin typeface="Arial"/>
              </a:rPr>
              <a:t>Monthly review (offering 05)</a:t>
            </a:r>
          </a:p>
        </p:txBody>
      </p:sp>
      <p:sp>
        <p:nvSpPr>
          <p:cNvPr id="13" name="Rounded Rectangle 12"/>
          <p:cNvSpPr/>
          <p:nvPr/>
        </p:nvSpPr>
        <p:spPr>
          <a:xfrm>
            <a:off x="8046719" y="1371600"/>
            <a:ext cx="3593592" cy="548640"/>
          </a:xfrm>
          <a:prstGeom prst="roundRect">
            <a:avLst>
              <a:gd name="adj" fmla="val 1333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Other owners</a:t>
            </a:r>
          </a:p>
        </p:txBody>
      </p:sp>
      <p:sp>
        <p:nvSpPr>
          <p:cNvPr id="14" name="Rounded Rectangle 13"/>
          <p:cNvSpPr/>
          <p:nvPr/>
        </p:nvSpPr>
        <p:spPr>
          <a:xfrm>
            <a:off x="8046719" y="1965960"/>
            <a:ext cx="3593592" cy="2743200"/>
          </a:xfrm>
          <a:prstGeom prst="roundRect">
            <a:avLst>
              <a:gd name="adj" fmla="val 2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AI: usage forecasts, model choice</a:t>
            </a:r>
          </a:p>
          <a:p>
            <a:pPr algn="l" marL="201168" indent="-201168">
              <a:spcAft>
                <a:spcPts val="600"/>
              </a:spcAft>
              <a:buFont typeface="Arial"/>
              <a:buChar char="•"/>
            </a:pPr>
            <a:r>
              <a:rPr sz="1700" b="0" i="0">
                <a:solidFill>
                  <a:srgbClr val="1E1E2E"/>
                </a:solidFill>
                <a:latin typeface="Arial"/>
              </a:rPr>
              <a:t>Finance: commercial treatment</a:t>
            </a:r>
          </a:p>
          <a:p>
            <a:pPr algn="l" marL="201168" indent="-201168">
              <a:spcAft>
                <a:spcPts val="600"/>
              </a:spcAft>
              <a:buFont typeface="Arial"/>
              <a:buChar char="•"/>
            </a:pPr>
            <a:r>
              <a:rPr sz="1700" b="0" i="0">
                <a:solidFill>
                  <a:srgbClr val="1E1E2E"/>
                </a:solidFill>
                <a:latin typeface="Arial"/>
              </a:rPr>
              <a:t>Customer: Microsoft pricing inputs</a:t>
            </a:r>
          </a:p>
          <a:p>
            <a:pPr algn="l" marL="201168" indent="-201168">
              <a:spcAft>
                <a:spcPts val="600"/>
              </a:spcAft>
              <a:buFont typeface="Arial"/>
              <a:buChar char="•"/>
            </a:pPr>
            <a:r>
              <a:rPr sz="1700" b="0" i="0">
                <a:solidFill>
                  <a:srgbClr val="1E1E2E"/>
                </a:solidFill>
                <a:latin typeface="Arial"/>
              </a:rPr>
              <a:t>Procurement: commitments</a:t>
            </a:r>
          </a:p>
        </p:txBody>
      </p:sp>
      <p:sp>
        <p:nvSpPr>
          <p:cNvPr id="15" name="Rounded Rectangle 14"/>
          <p:cNvSpPr/>
          <p:nvPr/>
        </p:nvSpPr>
        <p:spPr>
          <a:xfrm>
            <a:off x="548640" y="4983480"/>
            <a:ext cx="11091672"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Pricing unit: fixed fee per bounded scope (workloads, models, regions). Azure and model spend are customer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usage telemetry feeds the cost model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291840" cy="4343400"/>
          </a:xfrm>
          <a:prstGeom prst="roundRect">
            <a:avLst>
              <a:gd name="adj" fmla="val 2777"/>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3072384" cy="237744"/>
          </a:xfrm>
          <a:prstGeom prst="rect">
            <a:avLst/>
          </a:prstGeom>
          <a:noFill/>
        </p:spPr>
        <p:txBody>
          <a:bodyPr wrap="square" lIns="0" rIns="0" tIns="0" bIns="0" anchor="t">
            <a:noAutofit/>
          </a:bodyPr>
          <a:lstStyle/>
          <a:p>
            <a:pPr algn="l"/>
            <a:r>
              <a:rPr sz="1100" b="1" i="0">
                <a:solidFill>
                  <a:srgbClr val="000048"/>
                </a:solidFill>
                <a:latin typeface="Arial"/>
              </a:rPr>
              <a:t>SOURCES</a:t>
            </a:r>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28800"/>
            <a:ext cx="411480" cy="411480"/>
          </a:xfrm>
          <a:prstGeom prst="rect">
            <a:avLst/>
          </a:prstGeom>
        </p:spPr>
      </p:pic>
      <p:sp>
        <p:nvSpPr>
          <p:cNvPr id="11" name="TextBox 10"/>
          <p:cNvSpPr txBox="1"/>
          <p:nvPr/>
        </p:nvSpPr>
        <p:spPr>
          <a:xfrm>
            <a:off x="1106424" y="1728216"/>
            <a:ext cx="2423159" cy="612648"/>
          </a:xfrm>
          <a:prstGeom prst="rect">
            <a:avLst/>
          </a:prstGeom>
          <a:noFill/>
        </p:spPr>
        <p:txBody>
          <a:bodyPr wrap="square" lIns="0" rIns="0" tIns="0" bIns="0" anchor="ctr">
            <a:noAutofit/>
          </a:bodyPr>
          <a:lstStyle/>
          <a:p>
            <a:pPr algn="l"/>
            <a:r>
              <a:rPr sz="1300" b="1" i="0">
                <a:solidFill>
                  <a:srgbClr val="000048"/>
                </a:solidFill>
                <a:latin typeface="Arial"/>
              </a:rPr>
              <a:t>Gateway token metrics</a:t>
            </a:r>
          </a:p>
          <a:p>
            <a:pPr algn="l"/>
            <a:r>
              <a:rPr sz="1100" b="0" i="0">
                <a:solidFill>
                  <a:srgbClr val="53565A"/>
                </a:solidFill>
                <a:latin typeface="Arial"/>
              </a:rPr>
              <a:t>per caller, agent, model</a:t>
            </a:r>
          </a:p>
        </p:txBody>
      </p:sp>
      <p:pic>
        <p:nvPicPr>
          <p:cNvPr id="12" name="Azure icon: Foundry Models" descr="Official Azure icon: Foundry Model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06040"/>
            <a:ext cx="411480" cy="411480"/>
          </a:xfrm>
          <a:prstGeom prst="rect">
            <a:avLst/>
          </a:prstGeom>
        </p:spPr>
      </p:pic>
      <p:sp>
        <p:nvSpPr>
          <p:cNvPr id="13" name="TextBox 12"/>
          <p:cNvSpPr txBox="1"/>
          <p:nvPr/>
        </p:nvSpPr>
        <p:spPr>
          <a:xfrm>
            <a:off x="1106424" y="2505456"/>
            <a:ext cx="2423159" cy="612648"/>
          </a:xfrm>
          <a:prstGeom prst="rect">
            <a:avLst/>
          </a:prstGeom>
          <a:noFill/>
        </p:spPr>
        <p:txBody>
          <a:bodyPr wrap="square" lIns="0" rIns="0" tIns="0" bIns="0" anchor="ctr">
            <a:noAutofit/>
          </a:bodyPr>
          <a:lstStyle/>
          <a:p>
            <a:pPr algn="l"/>
            <a:r>
              <a:rPr sz="1300" b="1" i="0">
                <a:solidFill>
                  <a:srgbClr val="000048"/>
                </a:solidFill>
                <a:latin typeface="Arial"/>
              </a:rPr>
              <a:t>Deployment metrics</a:t>
            </a:r>
          </a:p>
          <a:p>
            <a:pPr algn="l"/>
            <a:r>
              <a:rPr sz="1100" b="0" i="0">
                <a:solidFill>
                  <a:srgbClr val="53565A"/>
                </a:solidFill>
                <a:latin typeface="Arial"/>
              </a:rPr>
              <a:t>tokens, utilisation, 429s</a:t>
            </a:r>
          </a:p>
        </p:txBody>
      </p:sp>
      <p:pic>
        <p:nvPicPr>
          <p:cNvPr id="14" name="Azure icon: Cost Management" descr="Official Azure icon: Cost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383279"/>
            <a:ext cx="411480" cy="411480"/>
          </a:xfrm>
          <a:prstGeom prst="rect">
            <a:avLst/>
          </a:prstGeom>
        </p:spPr>
      </p:pic>
      <p:sp>
        <p:nvSpPr>
          <p:cNvPr id="15" name="TextBox 14"/>
          <p:cNvSpPr txBox="1"/>
          <p:nvPr/>
        </p:nvSpPr>
        <p:spPr>
          <a:xfrm>
            <a:off x="1106424" y="3282696"/>
            <a:ext cx="2423159" cy="612648"/>
          </a:xfrm>
          <a:prstGeom prst="rect">
            <a:avLst/>
          </a:prstGeom>
          <a:noFill/>
        </p:spPr>
        <p:txBody>
          <a:bodyPr wrap="square" lIns="0" rIns="0" tIns="0" bIns="0" anchor="ctr">
            <a:noAutofit/>
          </a:bodyPr>
          <a:lstStyle/>
          <a:p>
            <a:pPr algn="l"/>
            <a:r>
              <a:rPr sz="1300" b="1" i="0">
                <a:solidFill>
                  <a:srgbClr val="000048"/>
                </a:solidFill>
                <a:latin typeface="Arial"/>
              </a:rPr>
              <a:t>Cost exports</a:t>
            </a:r>
          </a:p>
          <a:p>
            <a:pPr algn="l"/>
            <a:r>
              <a:rPr sz="1100" b="0" i="0">
                <a:solidFill>
                  <a:srgbClr val="53565A"/>
                </a:solidFill>
                <a:latin typeface="Arial"/>
              </a:rPr>
              <a:t>daily actual and amortised</a:t>
            </a:r>
          </a:p>
        </p:txBody>
      </p:sp>
      <p:pic>
        <p:nvPicPr>
          <p:cNvPr id="16" name="Azure icon: Reservations" descr="Official Azure icon: Reservation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160520"/>
            <a:ext cx="411480" cy="411480"/>
          </a:xfrm>
          <a:prstGeom prst="rect">
            <a:avLst/>
          </a:prstGeom>
        </p:spPr>
      </p:pic>
      <p:sp>
        <p:nvSpPr>
          <p:cNvPr id="17" name="TextBox 16"/>
          <p:cNvSpPr txBox="1"/>
          <p:nvPr/>
        </p:nvSpPr>
        <p:spPr>
          <a:xfrm>
            <a:off x="1106424" y="4059936"/>
            <a:ext cx="2423159" cy="612648"/>
          </a:xfrm>
          <a:prstGeom prst="rect">
            <a:avLst/>
          </a:prstGeom>
          <a:noFill/>
        </p:spPr>
        <p:txBody>
          <a:bodyPr wrap="square" lIns="0" rIns="0" tIns="0" bIns="0" anchor="ctr">
            <a:noAutofit/>
          </a:bodyPr>
          <a:lstStyle/>
          <a:p>
            <a:pPr algn="l"/>
            <a:r>
              <a:rPr sz="1300" b="1" i="0">
                <a:solidFill>
                  <a:srgbClr val="000048"/>
                </a:solidFill>
                <a:latin typeface="Arial"/>
              </a:rPr>
              <a:t>Reservations</a:t>
            </a:r>
          </a:p>
          <a:p>
            <a:pPr algn="l"/>
            <a:r>
              <a:rPr sz="1100" b="0" i="0">
                <a:solidFill>
                  <a:srgbClr val="53565A"/>
                </a:solidFill>
                <a:latin typeface="Arial"/>
              </a:rPr>
              <a:t>coverage, utilisation</a:t>
            </a:r>
          </a:p>
        </p:txBody>
      </p:sp>
      <p:pic>
        <p:nvPicPr>
          <p:cNvPr id="18" name="Azure icon: Quotas" descr="Official Azure icon: Quota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937760"/>
            <a:ext cx="411480" cy="411480"/>
          </a:xfrm>
          <a:prstGeom prst="rect">
            <a:avLst/>
          </a:prstGeom>
        </p:spPr>
      </p:pic>
      <p:sp>
        <p:nvSpPr>
          <p:cNvPr id="19" name="TextBox 18"/>
          <p:cNvSpPr txBox="1"/>
          <p:nvPr/>
        </p:nvSpPr>
        <p:spPr>
          <a:xfrm>
            <a:off x="1106424" y="4837176"/>
            <a:ext cx="2423159" cy="612648"/>
          </a:xfrm>
          <a:prstGeom prst="rect">
            <a:avLst/>
          </a:prstGeom>
          <a:noFill/>
        </p:spPr>
        <p:txBody>
          <a:bodyPr wrap="square" lIns="0" rIns="0" tIns="0" bIns="0" anchor="ctr">
            <a:noAutofit/>
          </a:bodyPr>
          <a:lstStyle/>
          <a:p>
            <a:pPr algn="l"/>
            <a:r>
              <a:rPr sz="1300" b="1" i="0">
                <a:solidFill>
                  <a:srgbClr val="000048"/>
                </a:solidFill>
                <a:latin typeface="Arial"/>
              </a:rPr>
              <a:t>Quota</a:t>
            </a:r>
          </a:p>
          <a:p>
            <a:pPr algn="l"/>
            <a:r>
              <a:rPr sz="1100" b="0" i="0">
                <a:solidFill>
                  <a:srgbClr val="53565A"/>
                </a:solidFill>
                <a:latin typeface="Arial"/>
              </a:rPr>
              <a:t>per region and type</a:t>
            </a:r>
          </a:p>
        </p:txBody>
      </p:sp>
      <p:sp>
        <p:nvSpPr>
          <p:cNvPr id="20" name="Rounded Rectangle 19"/>
          <p:cNvSpPr/>
          <p:nvPr/>
        </p:nvSpPr>
        <p:spPr>
          <a:xfrm>
            <a:off x="4343400" y="1920240"/>
            <a:ext cx="210312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Log Analytics workspace" descr="Official Azure icon: Log Analytics workspace"/>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43500" y="1993392"/>
            <a:ext cx="502920" cy="502920"/>
          </a:xfrm>
          <a:prstGeom prst="rect">
            <a:avLst/>
          </a:prstGeom>
        </p:spPr>
      </p:pic>
      <p:sp>
        <p:nvSpPr>
          <p:cNvPr id="22" name="TextBox 21"/>
          <p:cNvSpPr txBox="1"/>
          <p:nvPr/>
        </p:nvSpPr>
        <p:spPr>
          <a:xfrm>
            <a:off x="4379976" y="2532888"/>
            <a:ext cx="2029967" cy="528945"/>
          </a:xfrm>
          <a:prstGeom prst="rect">
            <a:avLst/>
          </a:prstGeom>
          <a:noFill/>
        </p:spPr>
        <p:txBody>
          <a:bodyPr wrap="square" lIns="0" rIns="0" tIns="0" bIns="0" anchor="t">
            <a:noAutofit/>
          </a:bodyPr>
          <a:lstStyle/>
          <a:p>
            <a:pPr algn="ctr"/>
            <a:r>
              <a:rPr sz="1400" b="1" i="0">
                <a:solidFill>
                  <a:srgbClr val="000048"/>
                </a:solidFill>
                <a:latin typeface="Arial"/>
              </a:rPr>
              <a:t>Log Analytics</a:t>
            </a:r>
          </a:p>
          <a:p>
            <a:pPr algn="ctr"/>
            <a:r>
              <a:rPr sz="1100" b="0" i="0">
                <a:solidFill>
                  <a:srgbClr val="53565A"/>
                </a:solidFill>
                <a:latin typeface="Arial"/>
              </a:rPr>
              <a:t>metrics and logs</a:t>
            </a:r>
          </a:p>
        </p:txBody>
      </p:sp>
      <p:sp>
        <p:nvSpPr>
          <p:cNvPr id="23" name="Rounded Rectangle 22"/>
          <p:cNvSpPr/>
          <p:nvPr/>
        </p:nvSpPr>
        <p:spPr>
          <a:xfrm>
            <a:off x="4343400" y="3749039"/>
            <a:ext cx="210312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Storage account" descr="Official Azure icon: Storage account"/>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43500" y="3822191"/>
            <a:ext cx="502920" cy="502920"/>
          </a:xfrm>
          <a:prstGeom prst="rect">
            <a:avLst/>
          </a:prstGeom>
        </p:spPr>
      </p:pic>
      <p:sp>
        <p:nvSpPr>
          <p:cNvPr id="25" name="TextBox 24"/>
          <p:cNvSpPr txBox="1"/>
          <p:nvPr/>
        </p:nvSpPr>
        <p:spPr>
          <a:xfrm>
            <a:off x="4379976" y="4361688"/>
            <a:ext cx="2029967" cy="528945"/>
          </a:xfrm>
          <a:prstGeom prst="rect">
            <a:avLst/>
          </a:prstGeom>
          <a:noFill/>
        </p:spPr>
        <p:txBody>
          <a:bodyPr wrap="square" lIns="0" rIns="0" tIns="0" bIns="0" anchor="t">
            <a:noAutofit/>
          </a:bodyPr>
          <a:lstStyle/>
          <a:p>
            <a:pPr algn="ctr"/>
            <a:r>
              <a:rPr sz="1400" b="1" i="0">
                <a:solidFill>
                  <a:srgbClr val="000048"/>
                </a:solidFill>
                <a:latin typeface="Arial"/>
              </a:rPr>
              <a:t>Storage account</a:t>
            </a:r>
          </a:p>
          <a:p>
            <a:pPr algn="ctr"/>
            <a:r>
              <a:rPr sz="1100" b="0" i="0">
                <a:solidFill>
                  <a:srgbClr val="53565A"/>
                </a:solidFill>
                <a:latin typeface="Arial"/>
              </a:rPr>
              <a:t>cost export files</a:t>
            </a:r>
          </a:p>
        </p:txBody>
      </p:sp>
      <p:sp>
        <p:nvSpPr>
          <p:cNvPr id="26" name="Rounded Rectangle 25"/>
          <p:cNvSpPr/>
          <p:nvPr/>
        </p:nvSpPr>
        <p:spPr>
          <a:xfrm>
            <a:off x="6995160" y="2697480"/>
            <a:ext cx="2103120" cy="1205601"/>
          </a:xfrm>
          <a:prstGeom prst="roundRect">
            <a:avLst>
              <a:gd name="adj" fmla="val 6067"/>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772400" y="2770632"/>
            <a:ext cx="548640" cy="548640"/>
          </a:xfrm>
          <a:prstGeom prst="rect">
            <a:avLst/>
          </a:prstGeom>
        </p:spPr>
      </p:pic>
      <p:sp>
        <p:nvSpPr>
          <p:cNvPr id="28" name="TextBox 27"/>
          <p:cNvSpPr txBox="1"/>
          <p:nvPr/>
        </p:nvSpPr>
        <p:spPr>
          <a:xfrm>
            <a:off x="7031736" y="3355848"/>
            <a:ext cx="2029967" cy="528945"/>
          </a:xfrm>
          <a:prstGeom prst="rect">
            <a:avLst/>
          </a:prstGeom>
          <a:noFill/>
        </p:spPr>
        <p:txBody>
          <a:bodyPr wrap="square" lIns="0" rIns="0" tIns="0" bIns="0" anchor="t">
            <a:noAutofit/>
          </a:bodyPr>
          <a:lstStyle/>
          <a:p>
            <a:pPr algn="ctr"/>
            <a:r>
              <a:rPr sz="1400" b="1" i="0">
                <a:solidFill>
                  <a:srgbClr val="000048"/>
                </a:solidFill>
                <a:latin typeface="Arial"/>
              </a:rPr>
              <a:t>Cost model</a:t>
            </a:r>
          </a:p>
          <a:p>
            <a:pPr algn="ctr"/>
            <a:r>
              <a:rPr sz="1100" b="0" i="0">
                <a:solidFill>
                  <a:srgbClr val="53565A"/>
                </a:solidFill>
                <a:latin typeface="Arial"/>
              </a:rPr>
              <a:t>workbook or notebook, custom</a:t>
            </a:r>
          </a:p>
        </p:txBody>
      </p:sp>
      <p:sp>
        <p:nvSpPr>
          <p:cNvPr id="29" name="Rounded Rectangle 28"/>
          <p:cNvSpPr/>
          <p:nvPr/>
        </p:nvSpPr>
        <p:spPr>
          <a:xfrm>
            <a:off x="9601200" y="2514600"/>
            <a:ext cx="2057400" cy="1463040"/>
          </a:xfrm>
          <a:prstGeom prst="roundRect">
            <a:avLst>
              <a:gd name="adj" fmla="val 5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Decision memo</a:t>
            </a:r>
          </a:p>
          <a:p>
            <a:pPr algn="ctr"/>
            <a:r>
              <a:rPr sz="1200" b="0" i="0">
                <a:solidFill>
                  <a:srgbClr val="53565A"/>
                </a:solidFill>
                <a:latin typeface="Arial"/>
              </a:rPr>
              <a:t>options, break-even, gates, approvals</a:t>
            </a:r>
          </a:p>
        </p:txBody>
      </p:sp>
      <p:cxnSp>
        <p:nvCxnSpPr>
          <p:cNvPr id="30" name="Connector (telemetry)"/>
          <p:cNvCxnSpPr/>
          <p:nvPr/>
        </p:nvCxnSpPr>
        <p:spPr>
          <a:xfrm>
            <a:off x="3703320" y="2084832"/>
            <a:ext cx="640080" cy="2926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telemetry)"/>
          <p:cNvCxnSpPr/>
          <p:nvPr/>
        </p:nvCxnSpPr>
        <p:spPr>
          <a:xfrm flipV="1">
            <a:off x="3703320" y="2377440"/>
            <a:ext cx="640080" cy="48463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3703320" y="3639312"/>
            <a:ext cx="640080" cy="56692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telemetry)"/>
          <p:cNvCxnSpPr/>
          <p:nvPr/>
        </p:nvCxnSpPr>
        <p:spPr>
          <a:xfrm flipV="1">
            <a:off x="3703320" y="4206240"/>
            <a:ext cx="640080" cy="21031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telemetry)"/>
          <p:cNvCxnSpPr/>
          <p:nvPr/>
        </p:nvCxnSpPr>
        <p:spPr>
          <a:xfrm flipV="1">
            <a:off x="3703320" y="4206240"/>
            <a:ext cx="640080" cy="98755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6446520" y="2468880"/>
            <a:ext cx="548640" cy="5943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6446520" y="3520440"/>
            <a:ext cx="548640" cy="6858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9098280" y="324612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4343400" y="519379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818888" y="5074920"/>
            <a:ext cx="17830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0" name="Connector (telemetry)"/>
          <p:cNvCxnSpPr/>
          <p:nvPr/>
        </p:nvCxnSpPr>
        <p:spPr>
          <a:xfrm>
            <a:off x="6629400" y="519379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104888" y="5074920"/>
            <a:ext cx="1783080"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42" name="TextBox 41"/>
          <p:cNvSpPr txBox="1"/>
          <p:nvPr/>
        </p:nvSpPr>
        <p:spPr>
          <a:xfrm>
            <a:off x="9052560" y="5074920"/>
            <a:ext cx="265176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a:t>
            </a:r>
          </a:p>
        </p:txBody>
      </p:sp>
      <p:sp>
        <p:nvSpPr>
          <p:cNvPr id="43" name="TextBox 42"/>
          <p:cNvSpPr txBox="1"/>
          <p:nvPr/>
        </p:nvSpPr>
        <p:spPr>
          <a:xfrm>
            <a:off x="548640" y="594360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 framework: four capacity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FRAMEWORK"/>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100" b="1" i="0">
                <a:solidFill>
                  <a:srgbClr val="FFFFFF"/>
                </a:solidFill>
                <a:latin typeface="Arial"/>
              </a:rPr>
              <a:t>PAYG</a:t>
            </a:r>
          </a:p>
        </p:txBody>
      </p:sp>
      <p:sp>
        <p:nvSpPr>
          <p:cNvPr id="9" name="TextBox 8"/>
          <p:cNvSpPr txBox="1"/>
          <p:nvPr/>
        </p:nvSpPr>
        <p:spPr>
          <a:xfrm>
            <a:off x="548640" y="2194560"/>
            <a:ext cx="2679192" cy="274320"/>
          </a:xfrm>
          <a:prstGeom prst="rect">
            <a:avLst/>
          </a:prstGeom>
          <a:noFill/>
        </p:spPr>
        <p:txBody>
          <a:bodyPr wrap="square" lIns="0" rIns="0" tIns="0" bIns="0" anchor="t">
            <a:noAutofit/>
          </a:bodyPr>
          <a:lstStyle/>
          <a:p>
            <a:pPr algn="l"/>
            <a:r>
              <a:rPr sz="1400" b="1" i="0">
                <a:solidFill>
                  <a:srgbClr val="2F78C4"/>
                </a:solidFill>
                <a:latin typeface="Arial"/>
              </a:rPr>
              <a:t>Use when</a:t>
            </a:r>
          </a:p>
        </p:txBody>
      </p:sp>
      <p:sp>
        <p:nvSpPr>
          <p:cNvPr id="10" name="TextBox 9"/>
          <p:cNvSpPr txBox="1"/>
          <p:nvPr/>
        </p:nvSpPr>
        <p:spPr>
          <a:xfrm>
            <a:off x="548640" y="2487168"/>
            <a:ext cx="2679192" cy="1371600"/>
          </a:xfrm>
          <a:prstGeom prst="rect">
            <a:avLst/>
          </a:prstGeom>
          <a:noFill/>
        </p:spPr>
        <p:txBody>
          <a:bodyPr wrap="square" lIns="0" rIns="0" tIns="0" bIns="0" anchor="t">
            <a:noAutofit/>
          </a:bodyPr>
          <a:lstStyle/>
          <a:p>
            <a:pPr algn="l"/>
            <a:r>
              <a:rPr sz="1700" b="0" i="0">
                <a:solidFill>
                  <a:srgbClr val="1E1E2E"/>
                </a:solidFill>
                <a:latin typeface="Arial"/>
              </a:rPr>
              <a:t>Uncertain, variable or early demand</a:t>
            </a:r>
          </a:p>
        </p:txBody>
      </p:sp>
      <p:sp>
        <p:nvSpPr>
          <p:cNvPr id="11" name="Rounded Rectangle 10"/>
          <p:cNvSpPr/>
          <p:nvPr/>
        </p:nvSpPr>
        <p:spPr>
          <a:xfrm>
            <a:off x="548640" y="3931920"/>
            <a:ext cx="2679192" cy="1371600"/>
          </a:xfrm>
          <a:prstGeom prst="roundRect">
            <a:avLst>
              <a:gd name="adj" fmla="val 5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8A4B08"/>
                </a:solidFill>
                <a:latin typeface="Arial"/>
              </a:rPr>
              <a:t>Main risk</a:t>
            </a:r>
          </a:p>
          <a:p>
            <a:pPr algn="l"/>
            <a:r>
              <a:rPr sz="1600" b="0" i="0">
                <a:solidFill>
                  <a:srgbClr val="1E1E2E"/>
                </a:solidFill>
                <a:latin typeface="Arial"/>
              </a:rPr>
              <a:t>Per-token cost; throttling risk at peaks</a:t>
            </a:r>
          </a:p>
        </p:txBody>
      </p:sp>
      <p:sp>
        <p:nvSpPr>
          <p:cNvPr id="12" name="Rounded Rectangle 11"/>
          <p:cNvSpPr/>
          <p:nvPr/>
        </p:nvSpPr>
        <p:spPr>
          <a:xfrm>
            <a:off x="3364992"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100" b="1" i="0">
                <a:solidFill>
                  <a:srgbClr val="FFFFFF"/>
                </a:solidFill>
                <a:latin typeface="Arial"/>
              </a:rPr>
              <a:t>PTU</a:t>
            </a:r>
          </a:p>
        </p:txBody>
      </p:sp>
      <p:sp>
        <p:nvSpPr>
          <p:cNvPr id="13" name="TextBox 12"/>
          <p:cNvSpPr txBox="1"/>
          <p:nvPr/>
        </p:nvSpPr>
        <p:spPr>
          <a:xfrm>
            <a:off x="3364992" y="2194560"/>
            <a:ext cx="2679192" cy="274320"/>
          </a:xfrm>
          <a:prstGeom prst="rect">
            <a:avLst/>
          </a:prstGeom>
          <a:noFill/>
        </p:spPr>
        <p:txBody>
          <a:bodyPr wrap="square" lIns="0" rIns="0" tIns="0" bIns="0" anchor="t">
            <a:noAutofit/>
          </a:bodyPr>
          <a:lstStyle/>
          <a:p>
            <a:pPr algn="l"/>
            <a:r>
              <a:rPr sz="1400" b="1" i="0">
                <a:solidFill>
                  <a:srgbClr val="2F78C4"/>
                </a:solidFill>
                <a:latin typeface="Arial"/>
              </a:rPr>
              <a:t>Use when</a:t>
            </a:r>
          </a:p>
        </p:txBody>
      </p:sp>
      <p:sp>
        <p:nvSpPr>
          <p:cNvPr id="14" name="TextBox 13"/>
          <p:cNvSpPr txBox="1"/>
          <p:nvPr/>
        </p:nvSpPr>
        <p:spPr>
          <a:xfrm>
            <a:off x="3364992" y="2487168"/>
            <a:ext cx="2679192" cy="1371600"/>
          </a:xfrm>
          <a:prstGeom prst="rect">
            <a:avLst/>
          </a:prstGeom>
          <a:noFill/>
        </p:spPr>
        <p:txBody>
          <a:bodyPr wrap="square" lIns="0" rIns="0" tIns="0" bIns="0" anchor="t">
            <a:noAutofit/>
          </a:bodyPr>
          <a:lstStyle/>
          <a:p>
            <a:pPr algn="l"/>
            <a:r>
              <a:rPr sz="1700" b="0" i="0">
                <a:solidFill>
                  <a:srgbClr val="1E1E2E"/>
                </a:solidFill>
                <a:latin typeface="Arial"/>
              </a:rPr>
              <a:t>Measured, sustained load needing latency targets</a:t>
            </a:r>
          </a:p>
        </p:txBody>
      </p:sp>
      <p:sp>
        <p:nvSpPr>
          <p:cNvPr id="15" name="Rounded Rectangle 14"/>
          <p:cNvSpPr/>
          <p:nvPr/>
        </p:nvSpPr>
        <p:spPr>
          <a:xfrm>
            <a:off x="3364992" y="3931920"/>
            <a:ext cx="2679192" cy="1371600"/>
          </a:xfrm>
          <a:prstGeom prst="roundRect">
            <a:avLst>
              <a:gd name="adj" fmla="val 5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8A4B08"/>
                </a:solidFill>
                <a:latin typeface="Arial"/>
              </a:rPr>
              <a:t>Main risk</a:t>
            </a:r>
          </a:p>
          <a:p>
            <a:pPr algn="l"/>
            <a:r>
              <a:rPr sz="1600" b="0" i="0">
                <a:solidFill>
                  <a:srgbClr val="1E1E2E"/>
                </a:solidFill>
                <a:latin typeface="Arial"/>
              </a:rPr>
              <a:t>Commitment and model-lifecycle risk</a:t>
            </a:r>
          </a:p>
        </p:txBody>
      </p:sp>
      <p:sp>
        <p:nvSpPr>
          <p:cNvPr id="16" name="Rounded Rectangle 15"/>
          <p:cNvSpPr/>
          <p:nvPr/>
        </p:nvSpPr>
        <p:spPr>
          <a:xfrm>
            <a:off x="6181344"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100" b="1" i="0">
                <a:solidFill>
                  <a:srgbClr val="FFFFFF"/>
                </a:solidFill>
                <a:latin typeface="Arial"/>
              </a:rPr>
              <a:t>Hybrid</a:t>
            </a:r>
          </a:p>
        </p:txBody>
      </p:sp>
      <p:sp>
        <p:nvSpPr>
          <p:cNvPr id="17" name="TextBox 16"/>
          <p:cNvSpPr txBox="1"/>
          <p:nvPr/>
        </p:nvSpPr>
        <p:spPr>
          <a:xfrm>
            <a:off x="6181344" y="2194560"/>
            <a:ext cx="2679192" cy="274320"/>
          </a:xfrm>
          <a:prstGeom prst="rect">
            <a:avLst/>
          </a:prstGeom>
          <a:noFill/>
        </p:spPr>
        <p:txBody>
          <a:bodyPr wrap="square" lIns="0" rIns="0" tIns="0" bIns="0" anchor="t">
            <a:noAutofit/>
          </a:bodyPr>
          <a:lstStyle/>
          <a:p>
            <a:pPr algn="l"/>
            <a:r>
              <a:rPr sz="1400" b="1" i="0">
                <a:solidFill>
                  <a:srgbClr val="2F78C4"/>
                </a:solidFill>
                <a:latin typeface="Arial"/>
              </a:rPr>
              <a:t>Use when</a:t>
            </a:r>
          </a:p>
        </p:txBody>
      </p:sp>
      <p:sp>
        <p:nvSpPr>
          <p:cNvPr id="18" name="TextBox 17"/>
          <p:cNvSpPr txBox="1"/>
          <p:nvPr/>
        </p:nvSpPr>
        <p:spPr>
          <a:xfrm>
            <a:off x="6181344" y="2487168"/>
            <a:ext cx="2679192" cy="1371600"/>
          </a:xfrm>
          <a:prstGeom prst="rect">
            <a:avLst/>
          </a:prstGeom>
          <a:noFill/>
        </p:spPr>
        <p:txBody>
          <a:bodyPr wrap="square" lIns="0" rIns="0" tIns="0" bIns="0" anchor="t">
            <a:noAutofit/>
          </a:bodyPr>
          <a:lstStyle/>
          <a:p>
            <a:pPr algn="l"/>
            <a:r>
              <a:rPr sz="1700" b="0" i="0">
                <a:solidFill>
                  <a:srgbClr val="1E1E2E"/>
                </a:solidFill>
                <a:latin typeface="Arial"/>
              </a:rPr>
              <a:t>Established baseline plus governed overflow</a:t>
            </a:r>
          </a:p>
        </p:txBody>
      </p:sp>
      <p:sp>
        <p:nvSpPr>
          <p:cNvPr id="19" name="Rounded Rectangle 18"/>
          <p:cNvSpPr/>
          <p:nvPr/>
        </p:nvSpPr>
        <p:spPr>
          <a:xfrm>
            <a:off x="6181344" y="3931920"/>
            <a:ext cx="2679192" cy="1371600"/>
          </a:xfrm>
          <a:prstGeom prst="roundRect">
            <a:avLst>
              <a:gd name="adj" fmla="val 5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8A4B08"/>
                </a:solidFill>
                <a:latin typeface="Arial"/>
              </a:rPr>
              <a:t>Main risk</a:t>
            </a:r>
          </a:p>
          <a:p>
            <a:pPr algn="l"/>
            <a:r>
              <a:rPr sz="1600" b="0" i="0">
                <a:solidFill>
                  <a:srgbClr val="1E1E2E"/>
                </a:solidFill>
                <a:latin typeface="Arial"/>
              </a:rPr>
              <a:t>Overflow spend; two configs to run</a:t>
            </a:r>
          </a:p>
        </p:txBody>
      </p:sp>
      <p:sp>
        <p:nvSpPr>
          <p:cNvPr id="20" name="Rounded Rectangle 19"/>
          <p:cNvSpPr/>
          <p:nvPr/>
        </p:nvSpPr>
        <p:spPr>
          <a:xfrm>
            <a:off x="8997696" y="1371600"/>
            <a:ext cx="2679192" cy="685800"/>
          </a:xfrm>
          <a:prstGeom prst="roundRect">
            <a:avLst>
              <a:gd name="adj" fmla="val 10666"/>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100" b="1" i="0">
                <a:solidFill>
                  <a:srgbClr val="FFFFFF"/>
                </a:solidFill>
                <a:latin typeface="Arial"/>
              </a:rPr>
              <a:t>Self-hosted GPU</a:t>
            </a:r>
          </a:p>
        </p:txBody>
      </p:sp>
      <p:sp>
        <p:nvSpPr>
          <p:cNvPr id="21" name="TextBox 20"/>
          <p:cNvSpPr txBox="1"/>
          <p:nvPr/>
        </p:nvSpPr>
        <p:spPr>
          <a:xfrm>
            <a:off x="8997696" y="2194560"/>
            <a:ext cx="2679192" cy="274320"/>
          </a:xfrm>
          <a:prstGeom prst="rect">
            <a:avLst/>
          </a:prstGeom>
          <a:noFill/>
        </p:spPr>
        <p:txBody>
          <a:bodyPr wrap="square" lIns="0" rIns="0" tIns="0" bIns="0" anchor="t">
            <a:noAutofit/>
          </a:bodyPr>
          <a:lstStyle/>
          <a:p>
            <a:pPr algn="l"/>
            <a:r>
              <a:rPr sz="1400" b="1" i="0">
                <a:solidFill>
                  <a:srgbClr val="2F78C4"/>
                </a:solidFill>
                <a:latin typeface="Arial"/>
              </a:rPr>
              <a:t>Use when</a:t>
            </a:r>
          </a:p>
        </p:txBody>
      </p:sp>
      <p:sp>
        <p:nvSpPr>
          <p:cNvPr id="22" name="TextBox 21"/>
          <p:cNvSpPr txBox="1"/>
          <p:nvPr/>
        </p:nvSpPr>
        <p:spPr>
          <a:xfrm>
            <a:off x="8997696" y="2487168"/>
            <a:ext cx="2679192" cy="1371600"/>
          </a:xfrm>
          <a:prstGeom prst="rect">
            <a:avLst/>
          </a:prstGeom>
          <a:noFill/>
        </p:spPr>
        <p:txBody>
          <a:bodyPr wrap="square" lIns="0" rIns="0" tIns="0" bIns="0" anchor="t">
            <a:noAutofit/>
          </a:bodyPr>
          <a:lstStyle/>
          <a:p>
            <a:pPr algn="l"/>
            <a:r>
              <a:rPr sz="1700" b="0" i="0">
                <a:solidFill>
                  <a:srgbClr val="1E1E2E"/>
                </a:solidFill>
                <a:latin typeface="Arial"/>
              </a:rPr>
              <a:t>Model, data or control needs PaaS cannot meet</a:t>
            </a:r>
          </a:p>
        </p:txBody>
      </p:sp>
      <p:sp>
        <p:nvSpPr>
          <p:cNvPr id="23" name="Rounded Rectangle 22"/>
          <p:cNvSpPr/>
          <p:nvPr/>
        </p:nvSpPr>
        <p:spPr>
          <a:xfrm>
            <a:off x="8997696" y="3931920"/>
            <a:ext cx="2679192" cy="1371600"/>
          </a:xfrm>
          <a:prstGeom prst="roundRect">
            <a:avLst>
              <a:gd name="adj" fmla="val 5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8A4B08"/>
                </a:solidFill>
                <a:latin typeface="Arial"/>
              </a:rPr>
              <a:t>Main risk</a:t>
            </a:r>
          </a:p>
          <a:p>
            <a:pPr algn="l"/>
            <a:r>
              <a:rPr sz="1600" b="0" i="0">
                <a:solidFill>
                  <a:srgbClr val="1E1E2E"/>
                </a:solidFill>
                <a:latin typeface="Arial"/>
              </a:rPr>
              <a:t>Operating burden; engineering and patching</a:t>
            </a:r>
          </a:p>
        </p:txBody>
      </p:sp>
      <p:sp>
        <p:nvSpPr>
          <p:cNvPr id="24" name="Rounded Rectangle 23"/>
          <p:cNvSpPr/>
          <p:nvPr/>
        </p:nvSpPr>
        <p:spPr>
          <a:xfrm>
            <a:off x="548640" y="553212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Gate to PTU or GPU: measured traffic, benchmark, customer pricing, model lifecycle check and Finance approval.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the reservation price decides PTU</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ILLUSTRATIVE WORKLOAD"/>
          <p:cNvSpPr/>
          <p:nvPr/>
        </p:nvSpPr>
        <p:spPr>
          <a:xfrm>
            <a:off x="3658870" y="274320"/>
            <a:ext cx="20878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WORKLOAD</a:t>
            </a:r>
          </a:p>
        </p:txBody>
      </p:sp>
      <p:sp>
        <p:nvSpPr>
          <p:cNvPr id="6" name="Status chip: VERIFIED LIST PRICES"/>
          <p:cNvSpPr/>
          <p:nvPr/>
        </p:nvSpPr>
        <p:spPr>
          <a:xfrm>
            <a:off x="583819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LIST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9" name="Chart"/>
          <p:cNvGraphicFramePr>
            <a:graphicFrameLocks noGrp="1"/>
          </p:cNvGraphicFramePr>
          <p:nvPr/>
        </p:nvGraphicFramePr>
        <p:xfrm>
          <a:off x="548640" y="1371600"/>
          <a:ext cx="6949440" cy="4206240"/>
        </p:xfrm>
        <a:graphic>
          <a:graphicData uri="http://schemas.openxmlformats.org/drawingml/2006/chart">
            <c:chart xmlns:c="http://schemas.openxmlformats.org/drawingml/2006/chart" r:id="rId4"/>
          </a:graphicData>
        </a:graphic>
      </p:graphicFrame>
      <p:sp>
        <p:nvSpPr>
          <p:cNvPr id="10" name="Rounded Rectangle 9"/>
          <p:cNvSpPr/>
          <p:nvPr/>
        </p:nvSpPr>
        <p:spPr>
          <a:xfrm>
            <a:off x="7772400" y="1371600"/>
            <a:ext cx="3867912" cy="4206240"/>
          </a:xfrm>
          <a:prstGeom prst="roundRect">
            <a:avLst>
              <a:gd name="adj" fmla="val 189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600"/>
              </a:spcAft>
            </a:pPr>
            <a:r>
              <a:rPr sz="1700" b="1" i="0">
                <a:solidFill>
                  <a:srgbClr val="000048"/>
                </a:solidFill>
                <a:latin typeface="Arial"/>
              </a:rPr>
              <a:t>Break-even PTU price</a:t>
            </a:r>
          </a:p>
          <a:p>
            <a:pPr algn="l"/>
            <a:r>
              <a:rPr sz="3000" b="1" i="0">
                <a:solidFill>
                  <a:srgbClr val="000048"/>
                </a:solidFill>
                <a:latin typeface="Arial"/>
              </a:rPr>
              <a:t>$165</a:t>
            </a:r>
            <a:r>
              <a:rPr sz="1400" b="0" i="0">
                <a:solidFill>
                  <a:srgbClr val="53565A"/>
                </a:solidFill>
                <a:latin typeface="Arial"/>
              </a:rPr>
              <a:t>  peak-sized</a:t>
            </a:r>
          </a:p>
          <a:p>
            <a:pPr algn="l">
              <a:spcAft>
                <a:spcPts val="800"/>
              </a:spcAft>
            </a:pPr>
            <a:r>
              <a:rPr sz="3000" b="1" i="0">
                <a:solidFill>
                  <a:srgbClr val="7373D8"/>
                </a:solidFill>
                <a:latin typeface="Arial"/>
              </a:rPr>
              <a:t>$216</a:t>
            </a:r>
            <a:r>
              <a:rPr sz="1400" b="0" i="0">
                <a:solidFill>
                  <a:srgbClr val="53565A"/>
                </a:solidFill>
                <a:latin typeface="Arial"/>
              </a:rPr>
              <a:t>  hybrid</a:t>
            </a:r>
          </a:p>
          <a:p>
            <a:pPr algn="l"/>
            <a:r>
              <a:rPr sz="1500" b="0" i="0">
                <a:solidFill>
                  <a:srgbClr val="1E1E2E"/>
                </a:solidFill>
                <a:latin typeface="Arial"/>
              </a:rPr>
              <a:t>per PTU-month, versus $730 at the hourly list price. PTU only wins if the customer’s reservation price is below these lines.</a:t>
            </a:r>
          </a:p>
        </p:txBody>
      </p:sp>
      <p:sp>
        <p:nvSpPr>
          <p:cNvPr id="11" name="Rounded Rectangle 10"/>
          <p:cNvSpPr/>
          <p:nvPr/>
        </p:nvSpPr>
        <p:spPr>
          <a:xfrm>
            <a:off x="548640" y="57607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Assumed workload, PAYG $88,991 a month. Not a recommendation. Reservation prices come from the customer agreement.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Dependencies and risks that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graphicFrame>
        <p:nvGraphicFramePr>
          <p:cNvPr id="7" name="Table"/>
          <p:cNvGraphicFramePr>
            <a:graphicFrameLocks noGrp="1"/>
          </p:cNvGraphicFramePr>
          <p:nvPr/>
        </p:nvGraphicFramePr>
        <p:xfrm>
          <a:off x="548640" y="1371600"/>
          <a:ext cx="11091672" cy="2743200"/>
        </p:xfrm>
        <a:graphic>
          <a:graphicData uri="http://schemas.openxmlformats.org/drawingml/2006/table">
            <a:tbl>
              <a:tblPr firstRow="1" bandRow="0">
                <a:tableStyleId>{5C22544A-7EE6-4342-B048-85BDC9FD1C3A}</a:tableStyleId>
              </a:tblPr>
              <a:tblGrid>
                <a:gridCol w="2926080"/>
                <a:gridCol w="2468880"/>
                <a:gridCol w="3383280"/>
                <a:gridCol w="2313432"/>
              </a:tblGrid>
              <a:tr h="335280">
                <a:tc>
                  <a:txBody>
                    <a:bodyPr wrap="square" anchor="ctr">
                      <a:noAutofit/>
                    </a:bodyPr>
                    <a:lstStyle/>
                    <a:p>
                      <a:pPr algn="l"/>
                      <a:r>
                        <a:rPr sz="1600" b="1" i="0">
                          <a:solidFill>
                            <a:srgbClr val="FFFFFF"/>
                          </a:solidFill>
                          <a:latin typeface="Arial"/>
                        </a:rPr>
                        <a:t>Risk or dependency</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Effect if unmanaged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Owner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No measured traffic</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Sizing is guesswork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Pilot telemetry or load test first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AI with 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Reservation price unknown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Wrong break-even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Obtain customer agreement price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procurement</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Model retires mid-commitment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Re-benchmark and re-size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Check retirement dates; short terms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AI tower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Quota without capacity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Deployment fails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Create deployment, then reserve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Agent loop amplification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Tokens per task explode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Loop limits; per-agent budgets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AI with offering 02</a:t>
                      </a:r>
                    </a:p>
                  </a:txBody>
                  <a:tcPr marL="73152" marR="73152" marT="36576" marB="36576"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success is measured, and what to decide now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TO AGREE"/>
          <p:cNvSpPr/>
          <p:nvPr/>
        </p:nvSpPr>
        <p:spPr>
          <a:xfrm>
            <a:off x="375666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TO AGREE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graphicFrame>
        <p:nvGraphicFramePr>
          <p:cNvPr id="8" name="Table"/>
          <p:cNvGraphicFramePr>
            <a:graphicFrameLocks noGrp="1"/>
          </p:cNvGraphicFramePr>
          <p:nvPr/>
        </p:nvGraphicFramePr>
        <p:xfrm>
          <a:off x="548640" y="1371600"/>
          <a:ext cx="6035040" cy="2011680"/>
        </p:xfrm>
        <a:graphic>
          <a:graphicData uri="http://schemas.openxmlformats.org/drawingml/2006/table">
            <a:tbl>
              <a:tblPr firstRow="1" bandRow="0">
                <a:tableStyleId>{5C22544A-7EE6-4342-B048-85BDC9FD1C3A}</a:tableStyleId>
              </a:tblPr>
              <a:tblGrid>
                <a:gridCol w="1920240"/>
                <a:gridCol w="4114800"/>
              </a:tblGrid>
              <a:tr h="335280">
                <a:tc>
                  <a:txBody>
                    <a:bodyPr wrap="square" anchor="ctr">
                      <a:noAutofit/>
                    </a:bodyPr>
                    <a:lstStyle/>
                    <a:p>
                      <a:pPr algn="l"/>
                      <a:r>
                        <a:rPr sz="1600" b="1" i="0">
                          <a:solidFill>
                            <a:srgbClr val="FFFFFF"/>
                          </a:solidFill>
                          <a:latin typeface="Arial"/>
                        </a:rPr>
                        <a:t>Measure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Definition</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Unit cost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Cost per useful task, by workload</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Forecast error</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Forecast versus actual monthly spend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Utilisation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PTU or GPU used versus paid for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Throttling</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Share of calls returning 429</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Spend attributed to an owner</a:t>
                      </a:r>
                    </a:p>
                  </a:txBody>
                  <a:tcPr marL="73152" marR="73152" marT="36576" marB="36576" anchor="ctr">
                    <a:solidFill>
                      <a:srgbClr val="FFFFFF"/>
                    </a:solidFill>
                  </a:tcPr>
                </a:tc>
              </a:tr>
            </a:tbl>
          </a:graphicData>
        </a:graphic>
      </p:graphicFrame>
      <p:sp>
        <p:nvSpPr>
          <p:cNvPr id="9" name="Rounded Rectangle 8"/>
          <p:cNvSpPr/>
          <p:nvPr/>
        </p:nvSpPr>
        <p:spPr>
          <a:xfrm>
            <a:off x="6903720" y="1371600"/>
            <a:ext cx="4736592"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Decide now</a:t>
            </a:r>
          </a:p>
        </p:txBody>
      </p:sp>
      <p:sp>
        <p:nvSpPr>
          <p:cNvPr id="10" name="TextBox 9"/>
          <p:cNvSpPr txBox="1"/>
          <p:nvPr/>
        </p:nvSpPr>
        <p:spPr>
          <a:xfrm>
            <a:off x="6903720" y="1965960"/>
            <a:ext cx="4736592" cy="146304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Assessment as the entry offer</a:t>
            </a:r>
          </a:p>
          <a:p>
            <a:pPr algn="l" marL="201168" indent="-201168">
              <a:spcAft>
                <a:spcPts val="400"/>
              </a:spcAft>
              <a:buFont typeface="Arial"/>
              <a:buChar char="•"/>
            </a:pPr>
            <a:r>
              <a:rPr sz="1700" b="0" i="0">
                <a:solidFill>
                  <a:srgbClr val="1E1E2E"/>
                </a:solidFill>
                <a:latin typeface="Arial"/>
              </a:rPr>
              <a:t>Rule: no commitment advice without data</a:t>
            </a:r>
          </a:p>
        </p:txBody>
      </p:sp>
      <p:sp>
        <p:nvSpPr>
          <p:cNvPr id="11" name="Rounded Rectangle 10"/>
          <p:cNvSpPr/>
          <p:nvPr/>
        </p:nvSpPr>
        <p:spPr>
          <a:xfrm>
            <a:off x="6903720" y="3337560"/>
            <a:ext cx="4736592" cy="502920"/>
          </a:xfrm>
          <a:prstGeom prst="roundRect">
            <a:avLst>
              <a:gd name="adj" fmla="val 14545"/>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After evidence or approval</a:t>
            </a:r>
          </a:p>
        </p:txBody>
      </p:sp>
      <p:sp>
        <p:nvSpPr>
          <p:cNvPr id="12" name="TextBox 11"/>
          <p:cNvSpPr txBox="1"/>
          <p:nvPr/>
        </p:nvSpPr>
        <p:spPr>
          <a:xfrm>
            <a:off x="6903720" y="3931920"/>
            <a:ext cx="4736592" cy="182880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Fixed fee level (Finance)</a:t>
            </a:r>
          </a:p>
          <a:p>
            <a:pPr algn="l" marL="201168" indent="-201168">
              <a:spcAft>
                <a:spcPts val="400"/>
              </a:spcAft>
              <a:buFont typeface="Arial"/>
              <a:buChar char="•"/>
            </a:pPr>
            <a:r>
              <a:rPr sz="1700" b="0" i="0">
                <a:solidFill>
                  <a:srgbClr val="1E1E2E"/>
                </a:solidFill>
                <a:latin typeface="Arial"/>
              </a:rPr>
              <a:t>Benchmark tooling (pilot)</a:t>
            </a:r>
          </a:p>
          <a:p>
            <a:pPr algn="l" marL="201168" indent="-201168">
              <a:spcAft>
                <a:spcPts val="400"/>
              </a:spcAft>
              <a:buFont typeface="Arial"/>
              <a:buChar char="•"/>
            </a:pPr>
            <a:r>
              <a:rPr sz="1700" b="0" i="0">
                <a:solidFill>
                  <a:srgbClr val="1E1E2E"/>
                </a:solidFill>
                <a:latin typeface="Arial"/>
              </a:rPr>
              <a:t>GPU proof of concept (AI tower)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Decision criteria, demand inputs, PTU sizing, lifecycle risk, worked example, sensitivity, GPU economics, telemetry, RACI, attribution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Decision criteria (detailed)</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Demand and workload inputs</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Token amplification</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Quota versus capacity versus reservation</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PTU sizing method</a:t>
            </a:r>
          </a:p>
        </p:txBody>
      </p:sp>
      <p:sp>
        <p:nvSpPr>
          <p:cNvPr id="12" name="TextBox 11">
            <a:hlinkClick action="ppaction://hlinksldjump" r:id="rId9"/>
          </p:cNvPr>
          <p:cNvSpPr txBox="1"/>
          <p:nvPr/>
        </p:nvSpPr>
        <p:spPr>
          <a:xfrm>
            <a:off x="54864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Model lifecycle and commitment risk</a:t>
            </a:r>
          </a:p>
        </p:txBody>
      </p:sp>
      <p:sp>
        <p:nvSpPr>
          <p:cNvPr id="13" name="TextBox 12">
            <a:hlinkClick action="ppaction://hlinksldjump" r:id="rId10"/>
          </p:cNvPr>
          <p:cNvSpPr txBox="1"/>
          <p:nvPr/>
        </p:nvSpPr>
        <p:spPr>
          <a:xfrm>
            <a:off x="54864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Coverage versus utilisation</a:t>
            </a:r>
          </a:p>
        </p:txBody>
      </p:sp>
      <p:sp>
        <p:nvSpPr>
          <p:cNvPr id="14" name="TextBox 13">
            <a:hlinkClick action="ppaction://hlinksldjump" r:id="rId11"/>
          </p:cNvPr>
          <p:cNvSpPr txBox="1"/>
          <p:nvPr/>
        </p:nvSpPr>
        <p:spPr>
          <a:xfrm>
            <a:off x="54864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A8  </a:t>
            </a:r>
            <a:r>
              <a:rPr sz="1300" b="0" i="0">
                <a:solidFill>
                  <a:srgbClr val="1E1E2E"/>
                </a:solidFill>
                <a:latin typeface="Arial"/>
              </a:rPr>
              <a:t>Worked example inputs</a:t>
            </a:r>
          </a:p>
        </p:txBody>
      </p:sp>
      <p:sp>
        <p:nvSpPr>
          <p:cNvPr id="15" name="TextBox 14">
            <a:hlinkClick action="ppaction://hlinksldjump" r:id="rId12"/>
          </p:cNvPr>
          <p:cNvSpPr txBox="1"/>
          <p:nvPr/>
        </p:nvSpPr>
        <p:spPr>
          <a:xfrm>
            <a:off x="54864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A9  </a:t>
            </a:r>
            <a:r>
              <a:rPr sz="1300" b="0" i="0">
                <a:solidFill>
                  <a:srgbClr val="1E1E2E"/>
                </a:solidFill>
                <a:latin typeface="Arial"/>
              </a:rPr>
              <a:t>Worked example results</a:t>
            </a:r>
          </a:p>
        </p:txBody>
      </p:sp>
      <p:sp>
        <p:nvSpPr>
          <p:cNvPr id="16" name="TextBox 15">
            <a:hlinkClick action="ppaction://hlinksldjump" r:id="rId13"/>
          </p:cNvPr>
          <p:cNvSpPr txBox="1"/>
          <p:nvPr/>
        </p:nvSpPr>
        <p:spPr>
          <a:xfrm>
            <a:off x="54864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A10  </a:t>
            </a:r>
            <a:r>
              <a:rPr sz="1300" b="0" i="0">
                <a:solidFill>
                  <a:srgbClr val="1E1E2E"/>
                </a:solidFill>
                <a:latin typeface="Arial"/>
              </a:rPr>
              <a:t>Sensitivity: utilisation</a:t>
            </a:r>
          </a:p>
        </p:txBody>
      </p:sp>
      <p:sp>
        <p:nvSpPr>
          <p:cNvPr id="17" name="TextBox 16">
            <a:hlinkClick action="ppaction://hlinksldjump" r:id="rId14"/>
          </p:cNvPr>
          <p:cNvSpPr txBox="1"/>
          <p:nvPr/>
        </p:nvSpPr>
        <p:spPr>
          <a:xfrm>
            <a:off x="54864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Sensitivity: workload assumptions</a:t>
            </a:r>
          </a:p>
        </p:txBody>
      </p:sp>
      <p:sp>
        <p:nvSpPr>
          <p:cNvPr id="18" name="TextBox 17">
            <a:hlinkClick action="ppaction://hlinksldjump" r:id="rId15"/>
          </p:cNvPr>
          <p:cNvSpPr txBox="1"/>
          <p:nvPr/>
        </p:nvSpPr>
        <p:spPr>
          <a:xfrm>
            <a:off x="54864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Self-hosted GPU technical factors</a:t>
            </a:r>
          </a:p>
        </p:txBody>
      </p:sp>
      <p:sp>
        <p:nvSpPr>
          <p:cNvPr id="19" name="TextBox 18">
            <a:hlinkClick action="ppaction://hlinksldjump" r:id="rId16"/>
          </p:cNvPr>
          <p:cNvSpPr txBox="1"/>
          <p:nvPr/>
        </p:nvSpPr>
        <p:spPr>
          <a:xfrm>
            <a:off x="548640" y="5038344"/>
            <a:ext cx="5486400" cy="301752"/>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GPU break-even throughput</a:t>
            </a:r>
          </a:p>
        </p:txBody>
      </p:sp>
      <p:sp>
        <p:nvSpPr>
          <p:cNvPr id="20" name="TextBox 19">
            <a:hlinkClick action="ppaction://hlinksldjump" r:id="rId17"/>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A14  </a:t>
            </a:r>
            <a:r>
              <a:rPr sz="1300" b="0" i="0">
                <a:solidFill>
                  <a:srgbClr val="1E1E2E"/>
                </a:solidFill>
                <a:latin typeface="Arial"/>
              </a:rPr>
              <a:t>Comparable total-cost boundaries</a:t>
            </a:r>
          </a:p>
        </p:txBody>
      </p:sp>
      <p:sp>
        <p:nvSpPr>
          <p:cNvPr id="21" name="TextBox 20">
            <a:hlinkClick action="ppaction://hlinksldjump" r:id="rId18"/>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A15  </a:t>
            </a:r>
            <a:r>
              <a:rPr sz="1300" b="0" i="0">
                <a:solidFill>
                  <a:srgbClr val="1E1E2E"/>
                </a:solidFill>
                <a:latin typeface="Arial"/>
              </a:rPr>
              <a:t>Telemetry architecture (rebuilt)</a:t>
            </a:r>
          </a:p>
        </p:txBody>
      </p:sp>
      <p:sp>
        <p:nvSpPr>
          <p:cNvPr id="22" name="TextBox 21">
            <a:hlinkClick action="ppaction://hlinksldjump" r:id="rId19"/>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A16  </a:t>
            </a:r>
            <a:r>
              <a:rPr sz="1300" b="0" i="0">
                <a:solidFill>
                  <a:srgbClr val="1E1E2E"/>
                </a:solidFill>
                <a:latin typeface="Arial"/>
              </a:rPr>
              <a:t>Cost allocation and showback</a:t>
            </a:r>
          </a:p>
        </p:txBody>
      </p:sp>
      <p:sp>
        <p:nvSpPr>
          <p:cNvPr id="23" name="TextBox 22">
            <a:hlinkClick action="ppaction://hlinksldjump" r:id="rId20"/>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A17  </a:t>
            </a:r>
            <a:r>
              <a:rPr sz="1300" b="0" i="0">
                <a:solidFill>
                  <a:srgbClr val="1E1E2E"/>
                </a:solidFill>
                <a:latin typeface="Arial"/>
              </a:rPr>
              <a:t>Deployment type price differences</a:t>
            </a:r>
          </a:p>
        </p:txBody>
      </p:sp>
      <p:sp>
        <p:nvSpPr>
          <p:cNvPr id="24" name="TextBox 23">
            <a:hlinkClick action="ppaction://hlinksldjump" r:id="rId21"/>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A18  </a:t>
            </a:r>
            <a:r>
              <a:rPr sz="1300" b="0" i="0">
                <a:solidFill>
                  <a:srgbClr val="1E1E2E"/>
                </a:solidFill>
                <a:latin typeface="Arial"/>
              </a:rPr>
              <a:t>Deliverables and acceptance</a:t>
            </a:r>
          </a:p>
        </p:txBody>
      </p:sp>
      <p:sp>
        <p:nvSpPr>
          <p:cNvPr id="25" name="TextBox 24">
            <a:hlinkClick action="ppaction://hlinksldjump" r:id="rId22"/>
          </p:cNvPr>
          <p:cNvSpPr txBox="1"/>
          <p:nvPr/>
        </p:nvSpPr>
        <p:spPr>
          <a:xfrm>
            <a:off x="621792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K  </a:t>
            </a:r>
            <a:r>
              <a:rPr sz="1300" b="0" i="0">
                <a:solidFill>
                  <a:srgbClr val="1E1E2E"/>
                </a:solidFill>
                <a:latin typeface="Arial"/>
              </a:rPr>
              <a:t>Kill-switch cross-reference</a:t>
            </a:r>
          </a:p>
        </p:txBody>
      </p:sp>
      <p:sp>
        <p:nvSpPr>
          <p:cNvPr id="26" name="TextBox 25">
            <a:hlinkClick action="ppaction://hlinksldjump" r:id="rId23"/>
          </p:cNvPr>
          <p:cNvSpPr txBox="1"/>
          <p:nvPr/>
        </p:nvSpPr>
        <p:spPr>
          <a:xfrm>
            <a:off x="621792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C1  </a:t>
            </a:r>
            <a:r>
              <a:rPr sz="1300" b="0" i="0">
                <a:solidFill>
                  <a:srgbClr val="1E1E2E"/>
                </a:solidFill>
                <a:latin typeface="Arial"/>
              </a:rPr>
              <a:t>Cost layers and pricing formula</a:t>
            </a:r>
          </a:p>
        </p:txBody>
      </p:sp>
      <p:sp>
        <p:nvSpPr>
          <p:cNvPr id="27" name="TextBox 26">
            <a:hlinkClick action="ppaction://hlinksldjump" r:id="rId24"/>
          </p:cNvPr>
          <p:cNvSpPr txBox="1"/>
          <p:nvPr/>
        </p:nvSpPr>
        <p:spPr>
          <a:xfrm>
            <a:off x="621792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R1  </a:t>
            </a:r>
            <a:r>
              <a:rPr sz="1300" b="0" i="0">
                <a:solidFill>
                  <a:srgbClr val="1E1E2E"/>
                </a:solidFill>
                <a:latin typeface="Arial"/>
              </a:rPr>
              <a:t>RACI matrix</a:t>
            </a:r>
          </a:p>
        </p:txBody>
      </p:sp>
      <p:sp>
        <p:nvSpPr>
          <p:cNvPr id="28" name="TextBox 27">
            <a:hlinkClick action="ppaction://hlinksldjump" r:id="rId25"/>
          </p:cNvPr>
          <p:cNvSpPr txBox="1"/>
          <p:nvPr/>
        </p:nvSpPr>
        <p:spPr>
          <a:xfrm>
            <a:off x="621792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R2  </a:t>
            </a:r>
            <a:r>
              <a:rPr sz="1300" b="0" i="0">
                <a:solidFill>
                  <a:srgbClr val="1E1E2E"/>
                </a:solidFill>
                <a:latin typeface="Arial"/>
              </a:rPr>
              <a:t>Revenue attribution framework</a:t>
            </a:r>
          </a:p>
        </p:txBody>
      </p:sp>
      <p:sp>
        <p:nvSpPr>
          <p:cNvPr id="29" name="TextBox 28">
            <a:hlinkClick action="ppaction://hlinksldjump" r:id="rId26"/>
          </p:cNvPr>
          <p:cNvSpPr txBox="1"/>
          <p:nvPr/>
        </p:nvSpPr>
        <p:spPr>
          <a:xfrm>
            <a:off x="621792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R3  </a:t>
            </a:r>
            <a:r>
              <a:rPr sz="1300" b="0" i="0">
                <a:solidFill>
                  <a:srgbClr val="1E1E2E"/>
                </a:solidFill>
                <a:latin typeface="Arial"/>
              </a:rPr>
              <a:t>Delivery and commercial readiness</a:t>
            </a:r>
          </a:p>
        </p:txBody>
      </p:sp>
      <p:sp>
        <p:nvSpPr>
          <p:cNvPr id="30" name="TextBox 29">
            <a:hlinkClick action="ppaction://hlinksldjump" r:id="rId27"/>
          </p:cNvPr>
          <p:cNvSpPr txBox="1"/>
          <p:nvPr/>
        </p:nvSpPr>
        <p:spPr>
          <a:xfrm>
            <a:off x="621792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D1  </a:t>
            </a:r>
            <a:r>
              <a:rPr sz="1300" b="0" i="0">
                <a:solidFill>
                  <a:srgbClr val="1E1E2E"/>
                </a:solidFill>
                <a:latin typeface="Arial"/>
              </a:rPr>
              <a:t>Decision and approval register</a:t>
            </a:r>
          </a:p>
        </p:txBody>
      </p:sp>
      <p:sp>
        <p:nvSpPr>
          <p:cNvPr id="31" name="TextBox 30">
            <a:hlinkClick action="ppaction://hlinksldjump" r:id="rId28"/>
          </p:cNvPr>
          <p:cNvSpPr txBox="1"/>
          <p:nvPr/>
        </p:nvSpPr>
        <p:spPr>
          <a:xfrm>
            <a:off x="621792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 criteria for PAYG, PTU, hybrid and self-hosted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03120"/>
                <a:gridCol w="2103120"/>
                <a:gridCol w="2286000"/>
                <a:gridCol w="2286000"/>
                <a:gridCol w="2313432"/>
              </a:tblGrid>
              <a:tr h="304800">
                <a:tc>
                  <a:txBody>
                    <a:bodyPr wrap="square" anchor="ctr">
                      <a:noAutofit/>
                    </a:bodyPr>
                    <a:lstStyle/>
                    <a:p>
                      <a:pPr algn="l"/>
                      <a:r>
                        <a:rPr sz="1400" b="1" i="0">
                          <a:solidFill>
                            <a:srgbClr val="FFFFFF"/>
                          </a:solidFill>
                          <a:latin typeface="Arial"/>
                        </a:rPr>
                        <a:t>Criterion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Self-hosted GPU</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Demand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sustained load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baseline and peaks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load and model fit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Latency need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Best effort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Defined latency target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Target for baseline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Engineered by team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Commitment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Hourly or 1-month or 1-year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Smaller reservation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VM terms up to 5 years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Model lifecycle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Auto-upgrade possible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for PTU part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 owns upgrades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Operating burden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 to 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High</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Price input needed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prices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Reservation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Both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VM, licence, ops cost</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Workload characterisation inputs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ASSESSMENT CHECKLIST"/>
          <p:cNvSpPr/>
          <p:nvPr/>
        </p:nvSpPr>
        <p:spPr>
          <a:xfrm>
            <a:off x="189865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ASSESSMENT CHECKLIST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71600"/>
          <a:ext cx="11091672" cy="3169920"/>
        </p:xfrm>
        <a:graphic>
          <a:graphicData uri="http://schemas.openxmlformats.org/drawingml/2006/table">
            <a:tbl>
              <a:tblPr firstRow="1" bandRow="0">
                <a:tableStyleId>{5C22544A-7EE6-4342-B048-85BDC9FD1C3A}</a:tableStyleId>
              </a:tblPr>
              <a:tblGrid>
                <a:gridCol w="3474720"/>
                <a:gridCol w="4206240"/>
                <a:gridCol w="341071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Model, version,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throughput per PTU, processing boundary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tower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Input, output, cached, reasoning tokens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Price per token type; PTU weighting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deployment metrics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Context length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Prompt size and KV cache memory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Application design</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Concurrency and arrival pattern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sizing and overflow share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logs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Latency and throughput targets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Whether PTU or GPU is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loops, retries, tool calls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Calls per useful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Traces (offering 02)</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Peak demand and resilience headroom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Capacity margin and second region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 AI</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Quota versus deployable capacity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the plan can be deployed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Portal or capacity API</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loops, retries and tool calls multiply tokens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8" name="Rounded Rectangle 7"/>
          <p:cNvSpPr/>
          <p:nvPr/>
        </p:nvSpPr>
        <p:spPr>
          <a:xfrm>
            <a:off x="548640"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1 task</a:t>
            </a:r>
          </a:p>
          <a:p>
            <a:pPr algn="ctr"/>
            <a:r>
              <a:rPr sz="1500" b="0" i="0">
                <a:solidFill>
                  <a:srgbClr val="53565A"/>
                </a:solidFill>
                <a:latin typeface="Arial"/>
              </a:rPr>
              <a:t>user request</a:t>
            </a:r>
          </a:p>
        </p:txBody>
      </p:sp>
      <p:cxnSp>
        <p:nvCxnSpPr>
          <p:cNvPr id="9" name="Connector (flow)"/>
          <p:cNvCxnSpPr/>
          <p:nvPr/>
        </p:nvCxnSpPr>
        <p:spPr>
          <a:xfrm>
            <a:off x="3108960"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64992"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 calls</a:t>
            </a:r>
          </a:p>
          <a:p>
            <a:pPr algn="ctr"/>
            <a:r>
              <a:rPr sz="1500" b="0" i="0">
                <a:solidFill>
                  <a:srgbClr val="53565A"/>
                </a:solidFill>
                <a:latin typeface="Arial"/>
              </a:rPr>
              <a:t>agent reasoning loop</a:t>
            </a:r>
          </a:p>
        </p:txBody>
      </p:sp>
      <p:cxnSp>
        <p:nvCxnSpPr>
          <p:cNvPr id="11" name="Connector (flow)"/>
          <p:cNvCxnSpPr/>
          <p:nvPr/>
        </p:nvCxnSpPr>
        <p:spPr>
          <a:xfrm>
            <a:off x="5925312"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81344"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+5%</a:t>
            </a:r>
          </a:p>
          <a:p>
            <a:pPr algn="ctr"/>
            <a:r>
              <a:rPr sz="1500" b="0" i="0">
                <a:solidFill>
                  <a:srgbClr val="53565A"/>
                </a:solidFill>
                <a:latin typeface="Arial"/>
              </a:rPr>
              <a:t>retries</a:t>
            </a:r>
          </a:p>
        </p:txBody>
      </p:sp>
      <p:cxnSp>
        <p:nvCxnSpPr>
          <p:cNvPr id="13" name="Connector (flow)"/>
          <p:cNvCxnSpPr/>
          <p:nvPr/>
        </p:nvCxnSpPr>
        <p:spPr>
          <a:xfrm>
            <a:off x="8741663" y="237744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997696"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3.15 calls</a:t>
            </a:r>
          </a:p>
          <a:p>
            <a:pPr algn="ctr"/>
            <a:r>
              <a:rPr sz="1500" b="0" i="0">
                <a:solidFill>
                  <a:srgbClr val="53565A"/>
                </a:solidFill>
                <a:latin typeface="Arial"/>
              </a:rPr>
              <a:t>per useful task</a:t>
            </a:r>
          </a:p>
        </p:txBody>
      </p:sp>
      <p:sp>
        <p:nvSpPr>
          <p:cNvPr id="15" name="TextBox 14"/>
          <p:cNvSpPr txBox="1"/>
          <p:nvPr/>
        </p:nvSpPr>
        <p:spPr>
          <a:xfrm>
            <a:off x="548640" y="3566160"/>
            <a:ext cx="11064240" cy="1097280"/>
          </a:xfrm>
          <a:prstGeom prst="rect">
            <a:avLst/>
          </a:prstGeom>
          <a:noFill/>
        </p:spPr>
        <p:txBody>
          <a:bodyPr wrap="square" lIns="0" rIns="0" tIns="0" bIns="0" anchor="t">
            <a:noAutofit/>
          </a:bodyPr>
          <a:lstStyle/>
          <a:p>
            <a:pPr algn="l"/>
            <a:r>
              <a:rPr sz="1800" b="0" i="0">
                <a:solidFill>
                  <a:srgbClr val="1E1E2E"/>
                </a:solidFill>
                <a:latin typeface="Arial"/>
              </a:rPr>
              <a:t>At the example’s prices each call costs about $0.0065, so a task costs about $0.0203. Tool results added to the context make later calls larger still.</a:t>
            </a:r>
          </a:p>
        </p:txBody>
      </p:sp>
      <p:sp>
        <p:nvSpPr>
          <p:cNvPr id="16" name="Rounded Rectangle 15"/>
          <p:cNvSpPr/>
          <p:nvPr/>
        </p:nvSpPr>
        <p:spPr>
          <a:xfrm>
            <a:off x="548640" y="49377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Cost per useful task, not cost per call, is the unit leaders should track.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Quota, capacity and reservations are different things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548640"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Quota</a:t>
            </a:r>
          </a:p>
        </p:txBody>
      </p:sp>
      <p:sp>
        <p:nvSpPr>
          <p:cNvPr id="10" name="TextBox 9"/>
          <p:cNvSpPr txBox="1"/>
          <p:nvPr/>
        </p:nvSpPr>
        <p:spPr>
          <a:xfrm>
            <a:off x="548640"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Policy limit per subscription, region and deployment type. No cost. Does not guarantee capacity.</a:t>
            </a:r>
          </a:p>
        </p:txBody>
      </p:sp>
      <p:sp>
        <p:nvSpPr>
          <p:cNvPr id="11" name="Rounded Rectangle 10"/>
          <p:cNvSpPr/>
          <p:nvPr/>
        </p:nvSpPr>
        <p:spPr>
          <a:xfrm>
            <a:off x="429767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Capacity</a:t>
            </a:r>
          </a:p>
        </p:txBody>
      </p:sp>
      <p:sp>
        <p:nvSpPr>
          <p:cNvPr id="12" name="TextBox 11"/>
          <p:cNvSpPr txBox="1"/>
          <p:nvPr/>
        </p:nvSpPr>
        <p:spPr>
          <a:xfrm>
            <a:off x="429767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PTUs actually available for a model version, allocated at deployment and held while it exists.</a:t>
            </a:r>
          </a:p>
        </p:txBody>
      </p:sp>
      <p:sp>
        <p:nvSpPr>
          <p:cNvPr id="13" name="Rounded Rectangle 12"/>
          <p:cNvSpPr/>
          <p:nvPr/>
        </p:nvSpPr>
        <p:spPr>
          <a:xfrm>
            <a:off x="804671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Reservation</a:t>
            </a:r>
          </a:p>
        </p:txBody>
      </p:sp>
      <p:sp>
        <p:nvSpPr>
          <p:cNvPr id="14" name="TextBox 13"/>
          <p:cNvSpPr txBox="1"/>
          <p:nvPr/>
        </p:nvSpPr>
        <p:spPr>
          <a:xfrm>
            <a:off x="804671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Billing discount for a 1-month or 1-year term. Does not guarantee capacity. Separate for Global, Data Zone, Regional.</a:t>
            </a:r>
          </a:p>
        </p:txBody>
      </p:sp>
      <p:sp>
        <p:nvSpPr>
          <p:cNvPr id="15" name="Rounded Rectangle 14"/>
          <p:cNvSpPr/>
          <p:nvPr/>
        </p:nvSpPr>
        <p:spPr>
          <a:xfrm>
            <a:off x="548640" y="438912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Order matters: confirm quota, create the deployment to secure capacity, then buy the reservation.</a:t>
            </a:r>
          </a:p>
        </p:txBody>
      </p:sp>
      <p:sp>
        <p:nvSpPr>
          <p:cNvPr id="16" name="Rounded Rectangle 15"/>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Scaling down releases capacity; there is no guarantee it can be regained later.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sizing method and current parameters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TextBox 8"/>
          <p:cNvSpPr txBox="1"/>
          <p:nvPr/>
        </p:nvSpPr>
        <p:spPr>
          <a:xfrm>
            <a:off x="548640" y="1371600"/>
            <a:ext cx="11064240" cy="1188720"/>
          </a:xfrm>
          <a:prstGeom prst="rect">
            <a:avLst/>
          </a:prstGeom>
          <a:noFill/>
        </p:spPr>
        <p:txBody>
          <a:bodyPr wrap="square" lIns="0" rIns="0" tIns="0" bIns="0" anchor="t">
            <a:noAutofit/>
          </a:bodyPr>
          <a:lstStyle/>
          <a:p>
            <a:pPr algn="l">
              <a:spcAft>
                <a:spcPts val="600"/>
              </a:spcAft>
            </a:pPr>
            <a:r>
              <a:rPr sz="1700" b="1" i="0">
                <a:solidFill>
                  <a:srgbClr val="000048"/>
                </a:solidFill>
                <a:latin typeface="Arial"/>
              </a:rPr>
              <a:t>Normalised TPM</a:t>
            </a:r>
            <a:r>
              <a:rPr sz="1700" b="0" i="0">
                <a:solidFill>
                  <a:srgbClr val="1E1E2E"/>
                </a:solidFill>
                <a:latin typeface="Arial"/>
              </a:rPr>
              <a:t> = input TPM x (1 − cache rate) + output-to-input ratio x output TPM</a:t>
            </a:r>
          </a:p>
          <a:p>
            <a:pPr algn="l"/>
            <a:r>
              <a:rPr sz="1700" b="1" i="0">
                <a:solidFill>
                  <a:srgbClr val="000048"/>
                </a:solidFill>
                <a:latin typeface="Arial"/>
              </a:rPr>
              <a:t>PTUs</a:t>
            </a:r>
            <a:r>
              <a:rPr sz="1700" b="0" i="0">
                <a:solidFill>
                  <a:srgbClr val="1E1E2E"/>
                </a:solidFill>
                <a:latin typeface="Arial"/>
              </a:rPr>
              <a:t> = normalised TPM ÷ input TPM per PTU, rounded up to the increment (and at least the minimum)</a:t>
            </a:r>
          </a:p>
        </p:txBody>
      </p:sp>
      <p:graphicFrame>
        <p:nvGraphicFramePr>
          <p:cNvPr id="10" name="Table"/>
          <p:cNvGraphicFramePr>
            <a:graphicFrameLocks noGrp="1"/>
          </p:cNvGraphicFramePr>
          <p:nvPr/>
        </p:nvGraphicFramePr>
        <p:xfrm>
          <a:off x="548640" y="2697480"/>
          <a:ext cx="11091672" cy="2011680"/>
        </p:xfrm>
        <a:graphic>
          <a:graphicData uri="http://schemas.openxmlformats.org/drawingml/2006/table">
            <a:tbl>
              <a:tblPr firstRow="1" bandRow="0">
                <a:tableStyleId>{5C22544A-7EE6-4342-B048-85BDC9FD1C3A}</a:tableStyleId>
              </a:tblPr>
              <a:tblGrid>
                <a:gridCol w="2743200"/>
                <a:gridCol w="2651760"/>
                <a:gridCol w="2011680"/>
                <a:gridCol w="1828800"/>
                <a:gridCol w="1856232"/>
              </a:tblGrid>
              <a:tr h="487680">
                <a:tc>
                  <a:txBody>
                    <a:bodyPr wrap="square" anchor="ctr">
                      <a:noAutofit/>
                    </a:bodyPr>
                    <a:lstStyle/>
                    <a:p>
                      <a:pPr algn="l"/>
                      <a:r>
                        <a:rPr sz="13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Global / Data Zone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Regional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Input TPM per PTU</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1 output token =</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gpt-4.1 (2025-04-14)</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50, 25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3,000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gpt-4.1-mini (2025-04-14)</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14,900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gpt-5 (2025-08-07)</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4,750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gpt-5-mini (2025-08-07)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23,750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o4-mini (2025-04-16)</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5,400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FFFFF"/>
                    </a:solidFill>
                  </a:tcPr>
                </a:tc>
              </a:tr>
            </a:tbl>
          </a:graphicData>
        </a:graphic>
      </p:graphicFrame>
      <p:sp>
        <p:nvSpPr>
          <p:cNvPr id="11" name="Rounded Rectangle 10"/>
          <p:cNvSpPr/>
          <p:nvPr/>
        </p:nvSpPr>
        <p:spPr>
          <a:xfrm>
            <a:off x="548640" y="53492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with representative traffic before any commitment. A PTU is not a fixed number of GPUs.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Commitment and model-lifecycle risk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1813560"/>
        </p:xfrm>
        <a:graphic>
          <a:graphicData uri="http://schemas.openxmlformats.org/drawingml/2006/table">
            <a:tbl>
              <a:tblPr firstRow="1" bandRow="0">
                <a:tableStyleId>{5C22544A-7EE6-4342-B048-85BDC9FD1C3A}</a:tableStyleId>
              </a:tblPr>
              <a:tblGrid>
                <a:gridCol w="2743200"/>
                <a:gridCol w="1828800"/>
                <a:gridCol w="1828800"/>
                <a:gridCol w="4690872"/>
              </a:tblGrid>
              <a:tr h="304800">
                <a:tc>
                  <a:txBody>
                    <a:bodyPr wrap="square" anchor="ctr">
                      <a:noAutofit/>
                    </a:bodyPr>
                    <a:lstStyle/>
                    <a:p>
                      <a:pPr algn="l"/>
                      <a:r>
                        <a:rPr sz="14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Lifecycle 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Retirement date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Implication for a 1-year reservation bought now</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gpt-4.1 (2025-04-14)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retires before term ends; re-size on successor</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gpt-4.1-mini (2025-04-14)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gpt-5 (2025-08-07)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2027-02-09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Retires before term ends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gpt-4o (2024-11-20)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Legacy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Replacement listed: gpt-5.1</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Provisioned deployments are not auto-upgraded. Budget a migration and re-benchmark inside any commitment term.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Reservation coverage versus actual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Coverage</a:t>
            </a:r>
          </a:p>
          <a:p>
            <a:pPr algn="l">
              <a:spcAft>
                <a:spcPts val="1000"/>
              </a:spcAft>
            </a:pPr>
            <a:r>
              <a:rPr sz="1600" b="1" i="0">
                <a:solidFill>
                  <a:srgbClr val="2F78C4"/>
                </a:solidFill>
                <a:latin typeface="Arial"/>
              </a:rPr>
              <a:t>Reserved PTUs ÷ deployed PTUs</a:t>
            </a:r>
          </a:p>
          <a:p>
            <a:pPr algn="l"/>
            <a:r>
              <a:rPr sz="1600" b="0" i="0">
                <a:solidFill>
                  <a:srgbClr val="1E1E2E"/>
                </a:solidFill>
                <a:latin typeface="Arial"/>
              </a:rPr>
              <a:t>Low: paying hourly list for PTUs that could be reserved</a:t>
            </a:r>
          </a:p>
        </p:txBody>
      </p:sp>
      <p:sp>
        <p:nvSpPr>
          <p:cNvPr id="9" name="Rounded Rectangle 8"/>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Utilisation</a:t>
            </a:r>
          </a:p>
          <a:p>
            <a:pPr algn="l">
              <a:spcAft>
                <a:spcPts val="1000"/>
              </a:spcAft>
            </a:pPr>
            <a:r>
              <a:rPr sz="1600" b="1" i="0">
                <a:solidFill>
                  <a:srgbClr val="2F78C4"/>
                </a:solidFill>
                <a:latin typeface="Arial"/>
              </a:rPr>
              <a:t>Normalised tokens used ÷ PTU capacity</a:t>
            </a:r>
          </a:p>
          <a:p>
            <a:pPr algn="l"/>
            <a:r>
              <a:rPr sz="1600" b="0" i="0">
                <a:solidFill>
                  <a:srgbClr val="1E1E2E"/>
                </a:solidFill>
                <a:latin typeface="Arial"/>
              </a:rPr>
              <a:t>Low: paying for idle capacity, reserved or not</a:t>
            </a:r>
          </a:p>
        </p:txBody>
      </p:sp>
      <p:sp>
        <p:nvSpPr>
          <p:cNvPr id="10" name="Rounded Rectangle 9"/>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Overflow share</a:t>
            </a:r>
          </a:p>
          <a:p>
            <a:pPr algn="l">
              <a:spcAft>
                <a:spcPts val="1000"/>
              </a:spcAft>
            </a:pPr>
            <a:r>
              <a:rPr sz="1600" b="1" i="0">
                <a:solidFill>
                  <a:srgbClr val="2F78C4"/>
                </a:solidFill>
                <a:latin typeface="Arial"/>
              </a:rPr>
              <a:t>Tokens served by PAYG ÷ total</a:t>
            </a:r>
          </a:p>
          <a:p>
            <a:pPr algn="l"/>
            <a:r>
              <a:rPr sz="1600" b="0" i="0">
                <a:solidFill>
                  <a:srgbClr val="1E1E2E"/>
                </a:solidFill>
                <a:latin typeface="Arial"/>
              </a:rPr>
              <a:t>High: baseline undersized or peaks unmanaged</a:t>
            </a:r>
          </a:p>
        </p:txBody>
      </p:sp>
      <p:sp>
        <p:nvSpPr>
          <p:cNvPr id="11" name="Rounded Rectangle 10"/>
          <p:cNvSpPr/>
          <p:nvPr/>
        </p:nvSpPr>
        <p:spPr>
          <a:xfrm>
            <a:off x="548640" y="47548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Report all three monthly. A single coverage number hides idle capacity.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inputs: verified prices, assumed load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SSUMED WORKLOAD"/>
          <p:cNvSpPr/>
          <p:nvPr/>
        </p:nvSpPr>
        <p:spPr>
          <a:xfrm>
            <a:off x="189865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ASSUMED WORKLOAD</a:t>
            </a:r>
          </a:p>
        </p:txBody>
      </p:sp>
      <p:sp>
        <p:nvSpPr>
          <p:cNvPr id="6" name="Status chip: VERIFIED PRICES"/>
          <p:cNvSpPr/>
          <p:nvPr/>
        </p:nvSpPr>
        <p:spPr>
          <a:xfrm>
            <a:off x="3646170" y="274320"/>
            <a:ext cx="156972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10" name="Table"/>
          <p:cNvGraphicFramePr>
            <a:graphicFrameLocks noGrp="1"/>
          </p:cNvGraphicFramePr>
          <p:nvPr/>
        </p:nvGraphicFramePr>
        <p:xfrm>
          <a:off x="548640" y="1371600"/>
          <a:ext cx="11091672" cy="3048000"/>
        </p:xfrm>
        <a:graphic>
          <a:graphicData uri="http://schemas.openxmlformats.org/drawingml/2006/table">
            <a:tbl>
              <a:tblPr firstRow="1" bandRow="0">
                <a:tableStyleId>{5C22544A-7EE6-4342-B048-85BDC9FD1C3A}</a:tableStyleId>
              </a:tblPr>
              <a:tblGrid>
                <a:gridCol w="3108960"/>
                <a:gridCol w="5120640"/>
                <a:gridCol w="286207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Model and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gpt-4.1, Global Standard or Global Provisioned</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 choice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Input / cached / output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$2.00 / $0.50 / $8.00 per 1M tokens</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Provisioned hourly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PTU-hour Global ($730 per PTU-month)</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PTU parameters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min 15, increment 5, 3,000 input TPM per PTU, output x4</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Tasks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minute average</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Calls per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 model calls plus 5% retries</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Tokens per call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2,000 input (25% cached), 400 output</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Daily profile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1.66x mean in business hours; night 0.31x</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PTU reservation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published in retail price API</a:t>
                      </a:r>
                    </a:p>
                  </a:txBody>
                  <a:tcPr marL="73152" marR="73152" marT="36576" marB="36576" anchor="ctr">
                    <a:solidFill>
                      <a:srgbClr val="FFFFFF"/>
                    </a:solidFill>
                  </a:tcPr>
                </a:tc>
                <a:tc>
                  <a:txBody>
                    <a:bodyPr wrap="square" anchor="ctr">
                      <a:noAutofit/>
                    </a:bodyPr>
                    <a:lstStyle/>
                    <a:p>
                      <a:pPr algn="l"/>
                      <a:r>
                        <a:rPr sz="1400" b="1" i="0">
                          <a:solidFill>
                            <a:srgbClr val="A4262C"/>
                          </a:solidFill>
                          <a:latin typeface="Arial"/>
                        </a:rPr>
                        <a:t>Missing: customer agreement</a:t>
                      </a:r>
                    </a:p>
                  </a:txBody>
                  <a:tcPr marL="73152" marR="73152" marT="36576" marB="36576"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results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ILLUSTRATIVE"/>
          <p:cNvSpPr/>
          <p:nvPr/>
        </p:nvSpPr>
        <p:spPr>
          <a:xfrm>
            <a:off x="189865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1478280"/>
        </p:xfrm>
        <a:graphic>
          <a:graphicData uri="http://schemas.openxmlformats.org/drawingml/2006/table">
            <a:tbl>
              <a:tblPr firstRow="1" bandRow="0">
                <a:tableStyleId>{5C22544A-7EE6-4342-B048-85BDC9FD1C3A}</a:tableStyleId>
              </a:tblPr>
              <a:tblGrid>
                <a:gridCol w="2194560"/>
                <a:gridCol w="2651760"/>
                <a:gridCol w="2377440"/>
                <a:gridCol w="2194560"/>
                <a:gridCol w="1673352"/>
              </a:tblGrid>
              <a:tr h="51816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Capacity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Monthly cost at hourly list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PTU price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Utilisation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PAYG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$88,991</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PTU sized to peak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540 PTU</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$394,200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$165 per PTU-month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Hybrid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270 PTU + PAYG overflow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$227,716</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$216 per PTU-month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79%</a:t>
                      </a:r>
                    </a:p>
                  </a:txBody>
                  <a:tcPr marL="73152" marR="73152" marT="36576" marB="36576" anchor="ctr">
                    <a:solidFill>
                      <a:srgbClr val="FFFFFF"/>
                    </a:solidFill>
                  </a:tcPr>
                </a:tc>
              </a:tr>
            </a:tbl>
          </a:graphicData>
        </a:graphic>
      </p:graphicFrame>
      <p:sp>
        <p:nvSpPr>
          <p:cNvPr id="10" name="TextBox 9"/>
          <p:cNvSpPr txBox="1"/>
          <p:nvPr/>
        </p:nvSpPr>
        <p:spPr>
          <a:xfrm>
            <a:off x="548640" y="3291840"/>
            <a:ext cx="11064240" cy="14630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Hourly provisioned at list ($730 per PTU-month) costs far more than PAYG here.</a:t>
            </a:r>
          </a:p>
          <a:p>
            <a:pPr algn="l" marL="201168" indent="-201168">
              <a:spcAft>
                <a:spcPts val="600"/>
              </a:spcAft>
              <a:buFont typeface="Arial"/>
              <a:buChar char="•"/>
            </a:pPr>
            <a:r>
              <a:rPr sz="1600" b="0" i="0">
                <a:solidFill>
                  <a:srgbClr val="1E1E2E"/>
                </a:solidFill>
                <a:latin typeface="Arial"/>
              </a:rPr>
              <a:t>Even at 100% utilisation one Global PTU replaces at most $263 of gpt-4.1 PAYG spend a month.</a:t>
            </a:r>
          </a:p>
          <a:p>
            <a:pPr algn="l" marL="201168" indent="-201168">
              <a:spcAft>
                <a:spcPts val="600"/>
              </a:spcAft>
              <a:buFont typeface="Arial"/>
              <a:buChar char="•"/>
            </a:pPr>
            <a:r>
              <a:rPr sz="1600" b="0" i="0">
                <a:solidFill>
                  <a:srgbClr val="1E1E2E"/>
                </a:solidFill>
                <a:latin typeface="Arial"/>
              </a:rPr>
              <a:t>So PTU is justified by latency targets and by a reservation price well below list, not by hourly pricing.</a:t>
            </a:r>
          </a:p>
        </p:txBody>
      </p:sp>
      <p:sp>
        <p:nvSpPr>
          <p:cNvPr id="11" name="Rounded Rectangle 10"/>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Illustrative only. Do not use these numbers to recommend a real commitment.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break-even price rises with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Chart"/>
          <p:cNvGraphicFramePr>
            <a:graphicFrameLocks noGrp="1"/>
          </p:cNvGraphicFramePr>
          <p:nvPr/>
        </p:nvGraphicFramePr>
        <p:xfrm>
          <a:off x="548640" y="1371600"/>
          <a:ext cx="7315200" cy="4206240"/>
        </p:xfrm>
        <a:graphic>
          <a:graphicData uri="http://schemas.openxmlformats.org/drawingml/2006/chart">
            <c:chart xmlns:c="http://schemas.openxmlformats.org/drawingml/2006/chart" r:id="rId4"/>
          </a:graphicData>
        </a:graphic>
      </p:graphicFrame>
      <p:sp>
        <p:nvSpPr>
          <p:cNvPr id="10" name="Rounded Rectangle 9"/>
          <p:cNvSpPr/>
          <p:nvPr/>
        </p:nvSpPr>
        <p:spPr>
          <a:xfrm>
            <a:off x="8138160" y="1371600"/>
            <a:ext cx="3502152" cy="4206240"/>
          </a:xfrm>
          <a:prstGeom prst="roundRect">
            <a:avLst>
              <a:gd name="adj" fmla="val 208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1700" b="1" i="0">
                <a:solidFill>
                  <a:srgbClr val="000048"/>
                </a:solidFill>
                <a:latin typeface="Arial"/>
              </a:rPr>
              <a:t>Read the chart</a:t>
            </a:r>
          </a:p>
          <a:p>
            <a:pPr algn="l">
              <a:spcAft>
                <a:spcPts val="800"/>
              </a:spcAft>
            </a:pPr>
            <a:r>
              <a:rPr sz="1500" b="0" i="0">
                <a:solidFill>
                  <a:srgbClr val="1E1E2E"/>
                </a:solidFill>
                <a:latin typeface="Arial"/>
              </a:rPr>
              <a:t>At 70% average utilisation a PTU must cost under about </a:t>
            </a:r>
            <a:r>
              <a:rPr sz="1500" b="1" i="0">
                <a:solidFill>
                  <a:srgbClr val="1E1E2E"/>
                </a:solidFill>
                <a:latin typeface="Arial"/>
              </a:rPr>
              <a:t>$184</a:t>
            </a:r>
            <a:r>
              <a:rPr sz="1500" b="0" i="0">
                <a:solidFill>
                  <a:srgbClr val="1E1E2E"/>
                </a:solidFill>
                <a:latin typeface="Arial"/>
              </a:rPr>
              <a:t> a month to beat gpt-4.1 Global PAYG.</a:t>
            </a:r>
          </a:p>
          <a:p>
            <a:pPr algn="l"/>
            <a:r>
              <a:rPr sz="1500" b="0" i="0">
                <a:solidFill>
                  <a:srgbClr val="1E1E2E"/>
                </a:solidFill>
                <a:latin typeface="Arial"/>
              </a:rPr>
              <a:t>Hourly list is $730. The gap must come from the reservation price.</a:t>
            </a:r>
          </a:p>
        </p:txBody>
      </p:sp>
      <p:sp>
        <p:nvSpPr>
          <p:cNvPr id="11" name="Rounded Rectangle 10"/>
          <p:cNvSpPr/>
          <p:nvPr/>
        </p:nvSpPr>
        <p:spPr>
          <a:xfrm>
            <a:off x="548640" y="576072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Utilisation is average normalised load ÷ capacity. Peak sizing lowers it; hybrid raises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which assumptions move the answer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71600"/>
          <a:ext cx="11091672" cy="1905000"/>
        </p:xfrm>
        <a:graphic>
          <a:graphicData uri="http://schemas.openxmlformats.org/drawingml/2006/table">
            <a:tbl>
              <a:tblPr firstRow="1" bandRow="0">
                <a:tableStyleId>{5C22544A-7EE6-4342-B048-85BDC9FD1C3A}</a:tableStyleId>
              </a:tblPr>
              <a:tblGrid>
                <a:gridCol w="2743200"/>
                <a:gridCol w="2103120"/>
                <a:gridCol w="2103120"/>
                <a:gridCol w="2011680"/>
                <a:gridCol w="2130552"/>
              </a:tblGrid>
              <a:tr h="304800">
                <a:tc>
                  <a:txBody>
                    <a:bodyPr wrap="square" anchor="ctr">
                      <a:noAutofit/>
                    </a:bodyPr>
                    <a:lstStyle/>
                    <a:p>
                      <a:pPr algn="l"/>
                      <a:r>
                        <a:rPr sz="1400" b="1" i="0">
                          <a:solidFill>
                            <a:srgbClr val="FFFFFF"/>
                          </a:solidFill>
                          <a:latin typeface="Arial"/>
                        </a:rPr>
                        <a:t>Variant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 per month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 peak / 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peak</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hybrid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case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$88,991</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540 / 270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$216</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No caching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$99,338</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630 / 315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$158</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$207</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50% cached input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$78,643</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455 / 230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$173</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$226</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5 calls per task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$148,318</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900 / 450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$216</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800 output 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$133,141</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820 / 410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$162</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$213</a:t>
                      </a:r>
                    </a:p>
                  </a:txBody>
                  <a:tcPr marL="73152" marR="73152" marT="36576" marB="36576" anchor="ctr">
                    <a:solidFill>
                      <a:srgbClr val="FFFFFF"/>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Volume changes cost but barely moves break-even. Demand shape and reservation price decide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inference: what drives capacity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Factor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matters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GPU memory and KV cache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weights plus per-request cache limit concurrency and context length</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Precision and quantisation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Lower precision fits more but can change quality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Batching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Raises throughput, adds latency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GPU SKU and interconnect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ND H100 v5: 8 x H100 80 GB, NVLink 4.0, 3.2 Tbps InfiniBand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Replicas and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N+1 for maintenance and failure; regional capacity varies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Serving stack and licences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Inference server, model licence terms, support</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Drivers, images, security fixes, upgrades: ongoing effort</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break-even throughput, not GPU count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VERIFIED VM PRICE"/>
          <p:cNvSpPr/>
          <p:nvPr/>
        </p:nvSpPr>
        <p:spPr>
          <a:xfrm>
            <a:off x="1996440" y="274320"/>
            <a:ext cx="174244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VM PRICE</a:t>
            </a:r>
          </a:p>
        </p:txBody>
      </p:sp>
      <p:sp>
        <p:nvSpPr>
          <p:cNvPr id="6" name="Status chip: ILLUSTRATIVE COMPARISON"/>
          <p:cNvSpPr/>
          <p:nvPr/>
        </p:nvSpPr>
        <p:spPr>
          <a:xfrm>
            <a:off x="3830320" y="274320"/>
            <a:ext cx="226060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COMPARISON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10"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3566160"/>
                <a:gridCol w="4754880"/>
                <a:gridCol w="277063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VM price (ND96isr H100 v5, Linux)</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$98.32 per hour, about $71,774 a month</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Verified list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Blended PAYG price in the example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$2.69 per 1M tokens</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Break-even throughput, 1 VM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about 10,162 tokens per second, 24x7</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With N+1 (2 VMs)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20,325 tokens per second, 24x7</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Not included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Storage, network, licences, operations, engineering</a:t>
                      </a:r>
                    </a:p>
                  </a:txBody>
                  <a:tcPr marL="73152" marR="73152" marT="36576" marB="36576" anchor="ctr">
                    <a:solidFill>
                      <a:srgbClr val="FFFFFF"/>
                    </a:solidFill>
                  </a:tcPr>
                </a:tc>
                <a:tc>
                  <a:txBody>
                    <a:bodyPr wrap="square" anchor="ctr">
                      <a:noAutofit/>
                    </a:bodyPr>
                    <a:lstStyle/>
                    <a:p>
                      <a:pPr algn="l"/>
                      <a:r>
                        <a:rPr sz="1500" b="1" i="0">
                          <a:solidFill>
                            <a:srgbClr val="A4262C"/>
                          </a:solidFill>
                          <a:latin typeface="Arial"/>
                        </a:rPr>
                        <a:t>Must be added</a:t>
                      </a:r>
                    </a:p>
                  </a:txBody>
                  <a:tcPr marL="73152" marR="73152" marT="36576" marB="36576" anchor="ctr">
                    <a:solidFill>
                      <a:srgbClr val="FFFFFF"/>
                    </a:solidFill>
                  </a:tcPr>
                </a:tc>
              </a:tr>
            </a:tbl>
          </a:graphicData>
        </a:graphic>
      </p:graphicFrame>
      <p:sp>
        <p:nvSpPr>
          <p:cNvPr id="11" name="Rounded Rectangle 10"/>
          <p:cNvSpPr/>
          <p:nvPr/>
        </p:nvSpPr>
        <p:spPr>
          <a:xfrm>
            <a:off x="548640" y="411480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the chosen open model on the chosen stack. A PTU does not equal a fixed number of GPUs.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Compare options on the same cost boundary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8" name="Table"/>
          <p:cNvGraphicFramePr>
            <a:graphicFrameLocks noGrp="1"/>
          </p:cNvGraphicFramePr>
          <p:nvPr/>
        </p:nvGraphicFramePr>
        <p:xfrm>
          <a:off x="548640" y="1371600"/>
          <a:ext cx="11091672" cy="2865120"/>
        </p:xfrm>
        <a:graphic>
          <a:graphicData uri="http://schemas.openxmlformats.org/drawingml/2006/table">
            <a:tbl>
              <a:tblPr firstRow="1" bandRow="0">
                <a:tableStyleId>{5C22544A-7EE6-4342-B048-85BDC9FD1C3A}</a:tableStyleId>
              </a:tblPr>
              <a:tblGrid>
                <a:gridCol w="3291840"/>
                <a:gridCol w="1920240"/>
                <a:gridCol w="1920240"/>
                <a:gridCol w="1920240"/>
                <a:gridCol w="2039112"/>
              </a:tblGrid>
              <a:tr h="304800">
                <a:tc>
                  <a:txBody>
                    <a:bodyPr wrap="square" anchor="ctr">
                      <a:noAutofit/>
                    </a:bodyPr>
                    <a:lstStyle/>
                    <a:p>
                      <a:pPr algn="l"/>
                      <a:r>
                        <a:rPr sz="1400" b="1" i="0">
                          <a:solidFill>
                            <a:srgbClr val="FFFFFF"/>
                          </a:solidFill>
                          <a:latin typeface="Arial"/>
                        </a:rPr>
                        <a:t>Cost line</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Self-hosted GPU</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Model tokens or capacity</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GPU VMs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and routing</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Storage and network</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Monitoring and logs</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Serving stack, licences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Operations staffing</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Resilience headroom</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429 risk</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N+1 replicas</a:t>
                      </a:r>
                    </a:p>
                  </a:txBody>
                  <a:tcPr marL="73152" marR="73152" marT="36576" marB="36576" anchor="ctr">
                    <a:solidFill>
                      <a:srgbClr val="F5F5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architecture for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371600"/>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577339"/>
            <a:ext cx="411480" cy="411480"/>
          </a:xfrm>
          <a:prstGeom prst="rect">
            <a:avLst/>
          </a:prstGeom>
        </p:spPr>
      </p:pic>
      <p:sp>
        <p:nvSpPr>
          <p:cNvPr id="11" name="TextBox 10"/>
          <p:cNvSpPr txBox="1"/>
          <p:nvPr/>
        </p:nvSpPr>
        <p:spPr>
          <a:xfrm>
            <a:off x="1106424" y="1408176"/>
            <a:ext cx="1783080" cy="749808"/>
          </a:xfrm>
          <a:prstGeom prst="rect">
            <a:avLst/>
          </a:prstGeom>
          <a:noFill/>
        </p:spPr>
        <p:txBody>
          <a:bodyPr wrap="square" lIns="0" rIns="0" tIns="0" bIns="0" anchor="ctr">
            <a:noAutofit/>
          </a:bodyPr>
          <a:lstStyle/>
          <a:p>
            <a:pPr algn="l"/>
            <a:r>
              <a:rPr sz="1300" b="1" i="0">
                <a:solidFill>
                  <a:srgbClr val="000048"/>
                </a:solidFill>
                <a:latin typeface="Arial"/>
              </a:rPr>
              <a:t>Gateway</a:t>
            </a:r>
          </a:p>
          <a:p>
            <a:pPr algn="l"/>
            <a:r>
              <a:rPr sz="1100" b="0" i="0">
                <a:solidFill>
                  <a:srgbClr val="53565A"/>
                </a:solidFill>
                <a:latin typeface="Arial"/>
              </a:rPr>
              <a:t>token metrics per caller</a:t>
            </a:r>
          </a:p>
        </p:txBody>
      </p:sp>
      <p:sp>
        <p:nvSpPr>
          <p:cNvPr id="12" name="Oval 11"/>
          <p:cNvSpPr/>
          <p:nvPr/>
        </p:nvSpPr>
        <p:spPr>
          <a:xfrm>
            <a:off x="3017520" y="16459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sp>
        <p:nvSpPr>
          <p:cNvPr id="13" name="Rounded Rectangle 12"/>
          <p:cNvSpPr/>
          <p:nvPr/>
        </p:nvSpPr>
        <p:spPr>
          <a:xfrm>
            <a:off x="548640" y="2395728"/>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Models" descr="Official Azure icon: Foundry Model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01468"/>
            <a:ext cx="411480" cy="411480"/>
          </a:xfrm>
          <a:prstGeom prst="rect">
            <a:avLst/>
          </a:prstGeom>
        </p:spPr>
      </p:pic>
      <p:sp>
        <p:nvSpPr>
          <p:cNvPr id="15" name="TextBox 14"/>
          <p:cNvSpPr txBox="1"/>
          <p:nvPr/>
        </p:nvSpPr>
        <p:spPr>
          <a:xfrm>
            <a:off x="1106424" y="2432304"/>
            <a:ext cx="1783080" cy="749808"/>
          </a:xfrm>
          <a:prstGeom prst="rect">
            <a:avLst/>
          </a:prstGeom>
          <a:noFill/>
        </p:spPr>
        <p:txBody>
          <a:bodyPr wrap="square" lIns="0" rIns="0" tIns="0" bIns="0" anchor="ctr">
            <a:noAutofit/>
          </a:bodyPr>
          <a:lstStyle/>
          <a:p>
            <a:pPr algn="l"/>
            <a:r>
              <a:rPr sz="1300" b="1" i="0">
                <a:solidFill>
                  <a:srgbClr val="000048"/>
                </a:solidFill>
                <a:latin typeface="Arial"/>
              </a:rPr>
              <a:t>Deployments</a:t>
            </a:r>
          </a:p>
          <a:p>
            <a:pPr algn="l"/>
            <a:r>
              <a:rPr sz="1100" b="0" i="0">
                <a:solidFill>
                  <a:srgbClr val="53565A"/>
                </a:solidFill>
                <a:latin typeface="Arial"/>
              </a:rPr>
              <a:t>tokens, utilisation, 429</a:t>
            </a:r>
          </a:p>
        </p:txBody>
      </p:sp>
      <p:sp>
        <p:nvSpPr>
          <p:cNvPr id="16" name="Oval 15"/>
          <p:cNvSpPr/>
          <p:nvPr/>
        </p:nvSpPr>
        <p:spPr>
          <a:xfrm>
            <a:off x="3017520" y="2670048"/>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sp>
        <p:nvSpPr>
          <p:cNvPr id="17" name="Rounded Rectangle 16"/>
          <p:cNvSpPr/>
          <p:nvPr/>
        </p:nvSpPr>
        <p:spPr>
          <a:xfrm>
            <a:off x="548640" y="3419856"/>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st Management" descr="Official Azure icon: Cost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25596"/>
            <a:ext cx="411480" cy="411480"/>
          </a:xfrm>
          <a:prstGeom prst="rect">
            <a:avLst/>
          </a:prstGeom>
        </p:spPr>
      </p:pic>
      <p:sp>
        <p:nvSpPr>
          <p:cNvPr id="19" name="TextBox 18"/>
          <p:cNvSpPr txBox="1"/>
          <p:nvPr/>
        </p:nvSpPr>
        <p:spPr>
          <a:xfrm>
            <a:off x="1106424" y="3456432"/>
            <a:ext cx="1783080" cy="749808"/>
          </a:xfrm>
          <a:prstGeom prst="rect">
            <a:avLst/>
          </a:prstGeom>
          <a:noFill/>
        </p:spPr>
        <p:txBody>
          <a:bodyPr wrap="square" lIns="0" rIns="0" tIns="0" bIns="0" anchor="ctr">
            <a:noAutofit/>
          </a:bodyPr>
          <a:lstStyle/>
          <a:p>
            <a:pPr algn="l"/>
            <a:r>
              <a:rPr sz="1300" b="1" i="0">
                <a:solidFill>
                  <a:srgbClr val="000048"/>
                </a:solidFill>
                <a:latin typeface="Arial"/>
              </a:rPr>
              <a:t>Cost exports</a:t>
            </a:r>
          </a:p>
          <a:p>
            <a:pPr algn="l"/>
            <a:r>
              <a:rPr sz="1100" b="0" i="0">
                <a:solidFill>
                  <a:srgbClr val="53565A"/>
                </a:solidFill>
                <a:latin typeface="Arial"/>
              </a:rPr>
              <a:t>actual, amortised</a:t>
            </a:r>
          </a:p>
        </p:txBody>
      </p:sp>
      <p:sp>
        <p:nvSpPr>
          <p:cNvPr id="20" name="Oval 19"/>
          <p:cNvSpPr/>
          <p:nvPr/>
        </p:nvSpPr>
        <p:spPr>
          <a:xfrm>
            <a:off x="3017520" y="3694176"/>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sp>
        <p:nvSpPr>
          <p:cNvPr id="21" name="Rounded Rectangle 20"/>
          <p:cNvSpPr/>
          <p:nvPr/>
        </p:nvSpPr>
        <p:spPr>
          <a:xfrm>
            <a:off x="548640" y="4443984"/>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Reservations" descr="Official Azure icon: Reservation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649724"/>
            <a:ext cx="411480" cy="411480"/>
          </a:xfrm>
          <a:prstGeom prst="rect">
            <a:avLst/>
          </a:prstGeom>
        </p:spPr>
      </p:pic>
      <p:sp>
        <p:nvSpPr>
          <p:cNvPr id="23" name="TextBox 22"/>
          <p:cNvSpPr txBox="1"/>
          <p:nvPr/>
        </p:nvSpPr>
        <p:spPr>
          <a:xfrm>
            <a:off x="1106424" y="4480560"/>
            <a:ext cx="1783080" cy="749808"/>
          </a:xfrm>
          <a:prstGeom prst="rect">
            <a:avLst/>
          </a:prstGeom>
          <a:noFill/>
        </p:spPr>
        <p:txBody>
          <a:bodyPr wrap="square" lIns="0" rIns="0" tIns="0" bIns="0" anchor="ctr">
            <a:noAutofit/>
          </a:bodyPr>
          <a:lstStyle/>
          <a:p>
            <a:pPr algn="l"/>
            <a:r>
              <a:rPr sz="1300" b="1" i="0">
                <a:solidFill>
                  <a:srgbClr val="000048"/>
                </a:solidFill>
                <a:latin typeface="Arial"/>
              </a:rPr>
              <a:t>Reservations</a:t>
            </a:r>
          </a:p>
          <a:p>
            <a:pPr algn="l"/>
            <a:r>
              <a:rPr sz="1100" b="0" i="0">
                <a:solidFill>
                  <a:srgbClr val="53565A"/>
                </a:solidFill>
                <a:latin typeface="Arial"/>
              </a:rPr>
              <a:t>coverage, utilisation</a:t>
            </a:r>
          </a:p>
        </p:txBody>
      </p:sp>
      <p:sp>
        <p:nvSpPr>
          <p:cNvPr id="24" name="Oval 23"/>
          <p:cNvSpPr/>
          <p:nvPr/>
        </p:nvSpPr>
        <p:spPr>
          <a:xfrm>
            <a:off x="3017520" y="4718304"/>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sp>
        <p:nvSpPr>
          <p:cNvPr id="25" name="Rounded Rectangle 24"/>
          <p:cNvSpPr/>
          <p:nvPr/>
        </p:nvSpPr>
        <p:spPr>
          <a:xfrm>
            <a:off x="4023360" y="1371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Application Insights" descr="Official Azure icon: Application Insigh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96512" y="1577339"/>
            <a:ext cx="411480" cy="411480"/>
          </a:xfrm>
          <a:prstGeom prst="rect">
            <a:avLst/>
          </a:prstGeom>
        </p:spPr>
      </p:pic>
      <p:sp>
        <p:nvSpPr>
          <p:cNvPr id="27" name="TextBox 26"/>
          <p:cNvSpPr txBox="1"/>
          <p:nvPr/>
        </p:nvSpPr>
        <p:spPr>
          <a:xfrm>
            <a:off x="4581144" y="1408176"/>
            <a:ext cx="1508760" cy="74980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custom metrics</a:t>
            </a:r>
          </a:p>
        </p:txBody>
      </p:sp>
      <p:sp>
        <p:nvSpPr>
          <p:cNvPr id="28" name="Rounded Rectangle 27"/>
          <p:cNvSpPr/>
          <p:nvPr/>
        </p:nvSpPr>
        <p:spPr>
          <a:xfrm>
            <a:off x="4023360" y="2514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9" name="Azure icon: Log Analytics workspace" descr="Official Azure icon: Log Analytics workspace"/>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96512" y="2720340"/>
            <a:ext cx="411480" cy="411480"/>
          </a:xfrm>
          <a:prstGeom prst="rect">
            <a:avLst/>
          </a:prstGeom>
        </p:spPr>
      </p:pic>
      <p:sp>
        <p:nvSpPr>
          <p:cNvPr id="30" name="TextBox 29"/>
          <p:cNvSpPr txBox="1"/>
          <p:nvPr/>
        </p:nvSpPr>
        <p:spPr>
          <a:xfrm>
            <a:off x="4581144" y="2551176"/>
            <a:ext cx="1508760" cy="74980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100" b="0" i="0">
                <a:solidFill>
                  <a:srgbClr val="53565A"/>
                </a:solidFill>
                <a:latin typeface="Arial"/>
              </a:rPr>
              <a:t>joined usage</a:t>
            </a:r>
          </a:p>
        </p:txBody>
      </p:sp>
      <p:sp>
        <p:nvSpPr>
          <p:cNvPr id="31" name="Rounded Rectangle 30"/>
          <p:cNvSpPr/>
          <p:nvPr/>
        </p:nvSpPr>
        <p:spPr>
          <a:xfrm>
            <a:off x="4023360" y="3657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2" name="Azure icon: Storage account" descr="Official Azure icon: Storage account"/>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96512" y="3863340"/>
            <a:ext cx="411480" cy="411480"/>
          </a:xfrm>
          <a:prstGeom prst="rect">
            <a:avLst/>
          </a:prstGeom>
        </p:spPr>
      </p:pic>
      <p:sp>
        <p:nvSpPr>
          <p:cNvPr id="33" name="TextBox 32"/>
          <p:cNvSpPr txBox="1"/>
          <p:nvPr/>
        </p:nvSpPr>
        <p:spPr>
          <a:xfrm>
            <a:off x="4581144" y="3694176"/>
            <a:ext cx="1508760" cy="749808"/>
          </a:xfrm>
          <a:prstGeom prst="rect">
            <a:avLst/>
          </a:prstGeom>
          <a:noFill/>
        </p:spPr>
        <p:txBody>
          <a:bodyPr wrap="square" lIns="0" rIns="0" tIns="0" bIns="0" anchor="ctr">
            <a:noAutofit/>
          </a:bodyPr>
          <a:lstStyle/>
          <a:p>
            <a:pPr algn="l"/>
            <a:r>
              <a:rPr sz="1300" b="1" i="0">
                <a:solidFill>
                  <a:srgbClr val="000048"/>
                </a:solidFill>
                <a:latin typeface="Arial"/>
              </a:rPr>
              <a:t>Storage account</a:t>
            </a:r>
          </a:p>
          <a:p>
            <a:pPr algn="l"/>
            <a:r>
              <a:rPr sz="1100" b="0" i="0">
                <a:solidFill>
                  <a:srgbClr val="53565A"/>
                </a:solidFill>
                <a:latin typeface="Arial"/>
              </a:rPr>
              <a:t>cost files</a:t>
            </a:r>
          </a:p>
        </p:txBody>
      </p:sp>
      <p:sp>
        <p:nvSpPr>
          <p:cNvPr id="34" name="Rounded Rectangle 33"/>
          <p:cNvSpPr/>
          <p:nvPr/>
        </p:nvSpPr>
        <p:spPr>
          <a:xfrm>
            <a:off x="6766560" y="2514600"/>
            <a:ext cx="219456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Function App" descr="Official Azure icon: Function App"/>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839712" y="2720340"/>
            <a:ext cx="411480" cy="411480"/>
          </a:xfrm>
          <a:prstGeom prst="rect">
            <a:avLst/>
          </a:prstGeom>
        </p:spPr>
      </p:pic>
      <p:sp>
        <p:nvSpPr>
          <p:cNvPr id="36" name="TextBox 35"/>
          <p:cNvSpPr txBox="1"/>
          <p:nvPr/>
        </p:nvSpPr>
        <p:spPr>
          <a:xfrm>
            <a:off x="73243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Cost model job</a:t>
            </a:r>
          </a:p>
          <a:p>
            <a:pPr algn="l"/>
            <a:r>
              <a:rPr sz="1100" b="0" i="0">
                <a:solidFill>
                  <a:srgbClr val="53565A"/>
                </a:solidFill>
                <a:latin typeface="Arial"/>
              </a:rPr>
              <a:t>price table x usage</a:t>
            </a:r>
          </a:p>
        </p:txBody>
      </p:sp>
      <p:sp>
        <p:nvSpPr>
          <p:cNvPr id="37" name="Oval 36"/>
          <p:cNvSpPr/>
          <p:nvPr/>
        </p:nvSpPr>
        <p:spPr>
          <a:xfrm>
            <a:off x="66294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sp>
        <p:nvSpPr>
          <p:cNvPr id="38" name="Rounded Rectangle 37"/>
          <p:cNvSpPr/>
          <p:nvPr/>
        </p:nvSpPr>
        <p:spPr>
          <a:xfrm>
            <a:off x="9509760" y="2514600"/>
            <a:ext cx="219456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9" name="Azure icon: Azure Workbooks" descr="Official Azure icon: Azure Workbook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582912" y="2720340"/>
            <a:ext cx="411480" cy="411480"/>
          </a:xfrm>
          <a:prstGeom prst="rect">
            <a:avLst/>
          </a:prstGeom>
        </p:spPr>
      </p:pic>
      <p:sp>
        <p:nvSpPr>
          <p:cNvPr id="40" name="TextBox 39"/>
          <p:cNvSpPr txBox="1"/>
          <p:nvPr/>
        </p:nvSpPr>
        <p:spPr>
          <a:xfrm>
            <a:off x="100675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FinOps workbook</a:t>
            </a:r>
          </a:p>
          <a:p>
            <a:pPr algn="l"/>
            <a:r>
              <a:rPr sz="1100" b="0" i="0">
                <a:solidFill>
                  <a:srgbClr val="53565A"/>
                </a:solidFill>
                <a:latin typeface="Arial"/>
              </a:rPr>
              <a:t>unit cost, utilisation</a:t>
            </a:r>
          </a:p>
        </p:txBody>
      </p:sp>
      <p:sp>
        <p:nvSpPr>
          <p:cNvPr id="41" name="Oval 40"/>
          <p:cNvSpPr/>
          <p:nvPr/>
        </p:nvSpPr>
        <p:spPr>
          <a:xfrm>
            <a:off x="93726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42" name="Connector (telemetry)"/>
          <p:cNvCxnSpPr/>
          <p:nvPr/>
        </p:nvCxnSpPr>
        <p:spPr>
          <a:xfrm>
            <a:off x="2926080" y="1783080"/>
            <a:ext cx="109728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telemetry)"/>
          <p:cNvCxnSpPr/>
          <p:nvPr/>
        </p:nvCxnSpPr>
        <p:spPr>
          <a:xfrm>
            <a:off x="2926080" y="2807208"/>
            <a:ext cx="1097280" cy="7315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telemetry)"/>
          <p:cNvCxnSpPr/>
          <p:nvPr/>
        </p:nvCxnSpPr>
        <p:spPr>
          <a:xfrm>
            <a:off x="2926080" y="3840480"/>
            <a:ext cx="1097280" cy="2286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2926080" y="4206240"/>
            <a:ext cx="109728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telemetry)"/>
          <p:cNvCxnSpPr/>
          <p:nvPr/>
        </p:nvCxnSpPr>
        <p:spPr>
          <a:xfrm>
            <a:off x="5074920" y="2194560"/>
            <a:ext cx="0" cy="32004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flow)"/>
          <p:cNvCxnSpPr/>
          <p:nvPr/>
        </p:nvCxnSpPr>
        <p:spPr>
          <a:xfrm>
            <a:off x="6126480" y="29260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flow)"/>
          <p:cNvCxnSpPr/>
          <p:nvPr/>
        </p:nvCxnSpPr>
        <p:spPr>
          <a:xfrm flipV="1">
            <a:off x="6126480" y="3154680"/>
            <a:ext cx="640080" cy="9144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flow)"/>
          <p:cNvCxnSpPr/>
          <p:nvPr/>
        </p:nvCxnSpPr>
        <p:spPr>
          <a:xfrm>
            <a:off x="8961120" y="2926080"/>
            <a:ext cx="548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4128" y="5486400"/>
            <a:ext cx="17830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2" name="Connector (telemetry)"/>
          <p:cNvCxnSpPr/>
          <p:nvPr/>
        </p:nvCxnSpPr>
        <p:spPr>
          <a:xfrm>
            <a:off x="2834640" y="560527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10128" y="5486400"/>
            <a:ext cx="1783080"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54" name="TextBox 53"/>
          <p:cNvSpPr txBox="1"/>
          <p:nvPr/>
        </p:nvSpPr>
        <p:spPr>
          <a:xfrm>
            <a:off x="5486400" y="5486400"/>
            <a:ext cx="612648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a:t>
            </a:r>
          </a:p>
        </p:txBody>
      </p:sp>
      <p:sp>
        <p:nvSpPr>
          <p:cNvPr id="55" name="TextBox 54"/>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Cost allocation and showback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8" name="Table"/>
          <p:cNvGraphicFramePr>
            <a:graphicFrameLocks noGrp="1"/>
          </p:cNvGraphicFramePr>
          <p:nvPr/>
        </p:nvGraphicFramePr>
        <p:xfrm>
          <a:off x="548640" y="1371600"/>
          <a:ext cx="11091672" cy="19964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Cost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Allocation key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Data source</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Model tokens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Tokens by caller, agent, model, token type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token metrics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PTU capacity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Share of normalised tokens served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Gateway metrics plus deployment</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Gateway and logs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Share of calls or fixed split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logs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Hosting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Resource tags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Cost exports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Shared platform</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Agreed key, allocated once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Finance rule</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Deployment type changes price and processing 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1828800"/>
        </p:xfrm>
        <a:graphic>
          <a:graphicData uri="http://schemas.openxmlformats.org/drawingml/2006/table">
            <a:tbl>
              <a:tblPr firstRow="1" bandRow="0">
                <a:tableStyleId>{5C22544A-7EE6-4342-B048-85BDC9FD1C3A}</a:tableStyleId>
              </a:tblPr>
              <a:tblGrid>
                <a:gridCol w="2377440"/>
                <a:gridCol w="3108960"/>
                <a:gridCol w="2377440"/>
                <a:gridCol w="3227832"/>
              </a:tblGrid>
              <a:tr h="5486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Input / cached / output per 1M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Provisioned per PTU-hour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Processing location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Global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$2.00 / $0.50 / $8.00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$2.20 / $0.55 / $8.80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US, EU or APAC zone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Regional (Standard)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$2.20 / $0.55 / $8.80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Within the selected geography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Batch (Global)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$1.00 input / $4.00 output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region; 24-hour target</a:t>
                      </a:r>
                    </a:p>
                  </a:txBody>
                  <a:tcPr marL="73152" marR="73152" marT="36576" marB="36576" anchor="ctr">
                    <a:solidFill>
                      <a:srgbClr val="F5F5F2"/>
                    </a:solidFill>
                  </a:tcPr>
                </a:tc>
              </a:tr>
            </a:tbl>
          </a:graphicData>
        </a:graphic>
      </p:graphicFrame>
      <p:sp>
        <p:nvSpPr>
          <p:cNvPr id="10" name="Rounded Rectangle 9"/>
          <p:cNvSpPr/>
          <p:nvPr/>
        </p:nvSpPr>
        <p:spPr>
          <a:xfrm>
            <a:off x="548640" y="384048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Residency choice is a cost driver: Regional provisioned list price is twice Global in this region.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Assessment deliverables and acceptance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Deliverable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Acceptance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Telemetry baseline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Usage by workload and token type for the agreed period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Workload profiles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Inputs in A2 completed or marked assumed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workload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Option models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Same cost boundary for all options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Sensitivity and break-even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Drivers and missing prices stated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Decision memo</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Gates, owners and approvals listed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sponsor</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Per-agent token budgets that cap runaway cost while containment acts</a:t>
            </a:r>
          </a:p>
          <a:p>
            <a:pPr algn="l" marL="201168" indent="-201168">
              <a:spcAft>
                <a:spcPts val="600"/>
              </a:spcAft>
              <a:buFont typeface="Arial"/>
              <a:buChar char="•"/>
            </a:pPr>
            <a:r>
              <a:rPr sz="1800" b="0" i="0">
                <a:solidFill>
                  <a:srgbClr val="1E1E2E"/>
                </a:solidFill>
                <a:latin typeface="Arial"/>
              </a:rPr>
              <a:t>Loop and retry amplification measured, so containment tests include cost impact</a:t>
            </a:r>
          </a:p>
          <a:p>
            <a:pPr algn="l" marL="201168" indent="-201168">
              <a:spcAft>
                <a:spcPts val="600"/>
              </a:spcAft>
              <a:buFont typeface="Arial"/>
              <a:buChar char="•"/>
            </a:pPr>
            <a:r>
              <a:rPr sz="1800" b="0" i="0">
                <a:solidFill>
                  <a:srgbClr val="1E1E2E"/>
                </a:solidFill>
                <a:latin typeface="Arial"/>
              </a:rPr>
              <a:t>Overflow alerts that flag abnormal agent usage early</a:t>
            </a:r>
          </a:p>
          <a:p>
            <a:pPr algn="l" marL="201168" indent="-201168">
              <a:spcAft>
                <a:spcPts val="600"/>
              </a:spcAft>
              <a:buFont typeface="Arial"/>
              <a:buChar char="•"/>
            </a:pPr>
            <a:r>
              <a:rPr sz="1800" b="0" i="0">
                <a:solidFill>
                  <a:srgbClr val="1E1E2E"/>
                </a:solidFill>
                <a:latin typeface="Arial"/>
              </a:rPr>
              <a:t>Full architecture: decks 02 and 05</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and decision memo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per bounded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Fee level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usage forecast; Finance treatment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estimate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Monthly review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Included in service base or add-on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Logs, storage for exports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GB ingested, GB stored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What the customer buys after the decision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Reservation price (customer,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self-hosting is chosen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VMs x hours or reservation + ops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Benchmark (AI); VM terms (customer)</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1" cy="303276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Assessment plan and scope</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Telemetry baseline design and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Usage forecast and model choice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Load tests and benchmarks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Cost model and sensitivity</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Decision memo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Capacity commitment decision</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Ongoing monthly review</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46836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19202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Assessment, telemetry and cost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Usage forecast and benchmarks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Data source review (if needed)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$5,000</a:t>
                      </a:r>
                    </a:p>
                  </a:txBody>
                  <a:tcPr marL="73152" marR="73152" marT="36576" marB="36576" anchor="ctr">
                    <a:solidFill>
                      <a:srgbClr val="FFFFFF"/>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r"/>
                      <a:r>
                        <a:rPr sz="1200" b="1" i="0">
                          <a:solidFill>
                            <a:srgbClr val="000048"/>
                          </a:solidFill>
                          <a:latin typeface="Arial"/>
                        </a:rPr>
                        <a:t>$90,000</a:t>
                      </a:r>
                    </a:p>
                  </a:txBody>
                  <a:tcPr marL="73152" marR="73152" marT="36576" marB="36576" anchor="ctr">
                    <a:solidFill>
                      <a:srgbClr val="F5F5F2"/>
                    </a:solidFill>
                  </a:tcPr>
                </a:tc>
              </a:tr>
            </a:tbl>
          </a:graphicData>
        </a:graphic>
      </p:graphicFrame>
      <p:sp>
        <p:nvSpPr>
          <p:cNvPr id="16" name="TextBox 15"/>
          <p:cNvSpPr txBox="1"/>
          <p:nvPr/>
        </p:nvSpPr>
        <p:spPr>
          <a:xfrm>
            <a:off x="6629400" y="37033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At least one workload with telemetry or a defined load test; FinOps and AI owners named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Inputs in A2; current bills; agreement prices; regions; latency targets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Baseline, profiles, option models, sensitivity, decision memo (A18)</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workloads, models and regions; no purchase or deployment changes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Access to cost data and metrics; AI forecast; customer price inputs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Instrument, measure, model,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66700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A18</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Data access, pricing inputs, workload owners, decision authority</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fee per bounded scope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More workloads, models or regions; GPU proof of concept</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Monthly review in offering 05; routing changes in offering 03</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Decision taken on evidence; forecast error tracked; unit cost visible</a:t>
                      </a:r>
                    </a:p>
                  </a:txBody>
                  <a:tcPr marL="73152" marR="73152" marT="36576" marB="36576" anchor="ctr">
                    <a:solidFill>
                      <a:srgbClr val="F5F5F2"/>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19202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Assessment as the entry offer</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commitment advice without measured data</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Fixed fee level and scope bands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Effort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Benchmark tooling and method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Pilot results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GPU proof-of-concept offer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Demand and skills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Customer PTU reservation prices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procurement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11 Oct 2026  ·  Working proposal, not approved terms</a:t>
            </a:r>
          </a:p>
        </p:txBody>
      </p:sp>
      <p:sp>
        <p:nvSpPr>
          <p:cNvPr id="7" name="IndexLink">
            <a:hlinkClick action="ppaction://hlinksldjump" r:id="rId1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Azure Retail Prices API: Azure OpenAI gpt-4.1, East US 2:  </a:t>
            </a:r>
            <a:r>
              <a:rPr sz="1300" b="0" i="0">
                <a:solidFill>
                  <a:srgbClr val="2F78C4"/>
                </a:solidFill>
                <a:latin typeface="Arial"/>
                <a:hlinkClick r:id="rId4"/>
              </a:rPr>
              <a:t>https://prices.azure.com/api/retail/prices?$filter=productName eq 'Azure OpenAI' and armRegionName eq 'eastus2'</a:t>
            </a:r>
          </a:p>
          <a:p>
            <a:pPr algn="l">
              <a:spcAft>
                <a:spcPts val="300"/>
              </a:spcAft>
            </a:pPr>
            <a:r>
              <a:rPr sz="1300" b="1" i="0">
                <a:solidFill>
                  <a:srgbClr val="000048"/>
                </a:solidFill>
                <a:latin typeface="Arial"/>
              </a:rPr>
              <a:t>Provisioned throughput concepts:  </a:t>
            </a:r>
            <a:r>
              <a:rPr sz="1300" b="0" i="0">
                <a:solidFill>
                  <a:srgbClr val="2F78C4"/>
                </a:solidFill>
                <a:latin typeface="Arial"/>
                <a:hlinkClick r:id="rId5"/>
              </a:rPr>
              <a:t>https://learn.microsoft.com/en-us/azure/foundry/openai/concepts/provisioned-throughput</a:t>
            </a:r>
          </a:p>
          <a:p>
            <a:pPr algn="l">
              <a:spcAft>
                <a:spcPts val="300"/>
              </a:spcAft>
            </a:pPr>
            <a:r>
              <a:rPr sz="1300" b="1" i="0">
                <a:solidFill>
                  <a:srgbClr val="000048"/>
                </a:solidFill>
                <a:latin typeface="Arial"/>
              </a:rPr>
              <a:t>Provisioned throughput sizing and per-model values:  </a:t>
            </a:r>
            <a:r>
              <a:rPr sz="1300" b="0" i="0">
                <a:solidFill>
                  <a:srgbClr val="2F78C4"/>
                </a:solidFill>
                <a:latin typeface="Arial"/>
                <a:hlinkClick r:id="rId6"/>
              </a:rPr>
              <a:t>https://learn.microsoft.com/en-us/azure/foundry/openai/how-to/provisioned-throughput-sizing</a:t>
            </a:r>
          </a:p>
          <a:p>
            <a:pPr algn="l">
              <a:spcAft>
                <a:spcPts val="300"/>
              </a:spcAft>
            </a:pPr>
            <a:r>
              <a:rPr sz="1300" b="1" i="0">
                <a:solidFill>
                  <a:srgbClr val="000048"/>
                </a:solidFill>
                <a:latin typeface="Arial"/>
              </a:rPr>
              <a:t>Provisioned throughput billing (hourly and reservations):  </a:t>
            </a:r>
            <a:r>
              <a:rPr sz="1300" b="0" i="0">
                <a:solidFill>
                  <a:srgbClr val="2F78C4"/>
                </a:solidFill>
                <a:latin typeface="Arial"/>
                <a:hlinkClick r:id="rId7"/>
              </a:rPr>
              <a:t>https://learn.microsoft.com/en-us/azure/foundry/openai/how-to/provisioned-throughput-onboarding</a:t>
            </a:r>
          </a:p>
          <a:p>
            <a:pPr algn="l">
              <a:spcAft>
                <a:spcPts val="300"/>
              </a:spcAft>
            </a:pPr>
            <a:r>
              <a:rPr sz="1300" b="1" i="0">
                <a:solidFill>
                  <a:srgbClr val="000048"/>
                </a:solidFill>
                <a:latin typeface="Arial"/>
              </a:rPr>
              <a:t>Foundry Models deployment types:  </a:t>
            </a:r>
            <a:r>
              <a:rPr sz="1300" b="0" i="0">
                <a:solidFill>
                  <a:srgbClr val="2F78C4"/>
                </a:solidFill>
                <a:latin typeface="Arial"/>
                <a:hlinkClick r:id="rId8"/>
              </a:rPr>
              <a:t>https://learn.microsoft.com/en-us/azure/foundry/foundry-models/concepts/deployment-types</a:t>
            </a:r>
          </a:p>
          <a:p>
            <a:pPr algn="l">
              <a:spcAft>
                <a:spcPts val="300"/>
              </a:spcAft>
            </a:pPr>
            <a:r>
              <a:rPr sz="1300" b="1" i="0">
                <a:solidFill>
                  <a:srgbClr val="000048"/>
                </a:solidFill>
                <a:latin typeface="Arial"/>
              </a:rPr>
              <a:t>Foundry Models retirement schedule:  </a:t>
            </a:r>
            <a:r>
              <a:rPr sz="1300" b="0" i="0">
                <a:solidFill>
                  <a:srgbClr val="2F78C4"/>
                </a:solidFill>
                <a:latin typeface="Arial"/>
                <a:hlinkClick r:id="rId9"/>
              </a:rPr>
              <a:t>https://learn.microsoft.com/en-us/azure/foundry/openai/concepts/model-retirement-schedule</a:t>
            </a:r>
          </a:p>
          <a:p>
            <a:pPr algn="l">
              <a:spcAft>
                <a:spcPts val="300"/>
              </a:spcAft>
            </a:pPr>
            <a:r>
              <a:rPr sz="1300" b="1" i="0">
                <a:solidFill>
                  <a:srgbClr val="000048"/>
                </a:solidFill>
                <a:latin typeface="Arial"/>
              </a:rPr>
              <a:t>ND H100 v5 series VM sizes:  </a:t>
            </a:r>
            <a:r>
              <a:rPr sz="1300" b="0" i="0">
                <a:solidFill>
                  <a:srgbClr val="2F78C4"/>
                </a:solidFill>
                <a:latin typeface="Arial"/>
                <a:hlinkClick r:id="rId10"/>
              </a:rPr>
              <a:t>https://learn.microsoft.com/en-us/azure/virtual-machines/sizes/gpu-accelerated/ndh100v5-series</a:t>
            </a:r>
          </a:p>
          <a:p>
            <a:pPr algn="l">
              <a:spcAft>
                <a:spcPts val="300"/>
              </a:spcAft>
            </a:pPr>
            <a:r>
              <a:rPr sz="1300" b="1" i="0">
                <a:solidFill>
                  <a:srgbClr val="000048"/>
                </a:solidFill>
                <a:latin typeface="Arial"/>
              </a:rPr>
              <a:t>Azure Retail Prices API: ND H100 v5, East US 2:  </a:t>
            </a:r>
            <a:r>
              <a:rPr sz="1300" b="0" i="0">
                <a:solidFill>
                  <a:srgbClr val="2F78C4"/>
                </a:solidFill>
                <a:latin typeface="Arial"/>
                <a:hlinkClick r:id="rId11"/>
              </a:rPr>
              <a:t>https://prices.azure.com/api/retail/prices?$filter=serviceName eq 'Virtual Machines' and armRegionName eq 'eastus2' and contains(armSkuName,'H100')</a:t>
            </a:r>
          </a:p>
          <a:p>
            <a:pPr algn="l">
              <a:spcAft>
                <a:spcPts val="300"/>
              </a:spcAft>
            </a:pPr>
            <a:r>
              <a:rPr sz="1300" b="1" i="0">
                <a:solidFill>
                  <a:srgbClr val="000048"/>
                </a:solidFill>
                <a:latin typeface="Arial"/>
              </a:rPr>
              <a:t>Azure Retail Prices API: Log Analytics, East US 2:  </a:t>
            </a:r>
            <a:r>
              <a:rPr sz="1300" b="0" i="0">
                <a:solidFill>
                  <a:srgbClr val="2F78C4"/>
                </a:solidFill>
                <a:latin typeface="Arial"/>
                <a:hlinkClick r:id="rId12"/>
              </a:rPr>
              <a:t>https://prices.azure.com/api/retail/prices?$filter=serviceName eq 'Log Analytics' and armRegionName eq 'eastus2'</a:t>
            </a:r>
          </a:p>
          <a:p>
            <a:pPr algn="l">
              <a:spcAft>
                <a:spcPts val="300"/>
              </a:spcAft>
            </a:pPr>
            <a:r>
              <a:rPr sz="1300" b="1" i="0">
                <a:solidFill>
                  <a:srgbClr val="000048"/>
                </a:solidFill>
                <a:latin typeface="Arial"/>
              </a:rPr>
              <a:t>AI gateway capabilities in API Management:  </a:t>
            </a:r>
            <a:r>
              <a:rPr sz="1300" b="0" i="0">
                <a:solidFill>
                  <a:srgbClr val="2F78C4"/>
                </a:solidFill>
                <a:latin typeface="Arial"/>
                <a:hlinkClick r:id="rId13"/>
              </a:rPr>
              <a:t>https://learn.microsoft.com/en-us/azure/api-management/genai-gateway-capabilities</a:t>
            </a:r>
          </a:p>
          <a:p>
            <a:pPr algn="l">
              <a:spcAft>
                <a:spcPts val="300"/>
              </a:spcAft>
            </a:pPr>
            <a:r>
              <a:rPr sz="1300" b="1" i="0">
                <a:solidFill>
                  <a:srgbClr val="000048"/>
                </a:solidFill>
                <a:latin typeface="Arial"/>
              </a:rPr>
              <a:t>Azure Architecture Icons (V24):  </a:t>
            </a:r>
            <a:r>
              <a:rPr sz="1300" b="0" i="0">
                <a:solidFill>
                  <a:srgbClr val="2F78C4"/>
                </a:solidFill>
                <a:latin typeface="Arial"/>
                <a:hlinkClick r:id="rId14"/>
              </a:rPr>
              <a:t>https://learn.microsoft.com/en-us/azure/architecture/icons/</a:t>
            </a:r>
          </a:p>
          <a:p>
            <a:pPr algn="l">
              <a:spcAft>
                <a:spcPts val="300"/>
              </a:spcAft>
            </a:pPr>
            <a:r>
              <a:rPr sz="1300" b="1" i="0">
                <a:solidFill>
                  <a:srgbClr val="000048"/>
                </a:solidFill>
                <a:latin typeface="Arial"/>
              </a:rPr>
              <a:t>GTM proposal V3:  </a:t>
            </a:r>
            <a:r>
              <a:rPr sz="1300" b="0" i="0">
                <a:solidFill>
                  <a:srgbClr val="2F78C4"/>
                </a:solidFill>
                <a:latin typeface="Arial"/>
                <a:hlinkClick r:id="rId15"/>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Capacity and FinOps Assessment</dc:title>
  <dcterms:created xsi:type="dcterms:W3CDTF">2026-10-10T13:56:28.3080000Z</dcterms:created>
  <dcterms:modified xsi:type="dcterms:W3CDTF">2026-10-10T13:56:28.3090000Z</dcterms:modified>
  <dc:subject>Proposed CIS Infra GTM offering for internal leadership review</dc:subject>
</coreProperties>
</file>